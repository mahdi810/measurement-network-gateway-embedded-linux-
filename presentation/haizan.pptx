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19"/>
  </p:handoutMasterIdLst>
  <p:sldIdLst>
    <p:sldId id="258" r:id="rId3"/>
    <p:sldId id="277" r:id="rId4"/>
    <p:sldId id="261" r:id="rId5"/>
    <p:sldId id="262" r:id="rId6"/>
    <p:sldId id="288" r:id="rId7"/>
    <p:sldId id="289" r:id="rId9"/>
    <p:sldId id="290" r:id="rId10"/>
    <p:sldId id="259" r:id="rId11"/>
    <p:sldId id="263" r:id="rId12"/>
    <p:sldId id="267" r:id="rId13"/>
    <p:sldId id="270" r:id="rId14"/>
    <p:sldId id="269" r:id="rId15"/>
    <p:sldId id="268" r:id="rId16"/>
    <p:sldId id="264" r:id="rId17"/>
    <p:sldId id="272" r:id="rId1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08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sv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sv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551052"/>
            <a:ext cx="9144000" cy="2187001"/>
          </a:xfrm>
        </p:spPr>
        <p:txBody>
          <a:bodyPr>
            <a:normAutofit fontScale="90000"/>
          </a:bodyPr>
          <a:lstStyle/>
          <a:p>
            <a:r>
              <a:rPr lang="de-DE" altLang="zh-CN">
                <a:latin typeface="Calibri" charset="0"/>
              </a:rPr>
              <a:t>Measurement Network Gateway</a:t>
            </a:r>
            <a:endParaRPr lang="de-DE" altLang="zh-CN">
              <a:latin typeface="Calibri" charset="0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524000" y="4737418"/>
            <a:ext cx="9144000" cy="1655762"/>
          </a:xfrm>
        </p:spPr>
        <p:txBody>
          <a:bodyPr/>
          <a:lstStyle/>
          <a:p>
            <a:r>
              <a:rPr lang="de-DE" altLang="zh-CN">
                <a:latin typeface="Calibri" charset="0"/>
              </a:rPr>
              <a:t>Haizon Helet Cruz (42708)</a:t>
            </a:r>
            <a:endParaRPr lang="de-DE" altLang="zh-CN">
              <a:latin typeface="Calibri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de-DE" altLang="zh-CN">
                <a:latin typeface="Calibri" charset="0"/>
              </a:rPr>
              <a:t>1</a:t>
            </a:r>
            <a:endParaRPr lang="de-DE" altLang="zh-CN">
              <a:latin typeface="Calibri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charset="0"/>
              </a:rPr>
              <a:t>Overview</a:t>
            </a:r>
            <a:endParaRPr lang="de-DE" altLang="en-US">
              <a:latin typeface="Calibri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PetaLinux basics and build process</a:t>
            </a:r>
            <a:endParaRPr lang="de-DE" altLang="en-US"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Application Layer</a:t>
            </a:r>
            <a:endParaRPr lang="de-DE" altLang="en-US">
              <a:latin typeface="Calibri" charset="0"/>
            </a:endParaRPr>
          </a:p>
          <a:p>
            <a:pPr lvl="1"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Ring buffer implementation</a:t>
            </a:r>
            <a:endParaRPr lang="de-DE" altLang="en-US">
              <a:latin typeface="Calibri" charset="0"/>
            </a:endParaRPr>
          </a:p>
          <a:p>
            <a:pPr lvl="1"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Network thread implementation</a:t>
            </a:r>
            <a:endParaRPr lang="de-DE" altLang="en-US">
              <a:latin typeface="Calibri" charset="0"/>
            </a:endParaRPr>
          </a:p>
          <a:p>
            <a:pPr lvl="0"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GUI </a:t>
            </a:r>
            <a:endParaRPr lang="de-DE" altLang="en-US">
              <a:latin typeface="Calibri" charset="0"/>
            </a:endParaRPr>
          </a:p>
          <a:p>
            <a:pPr lvl="1"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GUI Plot rendering and values text box</a:t>
            </a:r>
            <a:endParaRPr lang="de-DE" altLang="en-US">
              <a:latin typeface="Calibri" charset="0"/>
            </a:endParaRPr>
          </a:p>
          <a:p>
            <a:pPr lvl="1"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Help command line</a:t>
            </a:r>
            <a:endParaRPr lang="de-DE" altLang="en-US">
              <a:latin typeface="Calibri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de-DE" altLang="zh-CN">
                <a:latin typeface="Calibri" charset="0"/>
              </a:rPr>
              <a:t>2</a:t>
            </a:r>
            <a:endParaRPr lang="de-DE" altLang="zh-CN">
              <a:latin typeface="Calibri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charset="0"/>
              </a:rPr>
              <a:t>Introduction</a:t>
            </a:r>
            <a:endParaRPr lang="de-DE" altLang="en-US">
              <a:latin typeface="Calibri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Create a Linux based software platform on Zynq</a:t>
            </a:r>
            <a:endParaRPr lang="de-DE" altLang="en-US"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Access AXI registers implemented</a:t>
            </a:r>
            <a:endParaRPr lang="de-DE" altLang="en-US"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Expose the hardware to C user space via</a:t>
            </a:r>
            <a:br>
              <a:rPr lang="de-DE" altLang="en-US">
                <a:latin typeface="Calibri" charset="0"/>
              </a:rPr>
            </a:br>
            <a:r>
              <a:rPr lang="de-DE" altLang="en-US">
                <a:latin typeface="Calibri" charset="0"/>
              </a:rPr>
              <a:t>character device</a:t>
            </a:r>
            <a:endParaRPr lang="de-DE" altLang="en-US"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Enable real-time sensor data acquisition</a:t>
            </a:r>
            <a:endParaRPr lang="de-DE" altLang="en-US">
              <a:latin typeface="Calibri" charset="0"/>
            </a:endParaRPr>
          </a:p>
          <a:p>
            <a:pPr marL="0" indent="0">
              <a:buNone/>
            </a:pPr>
            <a:endParaRPr lang="de-DE" altLang="en-US">
              <a:latin typeface="Calibri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23810" y="2077593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300" b="1" dirty="0">
                <a:solidFill>
                  <a:srgbClr val="1A2A4A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623810" y="2471420"/>
            <a:ext cx="338328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15250" y="2470785"/>
            <a:ext cx="3200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User-Space App (mngivp.c)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78290" y="2891409"/>
            <a:ext cx="91440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23810" y="2964561"/>
            <a:ext cx="3383280" cy="420624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15250" y="2964561"/>
            <a:ext cx="3200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Character Device  /dev/meascdd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78290" y="3385185"/>
            <a:ext cx="91440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3810" y="3458337"/>
            <a:ext cx="3383280" cy="420624"/>
          </a:xfrm>
          <a:prstGeom prst="rect">
            <a:avLst/>
          </a:prstGeom>
          <a:solidFill>
            <a:srgbClr val="1D7E6B"/>
          </a:solidFill>
          <a:ln w="12700">
            <a:solidFill>
              <a:srgbClr val="1D7E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15250" y="3458337"/>
            <a:ext cx="3200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meascdd.ko  Kernel Module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78290" y="3878961"/>
            <a:ext cx="91440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3810" y="3952113"/>
            <a:ext cx="3383280" cy="420624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15250" y="3952113"/>
            <a:ext cx="3200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Linux Kernel + Device Tree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78290" y="4372737"/>
            <a:ext cx="91440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23810" y="4445889"/>
            <a:ext cx="3383280" cy="420624"/>
          </a:xfrm>
          <a:prstGeom prst="rect">
            <a:avLst/>
          </a:prstGeom>
          <a:solidFill>
            <a:srgbClr val="5B6270"/>
          </a:solidFill>
          <a:ln w="12700">
            <a:solidFill>
              <a:srgbClr val="5B627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15250" y="4445889"/>
            <a:ext cx="3200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AXI IP Core (PL – Vivado)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78290" y="4866513"/>
            <a:ext cx="91440" cy="9144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23810" y="4939665"/>
            <a:ext cx="3383280" cy="420624"/>
          </a:xfrm>
          <a:prstGeom prst="rect">
            <a:avLst/>
          </a:prstGeom>
          <a:solidFill>
            <a:srgbClr val="7A5C00"/>
          </a:solidFill>
          <a:ln w="12700">
            <a:solidFill>
              <a:srgbClr val="7A5C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15250" y="4939665"/>
            <a:ext cx="3200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Physical Sensors (ADC, Temp, GPIO)</a:t>
            </a:r>
            <a:endParaRPr lang="en-US" sz="11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de-DE" altLang="zh-CN">
                <a:latin typeface="Calibri" charset="0"/>
              </a:rPr>
              <a:t>3</a:t>
            </a:r>
            <a:endParaRPr lang="de-DE" altLang="zh-CN">
              <a:latin typeface="Calibri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charset="0"/>
              </a:rPr>
              <a:t>Image Build Process</a:t>
            </a:r>
            <a:endParaRPr lang="de-DE" altLang="en-US">
              <a:latin typeface="Calibri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95045" y="2048510"/>
            <a:ext cx="2057400" cy="2451735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86155" y="2048510"/>
            <a:ext cx="2057400" cy="5943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9307" y="204851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STEP 1 – Create Project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77595" y="2734310"/>
            <a:ext cx="187452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0747" y="2780030"/>
            <a:ext cx="17373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petalinux-create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--type project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--template zynq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--name meas_gateway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77595" y="3987038"/>
            <a:ext cx="1874520" cy="169164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Yocto-based Linux build environment for ARM Cortex-A9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43555" y="2990342"/>
            <a:ext cx="1554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99130" y="2048510"/>
            <a:ext cx="2057400" cy="245237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99003" y="2048510"/>
            <a:ext cx="2057400" cy="5943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2155" y="204851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STEP 2 – Import XSA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90443" y="2734310"/>
            <a:ext cx="187452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3595" y="2780030"/>
            <a:ext cx="17373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petalinux-config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--get-hw-description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=&lt;file_path&gt;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290443" y="3987038"/>
            <a:ext cx="1874520" cy="169164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Auto-generates DTS, DTSI, kernel config fragments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56403" y="2990342"/>
            <a:ext cx="1554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12105" y="2048510"/>
            <a:ext cx="2057400" cy="245237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11851" y="2048510"/>
            <a:ext cx="2057400" cy="594360"/>
          </a:xfrm>
          <a:prstGeom prst="rect">
            <a:avLst/>
          </a:prstGeom>
          <a:solidFill>
            <a:srgbClr val="1A2A4A"/>
          </a:solidFill>
          <a:ln w="12700">
            <a:solidFill>
              <a:srgbClr val="1A2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5003" y="204851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STEP 3 – Verify DTS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503291" y="2734310"/>
            <a:ext cx="187452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6443" y="2780030"/>
            <a:ext cx="17373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system-top.dts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pl.dtsi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config frags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503545" y="3987165"/>
            <a:ext cx="1874520" cy="1688465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AXI base address &amp; interrupt ID must match Vivado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69251" y="2990342"/>
            <a:ext cx="15544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24445" y="2048510"/>
            <a:ext cx="2057400" cy="245237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24699" y="2048510"/>
            <a:ext cx="2057400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7851" y="2048510"/>
            <a:ext cx="1920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STEP 4 – Build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716139" y="2734310"/>
            <a:ext cx="187452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89291" y="2780030"/>
            <a:ext cx="17373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85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petalinux-build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716139" y="3987038"/>
            <a:ext cx="1874520" cy="1691640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Generates full Linux image aligned with Zynq-7000 hardware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86155" y="5843270"/>
            <a:ext cx="8778240" cy="0"/>
          </a:xfrm>
          <a:prstGeom prst="rect">
            <a:avLst/>
          </a:prstGeom>
          <a:noFill/>
        </p:spPr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de-DE" altLang="zh-CN">
                <a:latin typeface="Calibri" charset="0"/>
              </a:rPr>
              <a:t>4</a:t>
            </a:r>
            <a:endParaRPr lang="de-DE" altLang="zh-CN">
              <a:latin typeface="Calibri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charset="0"/>
              </a:rPr>
              <a:t>Image Build Process - Hardware and Device tree</a:t>
            </a:r>
            <a:endParaRPr lang="de-DE" altLang="en-US">
              <a:latin typeface="Calibri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de-DE" altLang="en-US">
                <a:latin typeface="Calibri" charset="0"/>
              </a:rPr>
              <a:t>We have a custom FPGA board with any number of sensors, the question is how do we make it accessible.</a:t>
            </a:r>
            <a:endParaRPr lang="de-DE" altLang="en-US">
              <a:latin typeface="Calibri" charset="0"/>
            </a:endParaRPr>
          </a:p>
          <a:p>
            <a:r>
              <a:rPr lang="de-DE" altLang="en-US">
                <a:latin typeface="Calibri" charset="0"/>
              </a:rPr>
              <a:t>In FPGA, we have custom IP core </a:t>
            </a:r>
            <a:r>
              <a:rPr lang="de-DE" altLang="en-US">
                <a:latin typeface="Calibri" charset="0"/>
                <a:sym typeface="+mn-ea"/>
              </a:rPr>
              <a:t>"</a:t>
            </a:r>
            <a:r>
              <a:rPr lang="de-DE" altLang="en-US">
                <a:solidFill>
                  <a:srgbClr val="00B050"/>
                </a:solidFill>
                <a:latin typeface="Calibri" charset="0"/>
                <a:sym typeface="+mn-ea"/>
              </a:rPr>
              <a:t>measdif</a:t>
            </a:r>
            <a:r>
              <a:rPr lang="de-DE" altLang="en-US">
                <a:latin typeface="Calibri" charset="0"/>
                <a:sym typeface="+mn-ea"/>
              </a:rPr>
              <a:t>"</a:t>
            </a:r>
            <a:endParaRPr lang="de-DE" altLang="en-US">
              <a:latin typeface="Calibri" charset="0"/>
              <a:sym typeface="+mn-ea"/>
            </a:endParaRPr>
          </a:p>
          <a:p>
            <a:r>
              <a:rPr lang="de-DE" altLang="en-US">
                <a:latin typeface="Calibri" charset="0"/>
              </a:rPr>
              <a:t>Device tree entry has </a:t>
            </a:r>
            <a:r>
              <a:rPr lang="de-DE" altLang="en-US">
                <a:latin typeface="Calibri" charset="0"/>
                <a:sym typeface="+mn-ea"/>
              </a:rPr>
              <a:t>"</a:t>
            </a:r>
            <a:r>
              <a:rPr lang="de-DE" altLang="en-US">
                <a:solidFill>
                  <a:srgbClr val="00B050"/>
                </a:solidFill>
                <a:latin typeface="Calibri" charset="0"/>
                <a:sym typeface="+mn-ea"/>
              </a:rPr>
              <a:t>compatible</a:t>
            </a:r>
            <a:r>
              <a:rPr lang="de-DE" altLang="en-US">
                <a:latin typeface="Calibri" charset="0"/>
                <a:sym typeface="+mn-ea"/>
              </a:rPr>
              <a:t>", "</a:t>
            </a:r>
            <a:r>
              <a:rPr lang="de-DE" altLang="en-US">
                <a:solidFill>
                  <a:srgbClr val="00B050"/>
                </a:solidFill>
                <a:latin typeface="Calibri" charset="0"/>
                <a:sym typeface="+mn-ea"/>
              </a:rPr>
              <a:t>reg</a:t>
            </a:r>
            <a:r>
              <a:rPr lang="de-DE" altLang="en-US">
                <a:latin typeface="Calibri" charset="0"/>
                <a:sym typeface="+mn-ea"/>
              </a:rPr>
              <a:t>", "</a:t>
            </a:r>
            <a:r>
              <a:rPr lang="de-DE" altLang="en-US">
                <a:solidFill>
                  <a:srgbClr val="00B050"/>
                </a:solidFill>
                <a:latin typeface="Calibri" charset="0"/>
                <a:sym typeface="+mn-ea"/>
              </a:rPr>
              <a:t>interrupt</a:t>
            </a:r>
            <a:r>
              <a:rPr lang="de-DE" altLang="en-US">
                <a:latin typeface="Calibri" charset="0"/>
                <a:sym typeface="+mn-ea"/>
              </a:rPr>
              <a:t>". Auto generated from .xsa</a:t>
            </a:r>
            <a:endParaRPr lang="de-DE" altLang="en-US">
              <a:latin typeface="Calibri" charset="0"/>
              <a:sym typeface="+mn-ea"/>
            </a:endParaRPr>
          </a:p>
          <a:p>
            <a:r>
              <a:rPr lang="de-DE" altLang="en-US">
                <a:latin typeface="Calibri" charset="0"/>
              </a:rPr>
              <a:t>Shared header - Communication contract between kernel and user space</a:t>
            </a:r>
            <a:endParaRPr lang="de-DE" altLang="en-US">
              <a:latin typeface="Calibri" charset="0"/>
            </a:endParaRPr>
          </a:p>
          <a:p>
            <a:pPr marL="0" indent="0">
              <a:buNone/>
            </a:pPr>
            <a:endParaRPr lang="de-DE" altLang="en-US">
              <a:latin typeface="Calibri" charset="0"/>
            </a:endParaRPr>
          </a:p>
          <a:p>
            <a:pPr marL="0" indent="0">
              <a:buNone/>
            </a:pPr>
            <a:r>
              <a:rPr lang="de-DE" altLang="en-US" sz="1400">
                <a:latin typeface="Calibri" charset="0"/>
              </a:rPr>
              <a:t>typedef struct {</a:t>
            </a:r>
            <a:endParaRPr lang="de-DE" altLang="en-US" sz="1400">
              <a:latin typeface="Calibri" charset="0"/>
            </a:endParaRPr>
          </a:p>
          <a:p>
            <a:pPr marL="0" indent="0">
              <a:buNone/>
            </a:pPr>
            <a:r>
              <a:rPr lang="de-DE" altLang="en-US" sz="1400">
                <a:latin typeface="Calibri" charset="0"/>
              </a:rPr>
              <a:t>    </a:t>
            </a:r>
            <a:r>
              <a:rPr lang="de-DE" altLang="en-US" sz="1400">
                <a:solidFill>
                  <a:srgbClr val="00B050"/>
                </a:solidFill>
                <a:latin typeface="Calibri" charset="0"/>
              </a:rPr>
              <a:t>unsigned </a:t>
            </a:r>
            <a:r>
              <a:rPr lang="de-DE" altLang="en-US" sz="1400">
                <a:latin typeface="Calibri" charset="0"/>
              </a:rPr>
              <a:t>int rnum;    </a:t>
            </a:r>
            <a:r>
              <a:rPr lang="de-DE" altLang="en-US" sz="1400">
                <a:solidFill>
                  <a:srgbClr val="FF0000"/>
                </a:solidFill>
                <a:latin typeface="Calibri" charset="0"/>
              </a:rPr>
              <a:t>// which register</a:t>
            </a:r>
            <a:endParaRPr lang="de-DE" altLang="en-US" sz="1400">
              <a:solidFill>
                <a:srgbClr val="FF0000"/>
              </a:solidFill>
              <a:latin typeface="Calibri" charset="0"/>
            </a:endParaRPr>
          </a:p>
          <a:p>
            <a:pPr marL="0" indent="0">
              <a:buNone/>
            </a:pPr>
            <a:r>
              <a:rPr lang="de-DE" altLang="en-US" sz="1400">
                <a:latin typeface="Calibri" charset="0"/>
              </a:rPr>
              <a:t>    </a:t>
            </a:r>
            <a:r>
              <a:rPr lang="de-DE" altLang="en-US" sz="1400">
                <a:solidFill>
                  <a:srgbClr val="00B050"/>
                </a:solidFill>
                <a:latin typeface="Calibri" charset="0"/>
              </a:rPr>
              <a:t>unsigned </a:t>
            </a:r>
            <a:r>
              <a:rPr lang="de-DE" altLang="en-US" sz="1400">
                <a:latin typeface="Calibri" charset="0"/>
              </a:rPr>
              <a:t>int rvalue;  </a:t>
            </a:r>
            <a:r>
              <a:rPr lang="de-DE" altLang="en-US" sz="1400">
                <a:solidFill>
                  <a:srgbClr val="FF0000"/>
                </a:solidFill>
                <a:latin typeface="Calibri" charset="0"/>
              </a:rPr>
              <a:t>// its value</a:t>
            </a:r>
            <a:endParaRPr lang="de-DE" altLang="en-US" sz="1400">
              <a:latin typeface="Calibri" charset="0"/>
            </a:endParaRPr>
          </a:p>
          <a:p>
            <a:pPr marL="0" indent="0">
              <a:buNone/>
            </a:pPr>
            <a:r>
              <a:rPr lang="de-DE" altLang="en-US" sz="1400">
                <a:latin typeface="Calibri" charset="0"/>
              </a:rPr>
              <a:t>} </a:t>
            </a:r>
            <a:r>
              <a:rPr lang="de-DE" altLang="en-US" sz="1400">
                <a:solidFill>
                  <a:srgbClr val="0070C0"/>
                </a:solidFill>
                <a:latin typeface="Calibri" charset="0"/>
              </a:rPr>
              <a:t>MeasObj_struct</a:t>
            </a:r>
            <a:r>
              <a:rPr lang="de-DE" altLang="en-US" sz="1400">
                <a:latin typeface="Calibri" charset="0"/>
              </a:rPr>
              <a:t>;</a:t>
            </a:r>
            <a:endParaRPr lang="de-DE" altLang="en-US" sz="1400">
              <a:latin typeface="Calibri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de-DE" altLang="zh-CN">
                <a:latin typeface="Calibri" charset="0"/>
              </a:rPr>
              <a:t>5</a:t>
            </a:r>
            <a:endParaRPr lang="de-DE" altLang="zh-CN">
              <a:latin typeface="Calibri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charset="0"/>
              </a:rPr>
              <a:t>Image Build Process - Kernel</a:t>
            </a:r>
            <a:endParaRPr lang="de-DE" altLang="en-US">
              <a:latin typeface="Calibri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de-DE" altLang="en-US">
                <a:latin typeface="Calibri" charset="0"/>
              </a:rPr>
              <a:t>Once the </a:t>
            </a:r>
            <a:r>
              <a:rPr lang="de-DE" altLang="en-US">
                <a:latin typeface="Calibri" charset="0"/>
                <a:sym typeface="+mn-ea"/>
              </a:rPr>
              <a:t>"compatible" string is matched, the probe function is called.</a:t>
            </a:r>
            <a:endParaRPr lang="de-DE" altLang="en-US">
              <a:latin typeface="Calibri" charset="0"/>
            </a:endParaRPr>
          </a:p>
          <a:p>
            <a:r>
              <a:rPr lang="de-DE" altLang="en-US">
                <a:latin typeface="Calibri" charset="0"/>
              </a:rPr>
              <a:t>This is accessible using methods </a:t>
            </a:r>
            <a:r>
              <a:rPr lang="de-DE" altLang="en-US" sz="1600" i="1">
                <a:solidFill>
                  <a:srgbClr val="00B0F0"/>
                </a:solidFill>
                <a:latin typeface="Calibri" charset="0"/>
              </a:rPr>
              <a:t>dev_open</a:t>
            </a:r>
            <a:r>
              <a:rPr lang="de-DE" altLang="en-US">
                <a:latin typeface="Calibri" charset="0"/>
              </a:rPr>
              <a:t>, </a:t>
            </a:r>
            <a:r>
              <a:rPr lang="de-DE" altLang="en-US" sz="1600" i="1">
                <a:solidFill>
                  <a:srgbClr val="00B0F0"/>
                </a:solidFill>
                <a:latin typeface="Calibri" charset="0"/>
              </a:rPr>
              <a:t>dev_write</a:t>
            </a:r>
            <a:r>
              <a:rPr lang="de-DE" altLang="en-US">
                <a:latin typeface="Calibri" charset="0"/>
              </a:rPr>
              <a:t>, </a:t>
            </a:r>
            <a:r>
              <a:rPr lang="de-DE" altLang="en-US" sz="1600" i="1">
                <a:solidFill>
                  <a:srgbClr val="00B0F0"/>
                </a:solidFill>
                <a:latin typeface="Calibri" charset="0"/>
              </a:rPr>
              <a:t>dev_read</a:t>
            </a:r>
            <a:r>
              <a:rPr lang="de-DE" altLang="en-US">
                <a:latin typeface="Calibri" charset="0"/>
              </a:rPr>
              <a:t>, </a:t>
            </a:r>
            <a:r>
              <a:rPr lang="de-DE" altLang="en-US" sz="1600" i="1">
                <a:solidFill>
                  <a:srgbClr val="00B0F0"/>
                </a:solidFill>
                <a:latin typeface="Calibri" charset="0"/>
              </a:rPr>
              <a:t>dev_release</a:t>
            </a:r>
            <a:endParaRPr lang="de-DE" altLang="en-US" sz="1600" i="1">
              <a:solidFill>
                <a:srgbClr val="00B0F0"/>
              </a:solidFill>
              <a:latin typeface="Calibri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de-DE" altLang="zh-CN">
                <a:latin typeface="Calibri" charset="0"/>
              </a:rPr>
              <a:t>6</a:t>
            </a:r>
            <a:endParaRPr lang="de-DE" altLang="zh-CN">
              <a:latin typeface="Calibri" charset="0"/>
            </a:endParaRPr>
          </a:p>
        </p:txBody>
      </p:sp>
      <p:pic>
        <p:nvPicPr>
          <p:cNvPr id="5" name="Picture 4" descr="probe_function_flow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38600" y="2679700"/>
            <a:ext cx="3303270" cy="34975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charset="0"/>
              </a:rPr>
              <a:t>Image Build Process - Read and Write</a:t>
            </a:r>
            <a:endParaRPr lang="de-DE" altLang="en-US">
              <a:latin typeface="Calibri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Read process</a:t>
            </a:r>
            <a:endParaRPr lang="de-DE" altLang="en-US">
              <a:latin typeface="Calibri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de-DE" altLang="en-US">
                <a:latin typeface="Calibri" charset="0"/>
              </a:rPr>
              <a:t>	</a:t>
            </a:r>
            <a:r>
              <a:rPr lang="de-DE" altLang="en-US" sz="1400" i="1">
                <a:latin typeface="Calibri" charset="0"/>
              </a:rPr>
              <a:t>write({</a:t>
            </a:r>
            <a:r>
              <a:rPr lang="de-DE" altLang="en-US" sz="1400" i="1">
                <a:solidFill>
                  <a:srgbClr val="00B050"/>
                </a:solidFill>
                <a:latin typeface="Calibri" charset="0"/>
              </a:rPr>
              <a:t>rnum</a:t>
            </a:r>
            <a:r>
              <a:rPr lang="de-DE" altLang="en-US" sz="1400" i="1">
                <a:latin typeface="Calibri" charset="0"/>
              </a:rPr>
              <a:t> = </a:t>
            </a:r>
            <a:r>
              <a:rPr lang="de-DE" altLang="en-US" sz="1400" i="1">
                <a:solidFill>
                  <a:srgbClr val="0070C0"/>
                </a:solidFill>
                <a:latin typeface="Calibri" charset="0"/>
              </a:rPr>
              <a:t>0xFF</a:t>
            </a:r>
            <a:r>
              <a:rPr lang="de-DE" altLang="en-US" sz="1400" i="1">
                <a:latin typeface="Calibri" charset="0"/>
              </a:rPr>
              <a:t>, </a:t>
            </a:r>
            <a:r>
              <a:rPr lang="de-DE" altLang="en-US" sz="1400" i="1">
                <a:solidFill>
                  <a:srgbClr val="00B050"/>
                </a:solidFill>
                <a:latin typeface="Calibri" charset="0"/>
              </a:rPr>
              <a:t>rvalue </a:t>
            </a:r>
            <a:r>
              <a:rPr lang="de-DE" altLang="en-US" sz="1400" i="1">
                <a:latin typeface="Calibri" charset="0"/>
              </a:rPr>
              <a:t>= </a:t>
            </a:r>
            <a:r>
              <a:rPr lang="de-DE" altLang="en-US" sz="1400" i="1">
                <a:solidFill>
                  <a:srgbClr val="0070C0"/>
                </a:solidFill>
                <a:latin typeface="Calibri" charset="0"/>
              </a:rPr>
              <a:t>N</a:t>
            </a:r>
            <a:r>
              <a:rPr lang="de-DE" altLang="en-US" sz="1400" i="1">
                <a:latin typeface="Calibri" charset="0"/>
              </a:rPr>
              <a:t>})</a:t>
            </a:r>
            <a:r>
              <a:rPr lang="de-DE" altLang="en-US">
                <a:latin typeface="Calibri" charset="0"/>
              </a:rPr>
              <a:t>, selects register N</a:t>
            </a:r>
            <a:endParaRPr lang="de-DE" altLang="en-US">
              <a:latin typeface="Calibri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de-DE" altLang="en-US">
                <a:latin typeface="Calibri" charset="0"/>
              </a:rPr>
              <a:t>	</a:t>
            </a:r>
            <a:r>
              <a:rPr lang="de-DE" altLang="en-US" sz="1400" i="1">
                <a:latin typeface="Calibri" charset="0"/>
              </a:rPr>
              <a:t>read()</a:t>
            </a:r>
            <a:r>
              <a:rPr lang="de-DE" altLang="en-US">
                <a:latin typeface="Calibri" charset="0"/>
              </a:rPr>
              <a:t>, get register N‘s value</a:t>
            </a:r>
            <a:endParaRPr lang="de-DE" altLang="en-US"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Write process</a:t>
            </a:r>
            <a:endParaRPr lang="de-DE" altLang="en-US">
              <a:latin typeface="Calibri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de-DE" altLang="en-US">
                <a:latin typeface="Calibri" charset="0"/>
              </a:rPr>
              <a:t>	</a:t>
            </a:r>
            <a:r>
              <a:rPr lang="de-DE" altLang="en-US" sz="1400" i="1">
                <a:latin typeface="Calibri" charset="0"/>
              </a:rPr>
              <a:t>write({</a:t>
            </a:r>
            <a:r>
              <a:rPr lang="de-DE" altLang="en-US" sz="1400" i="1">
                <a:solidFill>
                  <a:srgbClr val="00B050"/>
                </a:solidFill>
                <a:latin typeface="Calibri" charset="0"/>
              </a:rPr>
              <a:t>rNum </a:t>
            </a:r>
            <a:r>
              <a:rPr lang="de-DE" altLang="en-US" sz="1400" i="1">
                <a:latin typeface="Calibri" charset="0"/>
              </a:rPr>
              <a:t>= </a:t>
            </a:r>
            <a:r>
              <a:rPr lang="de-DE" altLang="en-US" sz="1400" i="1">
                <a:solidFill>
                  <a:srgbClr val="0070C0"/>
                </a:solidFill>
                <a:latin typeface="Calibri" charset="0"/>
              </a:rPr>
              <a:t>N</a:t>
            </a:r>
            <a:r>
              <a:rPr lang="de-DE" altLang="en-US" sz="1400" i="1">
                <a:latin typeface="Calibri" charset="0"/>
              </a:rPr>
              <a:t>, </a:t>
            </a:r>
            <a:r>
              <a:rPr lang="de-DE" altLang="en-US" sz="1400" i="1">
                <a:solidFill>
                  <a:srgbClr val="00B050"/>
                </a:solidFill>
                <a:latin typeface="Calibri" charset="0"/>
              </a:rPr>
              <a:t>rValue </a:t>
            </a:r>
            <a:r>
              <a:rPr lang="de-DE" altLang="en-US" sz="1400" i="1">
                <a:latin typeface="Calibri" charset="0"/>
              </a:rPr>
              <a:t>= </a:t>
            </a:r>
            <a:r>
              <a:rPr lang="de-DE" altLang="en-US" sz="1400" i="1">
                <a:solidFill>
                  <a:srgbClr val="0070C0"/>
                </a:solidFill>
                <a:latin typeface="Calibri" charset="0"/>
              </a:rPr>
              <a:t>value</a:t>
            </a:r>
            <a:r>
              <a:rPr lang="de-DE" altLang="en-US" sz="1400" i="1">
                <a:latin typeface="Calibri" charset="0"/>
              </a:rPr>
              <a:t>})</a:t>
            </a:r>
            <a:r>
              <a:rPr lang="de-DE" altLang="en-US">
                <a:latin typeface="Calibri" charset="0"/>
              </a:rPr>
              <a:t>, write value to register N</a:t>
            </a:r>
            <a:endParaRPr lang="de-DE" altLang="en-US"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de-DE" altLang="en-US" sz="1400" i="1">
                <a:solidFill>
                  <a:srgbClr val="0070C0"/>
                </a:solidFill>
                <a:latin typeface="Calibri" charset="0"/>
              </a:rPr>
              <a:t>petalinux-build</a:t>
            </a:r>
            <a:r>
              <a:rPr lang="de-DE" altLang="en-US">
                <a:latin typeface="Calibri" charset="0"/>
              </a:rPr>
              <a:t> : compiles kernel + driver + rootfs + u-boot</a:t>
            </a:r>
            <a:endParaRPr lang="de-DE" altLang="en-US"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de-DE" altLang="en-US" sz="1400" i="1">
                <a:solidFill>
                  <a:srgbClr val="0070C0"/>
                </a:solidFill>
                <a:latin typeface="Calibri" charset="0"/>
              </a:rPr>
              <a:t>petalinux-package</a:t>
            </a:r>
            <a:r>
              <a:rPr lang="de-DE" altLang="en-US" sz="1400" i="1">
                <a:latin typeface="Calibri" charset="0"/>
              </a:rPr>
              <a:t> </a:t>
            </a:r>
            <a:r>
              <a:rPr lang="de-DE" altLang="en-US" sz="1400" i="1">
                <a:solidFill>
                  <a:srgbClr val="00B050"/>
                </a:solidFill>
                <a:latin typeface="Calibri" charset="0"/>
              </a:rPr>
              <a:t>--boot</a:t>
            </a:r>
            <a:r>
              <a:rPr lang="de-DE" altLang="en-US">
                <a:latin typeface="Calibri" charset="0"/>
              </a:rPr>
              <a:t> : Creates BOOT.BIN + image.ub + rootfs.ext4</a:t>
            </a:r>
            <a:endParaRPr lang="de-DE" altLang="en-US"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Flash to SD card and boot the board</a:t>
            </a:r>
            <a:endParaRPr lang="de-DE" altLang="en-US">
              <a:latin typeface="Calibri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de-DE" altLang="zh-CN">
                <a:latin typeface="Calibri" charset="0"/>
              </a:rPr>
              <a:t>7</a:t>
            </a:r>
            <a:endParaRPr lang="de-DE" altLang="zh-CN">
              <a:latin typeface="Calibri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altLang="zh-CN">
                <a:latin typeface="Calibri" charset="0"/>
              </a:rPr>
              <a:t>Application - </a:t>
            </a:r>
            <a:r>
              <a:rPr lang="de-DE" altLang="zh-CN">
                <a:latin typeface="Calibri" charset="0"/>
                <a:sym typeface="+mn-ea"/>
              </a:rPr>
              <a:t>Network Layer</a:t>
            </a:r>
            <a:endParaRPr lang="de-DE" altLang="zh-CN">
              <a:latin typeface="Calibri" charset="0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altLang="zh-CN">
                <a:latin typeface="Calibri" charset="0"/>
              </a:rPr>
              <a:t>Haizon Helet Cruz (42708)</a:t>
            </a:r>
            <a:endParaRPr lang="de-DE" altLang="zh-CN">
              <a:latin typeface="Calibri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de-DE" altLang="zh-CN">
                <a:latin typeface="Calibri" charset="0"/>
              </a:rPr>
              <a:t>8</a:t>
            </a:r>
            <a:endParaRPr lang="de-DE" altLang="zh-CN">
              <a:latin typeface="Calibri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charset="0"/>
              </a:rPr>
              <a:t>Application Layer Overview</a:t>
            </a:r>
            <a:endParaRPr lang="de-DE" altLang="en-US">
              <a:latin typeface="Calibri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89457" y="2244598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89457" y="2244598"/>
            <a:ext cx="502920" cy="93268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0727" y="2245868"/>
            <a:ext cx="50292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83817" y="2336038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Trebuchet MS" panose="020B060302020202020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Ring Buffer — Fundamentals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583817" y="2683510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Fixed-memory FIFO, producer–consumer model, O(1) complexity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51729" y="2244598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51729" y="2243963"/>
            <a:ext cx="502920" cy="932688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52999" y="2252853"/>
            <a:ext cx="50292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46089" y="2336038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Trebuchet MS" panose="020B060302020202020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Ring Buffer — Concurrency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46089" y="2683510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Mutex protection, condition variables, overflow policy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89457" y="3287014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89457" y="3287014"/>
            <a:ext cx="502920" cy="932688"/>
          </a:xfrm>
          <a:prstGeom prst="rect">
            <a:avLst/>
          </a:prstGeom>
          <a:solidFill>
            <a:srgbClr val="0F9B8E"/>
          </a:solidFill>
          <a:ln w="12700">
            <a:solidFill>
              <a:srgbClr val="0F9B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0727" y="3284474"/>
            <a:ext cx="50292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83817" y="3378454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Trebuchet MS" panose="020B060302020202020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Ring Buffer — Operations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583817" y="3725926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Insert (O1), batch extraction, complexity analysis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51729" y="3287014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51729" y="3287014"/>
            <a:ext cx="502920" cy="93268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59984" y="3288284"/>
            <a:ext cx="50292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046089" y="3378454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Trebuchet MS" panose="020B060302020202020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TCP Network Thread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046089" y="3725926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Socket creation, Berkeley Sockets API, server lifecycle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89457" y="4329430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89457" y="4329430"/>
            <a:ext cx="502920" cy="932688"/>
          </a:xfrm>
          <a:prstGeom prst="rect">
            <a:avLst/>
          </a:prstGeom>
          <a:solidFill>
            <a:srgbClr val="2B4E9F"/>
          </a:solidFill>
          <a:ln w="12700">
            <a:solidFill>
              <a:srgbClr val="2B4E9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0727" y="4330700"/>
            <a:ext cx="50292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583817" y="4420870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Trebuchet MS" panose="020B060302020202020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State Machine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583817" y="4768342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IDLE → RUNNING → DISCONNECT states and transitions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51729" y="4329430"/>
            <a:ext cx="4206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51729" y="4329430"/>
            <a:ext cx="502920" cy="932688"/>
          </a:xfrm>
          <a:prstGeom prst="rect">
            <a:avLst/>
          </a:prstGeom>
          <a:solidFill>
            <a:srgbClr val="1D7E6B"/>
          </a:solidFill>
          <a:ln w="12700">
            <a:solidFill>
              <a:srgbClr val="1D7E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59984" y="4330700"/>
            <a:ext cx="502920" cy="932688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046089" y="4420870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Trebuchet MS" panose="020B060302020202020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Configuration Commands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046089" y="4768342"/>
            <a:ext cx="3520440" cy="384048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charset="0"/>
                <a:ea typeface="Calibri" pitchFamily="34" charset="-122"/>
                <a:cs typeface="Calibri" pitchFamily="34" charset="-120"/>
              </a:rPr>
              <a:t>CONNECT, START, CONFIGURE, STOP, DISCONNECT, SHUTDOWN</a:t>
            </a:r>
            <a:endParaRPr lang="en-US" sz="95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de-DE" altLang="zh-CN">
                <a:latin typeface="Calibri" charset="0"/>
              </a:rPr>
              <a:t>9</a:t>
            </a:r>
            <a:endParaRPr lang="de-DE" altLang="zh-CN">
              <a:latin typeface="Calibri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charset="0"/>
              </a:rPr>
              <a:t>Ring Buffer Role in MNG</a:t>
            </a:r>
            <a:endParaRPr lang="de-DE" altLang="en-US">
              <a:latin typeface="Calibri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Ring Buffer is a common data storage method used in embedded systems. </a:t>
            </a:r>
            <a:endParaRPr lang="de-DE" altLang="en-US"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This data structure enables in active communication between the two threads</a:t>
            </a:r>
            <a:endParaRPr lang="de-DE" altLang="en-US">
              <a:latin typeface="Calibri" charset="0"/>
            </a:endParaRPr>
          </a:p>
          <a:p>
            <a:pPr lvl="1"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Sensor thread can "</a:t>
            </a:r>
            <a:r>
              <a:rPr lang="de-DE" altLang="en-US">
                <a:solidFill>
                  <a:srgbClr val="92D050"/>
                </a:solidFill>
                <a:latin typeface="Calibri" charset="0"/>
              </a:rPr>
              <a:t>fire and forget</a:t>
            </a:r>
            <a:r>
              <a:rPr lang="de-DE" altLang="en-US">
                <a:latin typeface="Calibri" charset="0"/>
              </a:rPr>
              <a:t>"</a:t>
            </a:r>
            <a:endParaRPr lang="de-DE" altLang="en-US">
              <a:latin typeface="Calibri" charset="0"/>
            </a:endParaRPr>
          </a:p>
          <a:p>
            <a:pPr lvl="1"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Network thread focuses on retrieving data and send to the GUI</a:t>
            </a:r>
            <a:endParaRPr lang="de-DE" altLang="en-US">
              <a:latin typeface="Calibri" charset="0"/>
            </a:endParaRPr>
          </a:p>
          <a:p>
            <a:pPr marL="0" lvl="0" indent="0">
              <a:lnSpc>
                <a:spcPct val="150000"/>
              </a:lnSpc>
              <a:buNone/>
            </a:pPr>
            <a:endParaRPr lang="de-DE" altLang="en-US">
              <a:latin typeface="Calibri" charset="0"/>
            </a:endParaRPr>
          </a:p>
        </p:txBody>
      </p:sp>
      <p:pic>
        <p:nvPicPr>
          <p:cNvPr id="4" name="Picture 3" descr="ring_buffer_architecture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42105" y="3899535"/>
            <a:ext cx="3371850" cy="218186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de-DE" altLang="zh-CN">
                <a:latin typeface="Calibri" charset="0"/>
              </a:rPr>
              <a:t>10</a:t>
            </a:r>
            <a:endParaRPr lang="de-DE" altLang="zh-CN">
              <a:latin typeface="Calibri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charset="0"/>
              </a:rPr>
              <a:t>Ring Buffer Operations</a:t>
            </a:r>
            <a:endParaRPr lang="de-DE" altLang="en-US">
              <a:latin typeface="Calibri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pPr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Ring Buffer Init - </a:t>
            </a:r>
            <a:r>
              <a:rPr lang="de-DE" altLang="en-US" sz="1400" i="1">
                <a:solidFill>
                  <a:srgbClr val="00B050"/>
                </a:solidFill>
                <a:latin typeface="Calibri" charset="0"/>
              </a:rPr>
              <a:t>ring_buffer_t</a:t>
            </a:r>
            <a:r>
              <a:rPr lang="de-DE" altLang="en-US" sz="1400" i="1">
                <a:latin typeface="Calibri" charset="0"/>
              </a:rPr>
              <a:t> </a:t>
            </a:r>
            <a:r>
              <a:rPr lang="de-DE" altLang="en-US" sz="1400" i="1">
                <a:solidFill>
                  <a:srgbClr val="0070C0"/>
                </a:solidFill>
                <a:latin typeface="Calibri" charset="0"/>
              </a:rPr>
              <a:t>*ringBufferInit()</a:t>
            </a:r>
            <a:endParaRPr lang="de-DE" altLang="en-US" i="1"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Ring Buffer add sample - </a:t>
            </a:r>
            <a:r>
              <a:rPr lang="de-DE" altLang="en-US" sz="1400" i="1">
                <a:solidFill>
                  <a:srgbClr val="00B050"/>
                </a:solidFill>
                <a:latin typeface="Calibri" charset="0"/>
              </a:rPr>
              <a:t>void </a:t>
            </a:r>
            <a:r>
              <a:rPr lang="de-DE" altLang="en-US" sz="1400" i="1">
                <a:solidFill>
                  <a:srgbClr val="0070C0"/>
                </a:solidFill>
                <a:latin typeface="Calibri" charset="0"/>
              </a:rPr>
              <a:t>ringBufferAddSample(ring_buffer_t *rb, const sensor_data_t *sample)</a:t>
            </a:r>
            <a:endParaRPr lang="de-DE" altLang="en-US"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Ring Buffer batched data extraction - </a:t>
            </a:r>
            <a:r>
              <a:rPr lang="de-DE" altLang="en-US" sz="1400" i="1">
                <a:solidFill>
                  <a:srgbClr val="00B050"/>
                </a:solidFill>
                <a:latin typeface="Calibri" charset="0"/>
              </a:rPr>
              <a:t>size_t</a:t>
            </a:r>
            <a:r>
              <a:rPr lang="de-DE" altLang="en-US" sz="1400" i="1">
                <a:latin typeface="Calibri" charset="0"/>
              </a:rPr>
              <a:t> </a:t>
            </a:r>
            <a:r>
              <a:rPr lang="de-DE" altLang="en-US" sz="1400" i="1">
                <a:solidFill>
                  <a:srgbClr val="0070C0"/>
                </a:solidFill>
                <a:latin typeface="Calibri" charset="0"/>
              </a:rPr>
              <a:t>ringBufferRemoveBatch(ring_buffer_t *rb, sensor_data_t *dest, size_t max_samples)</a:t>
            </a:r>
            <a:endParaRPr lang="de-DE" altLang="en-US" sz="1400"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Free memory allocation - </a:t>
            </a:r>
            <a:r>
              <a:rPr lang="de-DE" altLang="en-US" sz="1400" i="1">
                <a:solidFill>
                  <a:srgbClr val="0070C0"/>
                </a:solidFill>
                <a:latin typeface="Calibri" charset="0"/>
              </a:rPr>
              <a:t>free(rb)</a:t>
            </a:r>
            <a:endParaRPr lang="de-DE" altLang="en-US" sz="1400" i="1">
              <a:solidFill>
                <a:srgbClr val="0070C0"/>
              </a:solidFill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de-DE" altLang="en-US">
                <a:solidFill>
                  <a:schemeClr val="tx1"/>
                </a:solidFill>
                <a:latin typeface="Calibri" charset="0"/>
              </a:rPr>
              <a:t>Ring Buffer structure</a:t>
            </a:r>
            <a:endParaRPr lang="de-DE" altLang="en-US">
              <a:solidFill>
                <a:schemeClr val="tx1"/>
              </a:solidFill>
              <a:latin typeface="Calibri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altLang="en-US" sz="1335">
                <a:solidFill>
                  <a:srgbClr val="00B050"/>
                </a:solidFill>
                <a:latin typeface="Calibri" charset="0"/>
              </a:rPr>
              <a:t>      </a:t>
            </a:r>
            <a:r>
              <a:rPr lang="de-DE" altLang="en-US" sz="1335" i="1">
                <a:solidFill>
                  <a:srgbClr val="00B050"/>
                </a:solidFill>
                <a:latin typeface="Calibri" charset="0"/>
              </a:rPr>
              <a:t>typedef struct</a:t>
            </a:r>
            <a:r>
              <a:rPr lang="de-DE" altLang="en-US" sz="1335" i="1">
                <a:latin typeface="Calibri" charset="0"/>
              </a:rPr>
              <a:t> {</a:t>
            </a:r>
            <a:endParaRPr lang="de-DE" altLang="en-US" sz="1335" i="1">
              <a:latin typeface="Calibri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altLang="en-US" sz="1335" i="1">
                <a:latin typeface="Calibri" charset="0"/>
              </a:rPr>
              <a:t>	</a:t>
            </a:r>
            <a:r>
              <a:rPr lang="de-DE" altLang="en-US" sz="1335" i="1">
                <a:solidFill>
                  <a:srgbClr val="00B050"/>
                </a:solidFill>
                <a:latin typeface="Calibri" charset="0"/>
              </a:rPr>
              <a:t>pthread_mutex_t</a:t>
            </a:r>
            <a:r>
              <a:rPr lang="de-DE" altLang="en-US" sz="1335" i="1">
                <a:latin typeface="Calibri" charset="0"/>
              </a:rPr>
              <a:t> rbMutex;</a:t>
            </a:r>
            <a:endParaRPr lang="de-DE" altLang="en-US" sz="1335" i="1">
              <a:latin typeface="Calibri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altLang="en-US" sz="1335" i="1">
                <a:latin typeface="Calibri" charset="0"/>
              </a:rPr>
              <a:t>	</a:t>
            </a:r>
            <a:r>
              <a:rPr lang="de-DE" altLang="en-US" sz="1335" i="1">
                <a:solidFill>
                  <a:srgbClr val="00B050"/>
                </a:solidFill>
                <a:latin typeface="Calibri" charset="0"/>
              </a:rPr>
              <a:t>sensor_data_t</a:t>
            </a:r>
            <a:r>
              <a:rPr lang="de-DE" altLang="en-US" sz="1335" i="1">
                <a:latin typeface="Calibri" charset="0"/>
              </a:rPr>
              <a:t> sampleArray[</a:t>
            </a:r>
            <a:r>
              <a:rPr lang="de-DE" altLang="en-US" sz="1335" i="1">
                <a:solidFill>
                  <a:srgbClr val="0070C0"/>
                </a:solidFill>
                <a:latin typeface="Calibri" charset="0"/>
              </a:rPr>
              <a:t>RING_BUF_SIZE</a:t>
            </a:r>
            <a:r>
              <a:rPr lang="de-DE" altLang="en-US" sz="1335" i="1">
                <a:latin typeface="Calibri" charset="0"/>
              </a:rPr>
              <a:t>];</a:t>
            </a:r>
            <a:endParaRPr lang="de-DE" altLang="en-US" sz="1335" i="1">
              <a:latin typeface="Calibri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altLang="en-US" sz="1335" i="1">
                <a:latin typeface="Calibri" charset="0"/>
              </a:rPr>
              <a:t>	</a:t>
            </a:r>
            <a:r>
              <a:rPr lang="de-DE" altLang="en-US" sz="1335" i="1">
                <a:solidFill>
                  <a:srgbClr val="00B050"/>
                </a:solidFill>
                <a:latin typeface="Calibri" charset="0"/>
              </a:rPr>
              <a:t>size_t</a:t>
            </a:r>
            <a:r>
              <a:rPr lang="de-DE" altLang="en-US" sz="1335" i="1">
                <a:latin typeface="Calibri" charset="0"/>
              </a:rPr>
              <a:t> write_index;</a:t>
            </a:r>
            <a:endParaRPr lang="de-DE" altLang="en-US" sz="1335" i="1">
              <a:latin typeface="Calibri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altLang="en-US" sz="1335" i="1">
                <a:latin typeface="Calibri" charset="0"/>
              </a:rPr>
              <a:t>	</a:t>
            </a:r>
            <a:r>
              <a:rPr lang="de-DE" altLang="en-US" sz="1335" i="1">
                <a:solidFill>
                  <a:srgbClr val="00B050"/>
                </a:solidFill>
                <a:latin typeface="Calibri" charset="0"/>
              </a:rPr>
              <a:t>size_t</a:t>
            </a:r>
            <a:r>
              <a:rPr lang="de-DE" altLang="en-US" sz="1335" i="1">
                <a:latin typeface="Calibri" charset="0"/>
              </a:rPr>
              <a:t> read_index;</a:t>
            </a:r>
            <a:endParaRPr lang="de-DE" altLang="en-US" sz="1335" i="1">
              <a:latin typeface="Calibri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altLang="en-US" sz="1335" i="1">
                <a:latin typeface="Calibri" charset="0"/>
              </a:rPr>
              <a:t>	</a:t>
            </a:r>
            <a:r>
              <a:rPr lang="de-DE" altLang="en-US" sz="1335" i="1">
                <a:solidFill>
                  <a:srgbClr val="00B050"/>
                </a:solidFill>
                <a:latin typeface="Calibri" charset="0"/>
              </a:rPr>
              <a:t>uint16_t</a:t>
            </a:r>
            <a:r>
              <a:rPr lang="de-DE" altLang="en-US" sz="1335" i="1">
                <a:latin typeface="Calibri" charset="0"/>
              </a:rPr>
              <a:t> count;</a:t>
            </a:r>
            <a:endParaRPr lang="de-DE" altLang="en-US" sz="1335" i="1">
              <a:latin typeface="Calibri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de-DE" altLang="en-US" sz="1335" i="1">
                <a:latin typeface="Calibri" charset="0"/>
              </a:rPr>
              <a:t>    } </a:t>
            </a:r>
            <a:r>
              <a:rPr lang="de-DE" altLang="en-US" sz="1335" i="1">
                <a:solidFill>
                  <a:srgbClr val="00B050"/>
                </a:solidFill>
                <a:latin typeface="Calibri" charset="0"/>
              </a:rPr>
              <a:t>ring_buffer_t</a:t>
            </a:r>
            <a:r>
              <a:rPr lang="de-DE" altLang="en-US" sz="1335" i="1">
                <a:latin typeface="Calibri" charset="0"/>
              </a:rPr>
              <a:t>;</a:t>
            </a:r>
            <a:endParaRPr lang="de-DE" altLang="en-US" sz="1335" i="1">
              <a:latin typeface="Calibri" charset="0"/>
            </a:endParaRPr>
          </a:p>
          <a:p>
            <a:endParaRPr lang="de-DE" altLang="en-US" sz="1335" i="1">
              <a:latin typeface="Calibri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de-DE" altLang="zh-CN">
                <a:latin typeface="Calibri" charset="0"/>
              </a:rPr>
              <a:t>11</a:t>
            </a:r>
            <a:endParaRPr lang="de-DE" altLang="zh-CN">
              <a:latin typeface="Calibri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charset="0"/>
              </a:rPr>
              <a:t>TCP Network Thread - Configuration Commands</a:t>
            </a:r>
            <a:endParaRPr lang="de-DE" altLang="en-US">
              <a:latin typeface="Calibri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de-DE" altLang="en-US" i="1">
                <a:solidFill>
                  <a:srgbClr val="00B0F0"/>
                </a:solidFill>
                <a:latin typeface="Calibri" charset="0"/>
              </a:rPr>
              <a:t>CONNECT </a:t>
            </a:r>
            <a:r>
              <a:rPr lang="de-DE" altLang="en-US" sz="1600" i="1">
                <a:solidFill>
                  <a:srgbClr val="92D050"/>
                </a:solidFill>
                <a:latin typeface="Calibri" charset="0"/>
              </a:rPr>
              <a:t>&lt;ip_address&gt;</a:t>
            </a:r>
            <a:r>
              <a:rPr lang="de-DE" altLang="en-US" sz="1600" i="1">
                <a:latin typeface="Calibri" charset="0"/>
              </a:rPr>
              <a:t> </a:t>
            </a:r>
            <a:r>
              <a:rPr lang="de-DE" altLang="en-US" sz="1600">
                <a:latin typeface="Calibri" charset="0"/>
              </a:rPr>
              <a:t>: </a:t>
            </a:r>
            <a:r>
              <a:rPr lang="de-DE" altLang="en-US">
                <a:latin typeface="Calibri" charset="0"/>
              </a:rPr>
              <a:t>Connect to device using </a:t>
            </a:r>
            <a:r>
              <a:rPr lang="de-DE" altLang="en-US" sz="1600" i="1">
                <a:latin typeface="Calibri" charset="0"/>
              </a:rPr>
              <a:t>IPv4</a:t>
            </a:r>
            <a:r>
              <a:rPr lang="de-DE" altLang="en-US">
                <a:latin typeface="Calibri" charset="0"/>
              </a:rPr>
              <a:t> address</a:t>
            </a:r>
            <a:endParaRPr lang="de-DE" altLang="en-US"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de-DE" altLang="en-US" i="1">
                <a:solidFill>
                  <a:srgbClr val="00B0F0"/>
                </a:solidFill>
                <a:latin typeface="Calibri" charset="0"/>
              </a:rPr>
              <a:t>START</a:t>
            </a:r>
            <a:r>
              <a:rPr lang="de-DE" altLang="en-US" i="1">
                <a:latin typeface="Calibri" charset="0"/>
              </a:rPr>
              <a:t> </a:t>
            </a:r>
            <a:r>
              <a:rPr lang="de-DE" altLang="en-US">
                <a:latin typeface="Calibri" charset="0"/>
              </a:rPr>
              <a:t>: Start to send data to the GUI. </a:t>
            </a:r>
            <a:r>
              <a:rPr lang="de-DE" altLang="en-US" sz="1600" i="1">
                <a:latin typeface="Calibri" charset="0"/>
              </a:rPr>
              <a:t>IDLE </a:t>
            </a:r>
            <a:r>
              <a:rPr lang="de-DE" altLang="en-US">
                <a:latin typeface="Calibri" charset="0"/>
              </a:rPr>
              <a:t>to </a:t>
            </a:r>
            <a:r>
              <a:rPr lang="de-DE" altLang="en-US" sz="1600" i="1">
                <a:latin typeface="Calibri" charset="0"/>
              </a:rPr>
              <a:t>RUNNING </a:t>
            </a:r>
            <a:r>
              <a:rPr lang="de-DE" altLang="en-US">
                <a:latin typeface="Calibri" charset="0"/>
              </a:rPr>
              <a:t>state</a:t>
            </a:r>
            <a:endParaRPr lang="de-DE" altLang="en-US"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de-DE" altLang="en-US" i="1">
                <a:solidFill>
                  <a:srgbClr val="00B0F0"/>
                </a:solidFill>
                <a:latin typeface="Calibri" charset="0"/>
              </a:rPr>
              <a:t>CONFIGURE</a:t>
            </a:r>
            <a:r>
              <a:rPr lang="de-DE" altLang="en-US" i="1">
                <a:latin typeface="Calibri" charset="0"/>
              </a:rPr>
              <a:t> </a:t>
            </a:r>
            <a:r>
              <a:rPr lang="de-DE" altLang="en-US">
                <a:latin typeface="Calibri" charset="0"/>
              </a:rPr>
              <a:t>: </a:t>
            </a:r>
            <a:r>
              <a:rPr lang="de-DE" altLang="en-US" sz="1600" i="1">
                <a:solidFill>
                  <a:srgbClr val="92D050"/>
                </a:solidFill>
                <a:latin typeface="Calibri" charset="0"/>
              </a:rPr>
              <a:t>configure &lt;sensor_identifier&gt; &lt;sampling_frequency&gt;</a:t>
            </a:r>
            <a:endParaRPr lang="de-DE" altLang="en-US">
              <a:solidFill>
                <a:srgbClr val="92D050"/>
              </a:solidFill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de-DE" altLang="en-US" i="1">
                <a:solidFill>
                  <a:srgbClr val="00B0F0"/>
                </a:solidFill>
                <a:latin typeface="Calibri" charset="0"/>
              </a:rPr>
              <a:t>STOP</a:t>
            </a:r>
            <a:r>
              <a:rPr lang="de-DE" altLang="en-US" i="1">
                <a:latin typeface="Calibri" charset="0"/>
              </a:rPr>
              <a:t> </a:t>
            </a:r>
            <a:r>
              <a:rPr lang="de-DE" altLang="en-US">
                <a:latin typeface="Calibri" charset="0"/>
              </a:rPr>
              <a:t>: Stop sending data to the client. </a:t>
            </a:r>
            <a:r>
              <a:rPr lang="de-DE" altLang="en-US" sz="1600" i="1">
                <a:latin typeface="Calibri" charset="0"/>
              </a:rPr>
              <a:t>RUNNING </a:t>
            </a:r>
            <a:r>
              <a:rPr lang="de-DE" altLang="en-US">
                <a:latin typeface="Calibri" charset="0"/>
              </a:rPr>
              <a:t>to </a:t>
            </a:r>
            <a:r>
              <a:rPr lang="de-DE" altLang="en-US" sz="1600" i="1">
                <a:latin typeface="Calibri" charset="0"/>
              </a:rPr>
              <a:t>IDLE </a:t>
            </a:r>
            <a:r>
              <a:rPr lang="de-DE" altLang="en-US">
                <a:latin typeface="Calibri" charset="0"/>
              </a:rPr>
              <a:t>state</a:t>
            </a:r>
            <a:endParaRPr lang="de-DE" altLang="en-US"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de-DE" altLang="en-US" i="1">
                <a:solidFill>
                  <a:srgbClr val="00B0F0"/>
                </a:solidFill>
                <a:latin typeface="Calibri" charset="0"/>
              </a:rPr>
              <a:t>DISCONNECT</a:t>
            </a:r>
            <a:r>
              <a:rPr lang="de-DE" altLang="en-US" i="1">
                <a:latin typeface="Calibri" charset="0"/>
              </a:rPr>
              <a:t> </a:t>
            </a:r>
            <a:r>
              <a:rPr lang="de-DE" altLang="en-US">
                <a:latin typeface="Calibri" charset="0"/>
              </a:rPr>
              <a:t>: Disconnects from client. </a:t>
            </a:r>
            <a:r>
              <a:rPr lang="de-DE" altLang="en-US" sz="1600" i="1">
                <a:latin typeface="Calibri" charset="0"/>
              </a:rPr>
              <a:t>IDLE </a:t>
            </a:r>
            <a:r>
              <a:rPr lang="de-DE" altLang="en-US">
                <a:latin typeface="Calibri" charset="0"/>
              </a:rPr>
              <a:t>to </a:t>
            </a:r>
            <a:r>
              <a:rPr lang="de-DE" altLang="en-US" sz="1600" i="1">
                <a:latin typeface="Calibri" charset="0"/>
              </a:rPr>
              <a:t>DISCONNECT </a:t>
            </a:r>
            <a:r>
              <a:rPr lang="de-DE" altLang="en-US">
                <a:latin typeface="Calibri" charset="0"/>
              </a:rPr>
              <a:t>state</a:t>
            </a:r>
            <a:endParaRPr lang="de-DE" altLang="en-US"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de-DE" altLang="en-US" i="1">
                <a:solidFill>
                  <a:srgbClr val="00B0F0"/>
                </a:solidFill>
                <a:latin typeface="Calibri" charset="0"/>
              </a:rPr>
              <a:t>SHUTDOWN</a:t>
            </a:r>
            <a:r>
              <a:rPr lang="de-DE" altLang="en-US" i="1">
                <a:latin typeface="Calibri" charset="0"/>
              </a:rPr>
              <a:t> </a:t>
            </a:r>
            <a:r>
              <a:rPr lang="de-DE" altLang="en-US">
                <a:latin typeface="Calibri" charset="0"/>
              </a:rPr>
              <a:t>: Shuts down the server</a:t>
            </a:r>
            <a:endParaRPr lang="de-DE" altLang="en-US">
              <a:latin typeface="Calibri" charset="0"/>
            </a:endParaRPr>
          </a:p>
          <a:p>
            <a:endParaRPr lang="de-DE" altLang="en-US">
              <a:latin typeface="Calibri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de-DE" altLang="zh-CN">
                <a:latin typeface="Calibri" charset="0"/>
              </a:rPr>
              <a:t>12</a:t>
            </a:r>
            <a:endParaRPr lang="de-DE" altLang="zh-CN">
              <a:latin typeface="Calibri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charset="0"/>
              </a:rPr>
              <a:t>TCP Network Thread - Workflow</a:t>
            </a:r>
            <a:endParaRPr lang="de-DE" altLang="en-US">
              <a:latin typeface="Calibri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de-DE" altLang="zh-CN">
                <a:latin typeface="Calibri" charset="0"/>
              </a:rPr>
              <a:t>13</a:t>
            </a:r>
            <a:endParaRPr lang="de-DE" altLang="zh-CN">
              <a:latin typeface="Calibri" charset="0"/>
            </a:endParaRPr>
          </a:p>
        </p:txBody>
      </p:sp>
      <p:sp>
        <p:nvSpPr>
          <p:cNvPr id="4" name="Content Placeholder 3"/>
          <p:cNvSpPr/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6" name="Content Placeholder 9" descr="tcp_state_machine_light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94100" y="1825625"/>
            <a:ext cx="462343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charset="0"/>
              </a:rPr>
              <a:t>GUI Render Flow Pipeline</a:t>
            </a:r>
            <a:endParaRPr lang="de-DE" altLang="en-US">
              <a:latin typeface="Calibri" charset="0"/>
            </a:endParaRPr>
          </a:p>
        </p:txBody>
      </p:sp>
      <p:pic>
        <p:nvPicPr>
          <p:cNvPr id="6" name="Content Placeholder 5" descr="gui_data_flow_pipeline(1)"/>
          <p:cNvPicPr>
            <a:picLocks noChangeAspect="1"/>
          </p:cNvPicPr>
          <p:nvPr>
            <p:ph idx="1"/>
          </p:nvPr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700" y="1584325"/>
            <a:ext cx="4864100" cy="435165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de-DE" altLang="zh-CN">
                <a:latin typeface="Calibri" charset="0"/>
              </a:rPr>
              <a:t>14</a:t>
            </a:r>
            <a:endParaRPr lang="de-DE" altLang="zh-CN">
              <a:latin typeface="Calibri" charset="0"/>
            </a:endParaRPr>
          </a:p>
        </p:txBody>
      </p:sp>
      <p:pic>
        <p:nvPicPr>
          <p:cNvPr id="4" name="Content Placeholder 3" descr="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155" y="1867535"/>
            <a:ext cx="6694170" cy="39020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de-DE" altLang="en-US">
                <a:latin typeface="Calibri" charset="0"/>
              </a:rPr>
              <a:t>Tasks Completed</a:t>
            </a:r>
            <a:endParaRPr lang="de-DE" altLang="en-US">
              <a:latin typeface="Calibri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Theoretical study on PetaLinux implementation</a:t>
            </a:r>
            <a:endParaRPr lang="de-DE" altLang="en-US"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Ring Buffer Implementation</a:t>
            </a:r>
            <a:endParaRPr lang="de-DE" altLang="en-US"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Network Thread Implementation</a:t>
            </a:r>
            <a:endParaRPr lang="de-DE" altLang="en-US"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GUI rendering, value text box and help command line</a:t>
            </a:r>
            <a:endParaRPr lang="de-DE" altLang="en-US">
              <a:latin typeface="Calibri" charset="0"/>
            </a:endParaRPr>
          </a:p>
          <a:p>
            <a:pPr>
              <a:lnSpc>
                <a:spcPct val="150000"/>
              </a:lnSpc>
            </a:pPr>
            <a:r>
              <a:rPr lang="de-DE" altLang="en-US">
                <a:latin typeface="Calibri" charset="0"/>
              </a:rPr>
              <a:t>Adding suggested improvements and debugging bugs</a:t>
            </a:r>
            <a:endParaRPr lang="de-DE" altLang="en-US">
              <a:latin typeface="Calibri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de-DE" altLang="zh-CN">
                <a:latin typeface="Calibri" charset="0"/>
              </a:rPr>
              <a:t>15</a:t>
            </a:r>
            <a:endParaRPr lang="de-DE" altLang="zh-CN">
              <a:latin typeface="Calibri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4035</Words>
  <Application>WPS Presentation</Application>
  <PresentationFormat>宽屏</PresentationFormat>
  <Paragraphs>215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8" baseType="lpstr">
      <vt:lpstr>Arial</vt:lpstr>
      <vt:lpstr>SimSun</vt:lpstr>
      <vt:lpstr>Wingdings</vt:lpstr>
      <vt:lpstr>Calibri</vt:lpstr>
      <vt:lpstr>Trebuchet MS</vt:lpstr>
      <vt:lpstr>Calibri</vt:lpstr>
      <vt:lpstr>Calibri</vt:lpstr>
      <vt:lpstr>Consolas</vt:lpstr>
      <vt:lpstr>Consolas</vt:lpstr>
      <vt:lpstr>Consolas</vt:lpstr>
      <vt:lpstr>Microsoft YaHei</vt:lpstr>
      <vt:lpstr>Droid Sans Fallback</vt:lpstr>
      <vt:lpstr>Arial Unicode MS</vt:lpstr>
      <vt:lpstr>Arial Black</vt:lpstr>
      <vt:lpstr>SimSun</vt:lpstr>
      <vt:lpstr>Gubbi</vt:lpstr>
      <vt:lpstr>Georgia</vt:lpstr>
      <vt:lpstr>Georgia</vt:lpstr>
      <vt:lpstr>Georgia</vt:lpstr>
      <vt:lpstr>Trebuchet MS</vt:lpstr>
      <vt:lpstr>Trebuchet MS</vt:lpstr>
      <vt:lpstr>OpenSymbol</vt:lpstr>
      <vt:lpstr>Office Theme</vt:lpstr>
      <vt:lpstr>Measurement Network Gateway</vt:lpstr>
      <vt:lpstr>Overview</vt:lpstr>
      <vt:lpstr>Introduction</vt:lpstr>
      <vt:lpstr>Image Build Process</vt:lpstr>
      <vt:lpstr>Image Build Process - Hardware and Device tree</vt:lpstr>
      <vt:lpstr>Image Build Process - Kernel</vt:lpstr>
      <vt:lpstr>Image Build Process - Read and Write</vt:lpstr>
      <vt:lpstr>Application - Network Layer</vt:lpstr>
      <vt:lpstr>Application Layer Overview</vt:lpstr>
      <vt:lpstr>Ring Buffer Role in MNG</vt:lpstr>
      <vt:lpstr>Ring Buffer Operations</vt:lpstr>
      <vt:lpstr>TCP Network Thread - Configuration Commands</vt:lpstr>
      <vt:lpstr>TCP Network Thread - Workflow</vt:lpstr>
      <vt:lpstr>GUI Render Flow Pipeline</vt:lpstr>
      <vt:lpstr>Tasks Completed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haizon</cp:lastModifiedBy>
  <cp:revision>21</cp:revision>
  <dcterms:created xsi:type="dcterms:W3CDTF">2026-03-17T08:32:34Z</dcterms:created>
  <dcterms:modified xsi:type="dcterms:W3CDTF">2026-03-17T08:32:34Z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