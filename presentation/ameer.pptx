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6"/>
  </p:notesMasterIdLst>
  <p:handoutMasterIdLst>
    <p:handoutMasterId r:id="rId29"/>
  </p:handoutMasterIdLst>
  <p:sldIdLst>
    <p:sldId id="256" r:id="rId3"/>
    <p:sldId id="277" r:id="rId4"/>
    <p:sldId id="278" r:id="rId5"/>
    <p:sldId id="279" r:id="rId7"/>
    <p:sldId id="280" r:id="rId8"/>
    <p:sldId id="281" r:id="rId9"/>
    <p:sldId id="282" r:id="rId10"/>
    <p:sldId id="283" r:id="rId11"/>
    <p:sldId id="284" r:id="rId12"/>
    <p:sldId id="285" r:id="rId13"/>
    <p:sldId id="286" r:id="rId14"/>
    <p:sldId id="287" r:id="rId15"/>
    <p:sldId id="288" r:id="rId16"/>
    <p:sldId id="289" r:id="rId17"/>
    <p:sldId id="290" r:id="rId18"/>
    <p:sldId id="291" r:id="rId19"/>
    <p:sldId id="292" r:id="rId20"/>
    <p:sldId id="293" r:id="rId21"/>
    <p:sldId id="294" r:id="rId22"/>
    <p:sldId id="295" r:id="rId23"/>
    <p:sldId id="296" r:id="rId24"/>
    <p:sldId id="297" r:id="rId25"/>
    <p:sldId id="298" r:id="rId26"/>
    <p:sldId id="299" r:id="rId27"/>
    <p:sldId id="300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handoutMaster" Target="handoutMasters/handoutMaster1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8" name="Slide Image Placeholder 7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The sensor thread continuously interacts with measurement hardware and generates sensor samples.</a:t>
            </a:r>
            <a:endParaRPr lang="en-US" altLang="en-US"/>
          </a:p>
          <a:p>
            <a:r>
              <a:rPr lang="en-US" altLang="en-US"/>
              <a:t>Unlike the network thread, which is event-driven, the sensor thread runs autonomously to maintain temporal consistency of measurements.</a:t>
            </a:r>
            <a:endParaRPr lang="en-US" altLang="en-US"/>
          </a:p>
        </p:txBody>
      </p:sp>
      <p:sp>
        <p:nvSpPr>
          <p:cNvPr id="3" name="Slide Image Placeholder 2"/>
          <p:cNvSpPr>
            <a:spLocks noGrp="1"/>
          </p:cNvSpPr>
          <p:nvPr>
            <p:ph type="sldImg" idx="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Thread exists for entire server runtime.</a:t>
            </a:r>
            <a:endParaRPr lang="en-US" altLang="en-US"/>
          </a:p>
        </p:txBody>
      </p:sp>
      <p:sp>
        <p:nvSpPr>
          <p:cNvPr id="3" name="Slide Image Placeholder 2"/>
          <p:cNvSpPr>
            <a:spLocks noGrp="1"/>
          </p:cNvSpPr>
          <p:nvPr>
            <p:ph type="sldImg" idx="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Each iteration </a:t>
            </a:r>
            <a:r>
              <a:rPr lang="de-DE" altLang="en-US">
                <a:latin typeface="Calibri" charset="0"/>
              </a:rPr>
              <a:t>is</a:t>
            </a:r>
            <a:r>
              <a:rPr lang="en-US" altLang="en-US"/>
              <a:t> one sampling cycle</a:t>
            </a:r>
            <a:r>
              <a:rPr lang="de-DE" altLang="en-US">
                <a:latin typeface="Calibri" charset="0"/>
              </a:rPr>
              <a:t>.</a:t>
            </a:r>
            <a:endParaRPr lang="de-DE" altLang="en-US">
              <a:latin typeface="Calibri" charset="0"/>
            </a:endParaRPr>
          </a:p>
        </p:txBody>
      </p:sp>
      <p:sp>
        <p:nvSpPr>
          <p:cNvPr id="3" name="Slide Image Placeholder 2"/>
          <p:cNvSpPr>
            <a:spLocks noGrp="1"/>
          </p:cNvSpPr>
          <p:nvPr>
            <p:ph type="sldImg" idx="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Interaction with Ring Buffer</a:t>
            </a:r>
            <a:r>
              <a:rPr lang="de-DE" altLang="en-US">
                <a:latin typeface="Calibri" charset="0"/>
              </a:rPr>
              <a:t>. </a:t>
            </a:r>
            <a:r>
              <a:rPr lang="en-US" altLang="en-US">
                <a:latin typeface="Calibri" charset="0"/>
              </a:rPr>
              <a:t>Guarantee</a:t>
            </a:r>
            <a:r>
              <a:rPr lang="de-DE" altLang="en-US">
                <a:latin typeface="Calibri" charset="0"/>
              </a:rPr>
              <a:t>s</a:t>
            </a:r>
            <a:r>
              <a:rPr lang="en-US" altLang="en-US">
                <a:latin typeface="Calibri" charset="0"/>
              </a:rPr>
              <a:t> atomic sample publication.</a:t>
            </a:r>
            <a:endParaRPr lang="en-US" altLang="en-US">
              <a:latin typeface="Calibri" charset="0"/>
            </a:endParaRPr>
          </a:p>
        </p:txBody>
      </p:sp>
      <p:sp>
        <p:nvSpPr>
          <p:cNvPr id="3" name="Slide Image Placeholder 2"/>
          <p:cNvSpPr>
            <a:spLocks noGrp="1"/>
          </p:cNvSpPr>
          <p:nvPr>
            <p:ph type="sldImg" idx="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Separate hardware access from application logic</a:t>
            </a:r>
            <a:r>
              <a:rPr lang="de-DE" altLang="en-US">
                <a:latin typeface="Calibri" charset="0"/>
              </a:rPr>
              <a:t>.</a:t>
            </a:r>
            <a:endParaRPr lang="de-DE" altLang="en-US">
              <a:latin typeface="Calibri" charset="0"/>
            </a:endParaRPr>
          </a:p>
        </p:txBody>
      </p:sp>
      <p:sp>
        <p:nvSpPr>
          <p:cNvPr id="3" name="Slide Image Placeholder 2"/>
          <p:cNvSpPr>
            <a:spLocks noGrp="1"/>
          </p:cNvSpPr>
          <p:nvPr>
            <p:ph type="sldImg" idx="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de-DE" altLang="en-US">
                <a:latin typeface="Calibri" charset="0"/>
              </a:rPr>
              <a:t>T</a:t>
            </a:r>
            <a:r>
              <a:rPr lang="en-US" altLang="en-US">
                <a:latin typeface="Calibri" charset="0"/>
              </a:rPr>
              <a:t>iming drift</a:t>
            </a:r>
            <a:r>
              <a:rPr lang="de-DE" altLang="en-US">
                <a:latin typeface="Calibri" charset="0"/>
              </a:rPr>
              <a:t>, *, </a:t>
            </a:r>
            <a:r>
              <a:rPr lang="en-US" altLang="en-US">
                <a:latin typeface="Calibri" charset="0"/>
              </a:rPr>
              <a:t>synchronization complexity</a:t>
            </a:r>
            <a:r>
              <a:rPr lang="de-DE" altLang="en-US">
                <a:latin typeface="Calibri" charset="0"/>
              </a:rPr>
              <a:t>, </a:t>
            </a:r>
            <a:r>
              <a:rPr lang="en-US" altLang="en-US">
                <a:latin typeface="Calibri" charset="0"/>
              </a:rPr>
              <a:t>complex development</a:t>
            </a:r>
            <a:r>
              <a:rPr lang="de-DE" altLang="en-US">
                <a:latin typeface="Calibri" charset="0"/>
              </a:rPr>
              <a:t>, *</a:t>
            </a:r>
            <a:br>
              <a:rPr lang="de-DE" altLang="en-US">
                <a:latin typeface="Calibri" charset="0"/>
              </a:rPr>
            </a:br>
            <a:r>
              <a:rPr lang="en-US" altLang="en-US">
                <a:latin typeface="Calibri" charset="0"/>
              </a:rPr>
              <a:t>Testing scope:</a:t>
            </a:r>
            <a:r>
              <a:rPr lang="de-DE" altLang="en-US">
                <a:latin typeface="Calibri" charset="0"/>
              </a:rPr>
              <a:t> H</a:t>
            </a:r>
            <a:r>
              <a:rPr lang="en-US" altLang="en-US">
                <a:latin typeface="Calibri" charset="0"/>
              </a:rPr>
              <a:t>ardware interface</a:t>
            </a:r>
            <a:r>
              <a:rPr lang="de-DE" altLang="en-US">
                <a:latin typeface="Calibri" charset="0"/>
              </a:rPr>
              <a:t>, </a:t>
            </a:r>
            <a:r>
              <a:rPr lang="en-US" altLang="en-US">
                <a:latin typeface="Calibri" charset="0"/>
              </a:rPr>
              <a:t>sensor thread scheduling</a:t>
            </a:r>
            <a:r>
              <a:rPr lang="de-DE" altLang="en-US">
                <a:latin typeface="Calibri" charset="0"/>
              </a:rPr>
              <a:t>, </a:t>
            </a:r>
            <a:r>
              <a:rPr lang="en-US" altLang="en-US">
                <a:latin typeface="Calibri" charset="0"/>
              </a:rPr>
              <a:t>ring buffer integration</a:t>
            </a:r>
            <a:r>
              <a:rPr lang="de-DE" altLang="en-US">
                <a:latin typeface="Calibri" charset="0"/>
              </a:rPr>
              <a:t>, </a:t>
            </a:r>
            <a:r>
              <a:rPr lang="en-US" altLang="en-US">
                <a:latin typeface="Calibri" charset="0"/>
              </a:rPr>
              <a:t>network transmission</a:t>
            </a:r>
            <a:endParaRPr lang="en-US" altLang="en-US">
              <a:latin typeface="Calibri" charset="0"/>
            </a:endParaRPr>
          </a:p>
        </p:txBody>
      </p:sp>
      <p:sp>
        <p:nvSpPr>
          <p:cNvPr id="3" name="Slide Image Placeholder 2"/>
          <p:cNvSpPr>
            <a:spLocks noGrp="1"/>
          </p:cNvSpPr>
          <p:nvPr>
            <p:ph type="sldImg" idx="2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All GTK widget operations must run in the main thread</a:t>
            </a:r>
            <a:r>
              <a:rPr lang="de-DE" altLang="en-US">
                <a:latin typeface="Calibri" charset="0"/>
              </a:rPr>
              <a:t> so that the graphical interface never gets blocked.</a:t>
            </a:r>
            <a:endParaRPr lang="de-DE" altLang="en-US">
              <a:latin typeface="Calibri" charset="0"/>
            </a:endParaRPr>
          </a:p>
        </p:txBody>
      </p:sp>
      <p:sp>
        <p:nvSpPr>
          <p:cNvPr id="3" name="Slide Image Placeholder 2"/>
          <p:cNvSpPr>
            <a:spLocks noGrp="1"/>
          </p:cNvSpPr>
          <p:nvPr>
            <p:ph type="sldImg" idx="2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Timeout</a:t>
            </a:r>
            <a:r>
              <a:rPr lang="de-DE" altLang="en-US">
                <a:latin typeface="Calibri" charset="0"/>
              </a:rPr>
              <a:t> after </a:t>
            </a:r>
            <a:r>
              <a:rPr lang="en-US" altLang="en-US"/>
              <a:t>3 seconds</a:t>
            </a:r>
            <a:r>
              <a:rPr lang="de-DE" altLang="en-US">
                <a:latin typeface="Calibri" charset="0"/>
              </a:rPr>
              <a:t>.</a:t>
            </a:r>
            <a:endParaRPr lang="de-DE" altLang="en-US">
              <a:latin typeface="Calibri" charset="0"/>
            </a:endParaRPr>
          </a:p>
        </p:txBody>
      </p:sp>
      <p:sp>
        <p:nvSpPr>
          <p:cNvPr id="3" name="Slide Image Placeholder 2"/>
          <p:cNvSpPr>
            <a:spLocks noGrp="1"/>
          </p:cNvSpPr>
          <p:nvPr>
            <p:ph type="sldImg" idx="2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Together they form a modular measurement </a:t>
            </a:r>
            <a:r>
              <a:rPr lang="de-DE" altLang="en-US">
                <a:latin typeface="Calibri" charset="0"/>
              </a:rPr>
              <a:t>network </a:t>
            </a:r>
            <a:r>
              <a:rPr lang="en-US" altLang="en-US"/>
              <a:t>gateway architecture suitable for monitoring systems.</a:t>
            </a:r>
            <a:endParaRPr lang="en-US" altLang="en-US"/>
          </a:p>
        </p:txBody>
      </p:sp>
      <p:sp>
        <p:nvSpPr>
          <p:cNvPr id="3" name="Slide Image Placeholder 2"/>
          <p:cNvSpPr>
            <a:spLocks noGrp="1"/>
          </p:cNvSpPr>
          <p:nvPr>
            <p:ph type="sldImg" idx="2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19800" y="636651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19800" y="636651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PT Sans" panose="020B0503020203020204" charset="0"/>
                <a:cs typeface="PT Sans" panose="020B0503020203020204" charset="0"/>
              </a:defRPr>
            </a:lvl1pPr>
          </a:lstStyle>
          <a:p>
            <a:endParaRPr lang="de-DE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19800" y="636651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019800" y="636651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019800" y="636651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019800" y="636651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DE" altLang="en-US">
              <a:latin typeface="Calibri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019800" y="636651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019800" y="636651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019800" y="636651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19800" y="636651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19800" y="636651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109335" y="6356350"/>
            <a:ext cx="25774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 i="1">
                <a:solidFill>
                  <a:schemeClr val="tx1"/>
                </a:solidFill>
                <a:latin typeface="PT Sans" panose="020B0503020203020204" charset="0"/>
                <a:cs typeface="PT Sans" panose="020B0503020203020204" charset="0"/>
              </a:defRPr>
            </a:lvl1pPr>
          </a:lstStyle>
          <a:p>
            <a:r>
              <a:rPr lang="de-DE" altLang="en-US" smtClean="0"/>
              <a:t>Ameer Muhammed - 42843</a:t>
            </a:r>
            <a:endParaRPr lang="de-DE" altLang="en-US" smtClean="0"/>
          </a:p>
        </p:txBody>
      </p:sp>
      <p:sp>
        <p:nvSpPr>
          <p:cNvPr id="8" name="Text Box 7"/>
          <p:cNvSpPr txBox="1"/>
          <p:nvPr userDrawn="1"/>
        </p:nvSpPr>
        <p:spPr>
          <a:xfrm>
            <a:off x="2747010" y="95250"/>
            <a:ext cx="364934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de-DE" altLang="en-US" sz="1600" b="1" i="1">
                <a:latin typeface="PT Sans" panose="020B0503020203020204" charset="0"/>
                <a:cs typeface="PT Sans" panose="020B0503020203020204" charset="0"/>
              </a:rPr>
              <a:t>Embedded Systems Design Project </a:t>
            </a:r>
            <a:endParaRPr lang="de-DE" altLang="en-US" sz="1600" b="1" i="1">
              <a:latin typeface="PT Sans" panose="020B0503020203020204" charset="0"/>
              <a:cs typeface="PT Sans" panose="020B050302020302020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788988"/>
            <a:ext cx="8229600" cy="1143000"/>
          </a:xfrm>
        </p:spPr>
        <p:txBody>
          <a:bodyPr>
            <a:normAutofit fontScale="90000"/>
          </a:bodyPr>
          <a:p>
            <a:r>
              <a:rPr lang="en-US" altLang="en-US" b="1">
                <a:latin typeface="PT Sans" panose="020B0503020203020204" charset="0"/>
                <a:cs typeface="PT Sans" panose="020B0503020203020204" charset="0"/>
              </a:rPr>
              <a:t>Measurement Network Gateway</a:t>
            </a:r>
            <a:br>
              <a:rPr lang="en-US" altLang="en-US" b="1">
                <a:latin typeface="PT Sans" panose="020B0503020203020204" charset="0"/>
                <a:cs typeface="PT Sans" panose="020B0503020203020204" charset="0"/>
              </a:rPr>
            </a:br>
            <a:r>
              <a:rPr lang="en-US" altLang="en-US" b="1">
                <a:latin typeface="PT Sans" panose="020B0503020203020204" charset="0"/>
                <a:cs typeface="PT Sans" panose="020B0503020203020204" charset="0"/>
              </a:rPr>
              <a:t>Server Acquisition &amp; GUI Client</a:t>
            </a:r>
            <a:endParaRPr lang="en-US" altLang="en-US" b="1">
              <a:latin typeface="PT Sans" panose="020B0503020203020204" charset="0"/>
              <a:cs typeface="PT Sans" panose="020B050302020302020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5883910"/>
            <a:ext cx="2895600" cy="698500"/>
          </a:xfrm>
        </p:spPr>
        <p:txBody>
          <a:bodyPr/>
          <a:p>
            <a:pPr algn="ctr"/>
            <a:r>
              <a:rPr lang="de-DE" altLang="en-US" b="1">
                <a:latin typeface="PT Sans" panose="020B0503020203020204" charset="0"/>
                <a:cs typeface="PT Sans" panose="020B0503020203020204" charset="0"/>
                <a:sym typeface="+mn-ea"/>
              </a:rPr>
              <a:t>Ameer Muhammed - 42843</a:t>
            </a:r>
            <a:endParaRPr lang="de-DE" altLang="en-US" b="1">
              <a:latin typeface="PT Sans" panose="020B0503020203020204" charset="0"/>
              <a:cs typeface="PT Sans" panose="020B0503020203020204" charset="0"/>
              <a:sym typeface="+mn-ea"/>
            </a:endParaRPr>
          </a:p>
        </p:txBody>
      </p:sp>
      <p:pic>
        <p:nvPicPr>
          <p:cNvPr id="2" name="Picture 1" descr="graphic-network-gateway-628x353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7635" y="2133600"/>
            <a:ext cx="6348730" cy="3568065"/>
          </a:xfrm>
          <a:prstGeom prst="rect">
            <a:avLst/>
          </a:prstGeom>
          <a:effectLst>
            <a:softEdge rad="12700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sz="4800" b="1">
                <a:latin typeface="PT Sans" panose="020B0503020203020204" charset="0"/>
                <a:cs typeface="PT Sans" panose="020B0503020203020204" charset="0"/>
                <a:sym typeface="+mn-ea"/>
              </a:rPr>
              <a:t>Scope of </a:t>
            </a:r>
            <a:r>
              <a:rPr lang="de-DE" altLang="en-US" sz="4800" b="1">
                <a:latin typeface="PT Sans" panose="020B0503020203020204" charset="0"/>
                <a:cs typeface="PT Sans" panose="020B0503020203020204" charset="0"/>
                <a:sym typeface="+mn-ea"/>
              </a:rPr>
              <a:t>the Section</a:t>
            </a:r>
            <a:endParaRPr lang="de-DE" altLang="en-US" sz="4800" b="1">
              <a:latin typeface="PT Sans" panose="020B0503020203020204" charset="0"/>
              <a:cs typeface="PT Sans" panose="020B0503020203020204" charset="0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191635" cy="4526280"/>
          </a:xfrm>
        </p:spPr>
        <p:txBody>
          <a:bodyPr>
            <a:noAutofit/>
          </a:bodyPr>
          <a:p>
            <a:pPr>
              <a:lnSpc>
                <a:spcPct val="100000"/>
              </a:lnSpc>
              <a:buFont typeface="Wingdings" panose="05000000000000000000" charset="0"/>
              <a:buChar char=""/>
            </a:pPr>
            <a:r>
              <a:rPr lang="en-US" altLang="en-US" sz="1800">
                <a:latin typeface="PT Sans" panose="020B0503020203020204" charset="0"/>
                <a:cs typeface="PT Sans" panose="020B0503020203020204" charset="0"/>
              </a:rPr>
              <a:t>Sensor </a:t>
            </a:r>
            <a:r>
              <a:rPr lang="de-DE" altLang="en-US" sz="1800">
                <a:latin typeface="PT Sans" panose="020B0503020203020204" charset="0"/>
                <a:cs typeface="PT Sans" panose="020B0503020203020204" charset="0"/>
              </a:rPr>
              <a:t>T</a:t>
            </a:r>
            <a:r>
              <a:rPr lang="en-US" altLang="en-US" sz="1800">
                <a:latin typeface="PT Sans" panose="020B0503020203020204" charset="0"/>
                <a:cs typeface="PT Sans" panose="020B0503020203020204" charset="0"/>
              </a:rPr>
              <a:t>hread </a:t>
            </a:r>
            <a:r>
              <a:rPr lang="de-DE" altLang="en-US" sz="1800">
                <a:latin typeface="PT Sans" panose="020B0503020203020204" charset="0"/>
                <a:cs typeface="PT Sans" panose="020B0503020203020204" charset="0"/>
              </a:rPr>
              <a:t>L</a:t>
            </a:r>
            <a:r>
              <a:rPr lang="en-US" altLang="en-US" sz="1800">
                <a:latin typeface="PT Sans" panose="020B0503020203020204" charset="0"/>
                <a:cs typeface="PT Sans" panose="020B0503020203020204" charset="0"/>
              </a:rPr>
              <a:t>ifecycle</a:t>
            </a:r>
            <a:endParaRPr lang="en-US" altLang="en-US" sz="1800">
              <a:latin typeface="PT Sans" panose="020B0503020203020204" charset="0"/>
              <a:cs typeface="PT Sans" panose="020B0503020203020204" charset="0"/>
            </a:endParaRPr>
          </a:p>
          <a:p>
            <a:pPr marL="0" indent="0">
              <a:lnSpc>
                <a:spcPct val="100000"/>
              </a:lnSpc>
              <a:buFont typeface="Wingdings" panose="05000000000000000000" charset="0"/>
              <a:buNone/>
            </a:pPr>
            <a:r>
              <a:rPr lang="de-DE" altLang="en-US" sz="1800">
                <a:latin typeface="PT Sans" panose="020B0503020203020204" charset="0"/>
                <a:cs typeface="PT Sans" panose="020B0503020203020204" charset="0"/>
              </a:rPr>
              <a:t>		</a:t>
            </a:r>
            <a:endParaRPr lang="en-US" altLang="en-US" sz="1800">
              <a:latin typeface="PT Sans" panose="020B0503020203020204" charset="0"/>
              <a:cs typeface="PT Sans" panose="020B0503020203020204" charset="0"/>
            </a:endParaRPr>
          </a:p>
          <a:p>
            <a:pPr>
              <a:lnSpc>
                <a:spcPct val="100000"/>
              </a:lnSpc>
              <a:buFont typeface="Wingdings" panose="05000000000000000000" charset="0"/>
              <a:buChar char=""/>
            </a:pPr>
            <a:r>
              <a:rPr lang="en-US" altLang="en-US" sz="1800">
                <a:latin typeface="PT Sans" panose="020B0503020203020204" charset="0"/>
                <a:cs typeface="PT Sans" panose="020B0503020203020204" charset="0"/>
              </a:rPr>
              <a:t>Switch </a:t>
            </a:r>
            <a:r>
              <a:rPr lang="de-DE" altLang="en-US" sz="1800">
                <a:latin typeface="PT Sans" panose="020B0503020203020204" charset="0"/>
                <a:cs typeface="PT Sans" panose="020B0503020203020204" charset="0"/>
              </a:rPr>
              <a:t>H</a:t>
            </a:r>
            <a:r>
              <a:rPr lang="en-US" altLang="en-US" sz="1800">
                <a:latin typeface="PT Sans" panose="020B0503020203020204" charset="0"/>
                <a:cs typeface="PT Sans" panose="020B0503020203020204" charset="0"/>
              </a:rPr>
              <a:t>andling</a:t>
            </a:r>
            <a:endParaRPr lang="en-US" altLang="en-US" sz="1800">
              <a:latin typeface="PT Sans" panose="020B0503020203020204" charset="0"/>
              <a:cs typeface="PT Sans" panose="020B0503020203020204" charset="0"/>
            </a:endParaRPr>
          </a:p>
          <a:p>
            <a:pPr marL="0" indent="0">
              <a:lnSpc>
                <a:spcPct val="100000"/>
              </a:lnSpc>
              <a:buFont typeface="Wingdings" panose="05000000000000000000" charset="0"/>
              <a:buNone/>
            </a:pPr>
            <a:r>
              <a:rPr lang="de-DE" altLang="en-US" sz="1800">
                <a:latin typeface="PT Sans" panose="020B0503020203020204" charset="0"/>
                <a:cs typeface="PT Sans" panose="020B0503020203020204" charset="0"/>
              </a:rPr>
              <a:t>	</a:t>
            </a:r>
            <a:endParaRPr lang="en-US" altLang="en-US" sz="1800">
              <a:latin typeface="PT Sans" panose="020B0503020203020204" charset="0"/>
              <a:cs typeface="PT Sans" panose="020B0503020203020204" charset="0"/>
            </a:endParaRPr>
          </a:p>
          <a:p>
            <a:pPr>
              <a:lnSpc>
                <a:spcPct val="100000"/>
              </a:lnSpc>
              <a:buFont typeface="Wingdings" panose="05000000000000000000" charset="0"/>
              <a:buChar char=""/>
            </a:pPr>
            <a:r>
              <a:rPr lang="en-US" altLang="en-US" sz="1800">
                <a:latin typeface="PT Sans" panose="020B0503020203020204" charset="0"/>
                <a:cs typeface="PT Sans" panose="020B0503020203020204" charset="0"/>
              </a:rPr>
              <a:t>Timing </a:t>
            </a:r>
            <a:r>
              <a:rPr lang="de-DE" altLang="en-US" sz="1800">
                <a:latin typeface="PT Sans" panose="020B0503020203020204" charset="0"/>
                <a:cs typeface="PT Sans" panose="020B0503020203020204" charset="0"/>
              </a:rPr>
              <a:t>and D</a:t>
            </a:r>
            <a:r>
              <a:rPr lang="en-US" altLang="en-US" sz="1800">
                <a:latin typeface="PT Sans" panose="020B0503020203020204" charset="0"/>
                <a:cs typeface="PT Sans" panose="020B0503020203020204" charset="0"/>
              </a:rPr>
              <a:t>eterminism</a:t>
            </a:r>
            <a:endParaRPr lang="en-US" altLang="en-US" sz="1800">
              <a:latin typeface="PT Sans" panose="020B0503020203020204" charset="0"/>
              <a:cs typeface="PT Sans" panose="020B0503020203020204" charset="0"/>
            </a:endParaRPr>
          </a:p>
          <a:p>
            <a:pPr marL="0" indent="0">
              <a:lnSpc>
                <a:spcPct val="100000"/>
              </a:lnSpc>
              <a:buFont typeface="Wingdings" panose="05000000000000000000" charset="0"/>
              <a:buNone/>
            </a:pPr>
            <a:r>
              <a:rPr lang="de-DE" altLang="en-US" sz="1800">
                <a:latin typeface="PT Sans" panose="020B0503020203020204" charset="0"/>
                <a:cs typeface="PT Sans" panose="020B0503020203020204" charset="0"/>
              </a:rPr>
              <a:t>		</a:t>
            </a:r>
            <a:endParaRPr lang="de-DE" altLang="en-US" sz="1800">
              <a:latin typeface="PT Sans" panose="020B0503020203020204" charset="0"/>
              <a:cs typeface="PT Sans" panose="020B0503020203020204" charset="0"/>
            </a:endParaRPr>
          </a:p>
          <a:p>
            <a:pPr>
              <a:lnSpc>
                <a:spcPct val="100000"/>
              </a:lnSpc>
              <a:buFont typeface="Wingdings" panose="05000000000000000000" charset="0"/>
              <a:buChar char=""/>
            </a:pPr>
            <a:r>
              <a:rPr lang="en-US" altLang="en-US" sz="1800">
                <a:latin typeface="PT Sans" panose="020B0503020203020204" charset="0"/>
                <a:cs typeface="PT Sans" panose="020B0503020203020204" charset="0"/>
              </a:rPr>
              <a:t>GUI Architecture </a:t>
            </a:r>
            <a:r>
              <a:rPr lang="de-DE" altLang="en-US" sz="1800">
                <a:latin typeface="PT Sans" panose="020B0503020203020204" charset="0"/>
                <a:cs typeface="PT Sans" panose="020B0503020203020204" charset="0"/>
              </a:rPr>
              <a:t>&amp; </a:t>
            </a:r>
            <a:r>
              <a:rPr lang="en-US" altLang="en-US" sz="1800">
                <a:latin typeface="PT Sans" panose="020B0503020203020204" charset="0"/>
                <a:cs typeface="PT Sans" panose="020B0503020203020204" charset="0"/>
              </a:rPr>
              <a:t>Threading Model</a:t>
            </a:r>
            <a:endParaRPr lang="en-US" altLang="en-US" sz="1800">
              <a:latin typeface="PT Sans" panose="020B0503020203020204" charset="0"/>
              <a:cs typeface="PT Sans" panose="020B0503020203020204" charset="0"/>
            </a:endParaRPr>
          </a:p>
          <a:p>
            <a:pPr marL="0" indent="0">
              <a:lnSpc>
                <a:spcPct val="100000"/>
              </a:lnSpc>
              <a:buFont typeface="Wingdings" panose="05000000000000000000" charset="0"/>
              <a:buNone/>
            </a:pPr>
            <a:endParaRPr lang="en-US" altLang="en-US" sz="1800">
              <a:latin typeface="PT Sans" panose="020B0503020203020204" charset="0"/>
              <a:cs typeface="PT Sans" panose="020B0503020203020204" charset="0"/>
            </a:endParaRPr>
          </a:p>
          <a:p>
            <a:pPr>
              <a:lnSpc>
                <a:spcPct val="100000"/>
              </a:lnSpc>
              <a:buFont typeface="Wingdings" panose="05000000000000000000" charset="0"/>
              <a:buChar char=""/>
            </a:pPr>
            <a:r>
              <a:rPr lang="en-US" altLang="en-US" sz="1800">
                <a:latin typeface="PT Sans" panose="020B0503020203020204" charset="0"/>
                <a:cs typeface="PT Sans" panose="020B0503020203020204" charset="0"/>
              </a:rPr>
              <a:t>Address Validatio</a:t>
            </a:r>
            <a:r>
              <a:rPr lang="de-DE" altLang="en-US" sz="1800">
                <a:latin typeface="PT Sans" panose="020B0503020203020204" charset="0"/>
                <a:cs typeface="PT Sans" panose="020B0503020203020204" charset="0"/>
              </a:rPr>
              <a:t>n</a:t>
            </a:r>
            <a:endParaRPr lang="de-DE" altLang="en-US" sz="1800">
              <a:latin typeface="PT Sans" panose="020B0503020203020204" charset="0"/>
              <a:cs typeface="PT Sans" panose="020B0503020203020204" charset="0"/>
            </a:endParaRPr>
          </a:p>
          <a:p>
            <a:pPr marL="0" indent="0">
              <a:lnSpc>
                <a:spcPct val="100000"/>
              </a:lnSpc>
              <a:buFont typeface="Wingdings" panose="05000000000000000000" charset="0"/>
              <a:buNone/>
            </a:pPr>
            <a:endParaRPr lang="en-US" altLang="en-US" sz="1800">
              <a:latin typeface="PT Sans" panose="020B0503020203020204" charset="0"/>
              <a:cs typeface="PT Sans" panose="020B0503020203020204" charset="0"/>
            </a:endParaRPr>
          </a:p>
          <a:p>
            <a:pPr>
              <a:lnSpc>
                <a:spcPct val="100000"/>
              </a:lnSpc>
              <a:buFont typeface="Wingdings" panose="05000000000000000000" charset="0"/>
              <a:buChar char=""/>
            </a:pPr>
            <a:r>
              <a:rPr lang="de-DE" altLang="en-US" sz="1800">
                <a:latin typeface="PT Sans" panose="020B0503020203020204" charset="0"/>
                <a:cs typeface="PT Sans" panose="020B0503020203020204" charset="0"/>
              </a:rPr>
              <a:t>Buffer Handling								</a:t>
            </a:r>
            <a:endParaRPr lang="de-DE" altLang="en-US" sz="1800">
              <a:latin typeface="PT Sans" panose="020B0503020203020204" charset="0"/>
              <a:cs typeface="PT Sans" panose="020B050302020302020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p>
            <a:pPr>
              <a:lnSpc>
                <a:spcPct val="100000"/>
              </a:lnSpc>
              <a:buFont typeface="Wingdings" panose="05000000000000000000" charset="0"/>
              <a:buChar char=""/>
            </a:pPr>
            <a:r>
              <a:rPr lang="en-US" altLang="en-US" sz="1800">
                <a:latin typeface="PT Sans" panose="020B0503020203020204" charset="0"/>
                <a:cs typeface="PT Sans" panose="020B0503020203020204" charset="0"/>
                <a:sym typeface="+mn-ea"/>
              </a:rPr>
              <a:t>ADC </a:t>
            </a:r>
            <a:r>
              <a:rPr lang="de-DE" altLang="en-US" sz="1800">
                <a:latin typeface="PT Sans" panose="020B0503020203020204" charset="0"/>
                <a:cs typeface="PT Sans" panose="020B0503020203020204" charset="0"/>
                <a:sym typeface="+mn-ea"/>
              </a:rPr>
              <a:t>A</a:t>
            </a:r>
            <a:r>
              <a:rPr lang="en-US" altLang="en-US" sz="1800">
                <a:latin typeface="PT Sans" panose="020B0503020203020204" charset="0"/>
                <a:cs typeface="PT Sans" panose="020B0503020203020204" charset="0"/>
                <a:sym typeface="+mn-ea"/>
              </a:rPr>
              <a:t>cquisition</a:t>
            </a:r>
            <a:endParaRPr lang="en-US" altLang="en-US" sz="1800">
              <a:latin typeface="PT Sans" panose="020B0503020203020204" charset="0"/>
              <a:cs typeface="PT Sans" panose="020B0503020203020204" charset="0"/>
              <a:sym typeface="+mn-ea"/>
            </a:endParaRPr>
          </a:p>
          <a:p>
            <a:pPr marL="0" indent="0">
              <a:lnSpc>
                <a:spcPct val="100000"/>
              </a:lnSpc>
              <a:buFont typeface="Wingdings" panose="05000000000000000000" charset="0"/>
              <a:buNone/>
            </a:pPr>
            <a:endParaRPr lang="en-US" altLang="en-US" sz="1800">
              <a:latin typeface="PT Sans" panose="020B0503020203020204" charset="0"/>
              <a:cs typeface="PT Sans" panose="020B0503020203020204" charset="0"/>
              <a:sym typeface="+mn-ea"/>
            </a:endParaRPr>
          </a:p>
          <a:p>
            <a:pPr>
              <a:lnSpc>
                <a:spcPct val="100000"/>
              </a:lnSpc>
              <a:buFont typeface="Wingdings" panose="05000000000000000000" charset="0"/>
              <a:buChar char=""/>
            </a:pPr>
            <a:r>
              <a:rPr lang="en-US" altLang="en-US" sz="1800">
                <a:latin typeface="PT Sans" panose="020B0503020203020204" charset="0"/>
                <a:cs typeface="PT Sans" panose="020B0503020203020204" charset="0"/>
                <a:sym typeface="+mn-ea"/>
              </a:rPr>
              <a:t>Utility </a:t>
            </a:r>
            <a:r>
              <a:rPr lang="de-DE" altLang="en-US" sz="1800">
                <a:latin typeface="PT Sans" panose="020B0503020203020204" charset="0"/>
                <a:cs typeface="PT Sans" panose="020B0503020203020204" charset="0"/>
                <a:sym typeface="+mn-ea"/>
              </a:rPr>
              <a:t>L</a:t>
            </a:r>
            <a:r>
              <a:rPr lang="en-US" altLang="en-US" sz="1800">
                <a:latin typeface="PT Sans" panose="020B0503020203020204" charset="0"/>
                <a:cs typeface="PT Sans" panose="020B0503020203020204" charset="0"/>
                <a:sym typeface="+mn-ea"/>
              </a:rPr>
              <a:t>ayer </a:t>
            </a:r>
            <a:r>
              <a:rPr lang="de-DE" altLang="en-US" sz="1800">
                <a:latin typeface="PT Sans" panose="020B0503020203020204" charset="0"/>
                <a:cs typeface="PT Sans" panose="020B0503020203020204" charset="0"/>
                <a:sym typeface="+mn-ea"/>
              </a:rPr>
              <a:t>Analysis</a:t>
            </a:r>
            <a:endParaRPr lang="de-DE" altLang="en-US" sz="1800">
              <a:latin typeface="PT Sans" panose="020B0503020203020204" charset="0"/>
              <a:cs typeface="PT Sans" panose="020B0503020203020204" charset="0"/>
              <a:sym typeface="+mn-ea"/>
            </a:endParaRPr>
          </a:p>
          <a:p>
            <a:pPr marL="0" indent="0">
              <a:lnSpc>
                <a:spcPct val="100000"/>
              </a:lnSpc>
              <a:buFont typeface="Wingdings" panose="05000000000000000000" charset="0"/>
              <a:buNone/>
            </a:pPr>
            <a:endParaRPr lang="de-DE" altLang="en-US" sz="1800">
              <a:latin typeface="PT Sans" panose="020B0503020203020204" charset="0"/>
              <a:cs typeface="PT Sans" panose="020B0503020203020204" charset="0"/>
              <a:sym typeface="+mn-ea"/>
            </a:endParaRPr>
          </a:p>
          <a:p>
            <a:pPr>
              <a:lnSpc>
                <a:spcPct val="100000"/>
              </a:lnSpc>
              <a:buFont typeface="Wingdings" panose="05000000000000000000" charset="0"/>
              <a:buChar char=""/>
            </a:pPr>
            <a:r>
              <a:rPr lang="de-DE" sz="1800">
                <a:latin typeface="PT Sans" panose="020B0503020203020204" charset="0"/>
                <a:cs typeface="PT Sans" panose="020B0503020203020204" charset="0"/>
                <a:sym typeface="+mn-ea"/>
              </a:rPr>
              <a:t>Design Alternatives &amp; Validations</a:t>
            </a:r>
            <a:endParaRPr lang="de-DE" sz="1800">
              <a:latin typeface="PT Sans" panose="020B0503020203020204" charset="0"/>
              <a:cs typeface="PT Sans" panose="020B0503020203020204" charset="0"/>
              <a:sym typeface="+mn-ea"/>
            </a:endParaRPr>
          </a:p>
          <a:p>
            <a:pPr marL="0" indent="0">
              <a:lnSpc>
                <a:spcPct val="100000"/>
              </a:lnSpc>
              <a:buFont typeface="Wingdings" panose="05000000000000000000" charset="0"/>
              <a:buNone/>
            </a:pPr>
            <a:endParaRPr lang="de-DE" sz="1800">
              <a:latin typeface="PT Sans" panose="020B0503020203020204" charset="0"/>
              <a:cs typeface="PT Sans" panose="020B0503020203020204" charset="0"/>
              <a:sym typeface="+mn-ea"/>
            </a:endParaRPr>
          </a:p>
          <a:p>
            <a:pPr>
              <a:lnSpc>
                <a:spcPct val="100000"/>
              </a:lnSpc>
              <a:buFont typeface="Wingdings" panose="05000000000000000000" charset="0"/>
              <a:buChar char=""/>
            </a:pPr>
            <a:r>
              <a:rPr lang="en-US" altLang="en-US" sz="1800">
                <a:latin typeface="PT Sans" panose="020B0503020203020204" charset="0"/>
                <a:cs typeface="PT Sans" panose="020B0503020203020204" charset="0"/>
                <a:sym typeface="+mn-ea"/>
              </a:rPr>
              <a:t>Socket Creation</a:t>
            </a:r>
            <a:endParaRPr lang="en-US" altLang="en-US" sz="1800">
              <a:latin typeface="PT Sans" panose="020B0503020203020204" charset="0"/>
              <a:cs typeface="PT Sans" panose="020B0503020203020204" charset="0"/>
              <a:sym typeface="+mn-ea"/>
            </a:endParaRPr>
          </a:p>
          <a:p>
            <a:pPr marL="0" indent="0">
              <a:lnSpc>
                <a:spcPct val="100000"/>
              </a:lnSpc>
              <a:buFont typeface="Wingdings" panose="05000000000000000000" charset="0"/>
              <a:buNone/>
            </a:pPr>
            <a:endParaRPr lang="en-US" altLang="en-US" sz="1800">
              <a:latin typeface="PT Sans" panose="020B0503020203020204" charset="0"/>
              <a:cs typeface="PT Sans" panose="020B0503020203020204" charset="0"/>
              <a:sym typeface="+mn-ea"/>
            </a:endParaRPr>
          </a:p>
          <a:p>
            <a:pPr>
              <a:lnSpc>
                <a:spcPct val="100000"/>
              </a:lnSpc>
              <a:buFont typeface="Wingdings" panose="05000000000000000000" charset="0"/>
              <a:buChar char=""/>
            </a:pPr>
            <a:r>
              <a:rPr lang="en-US" altLang="en-US" sz="1800">
                <a:latin typeface="PT Sans" panose="020B0503020203020204" charset="0"/>
                <a:cs typeface="PT Sans" panose="020B0503020203020204" charset="0"/>
                <a:sym typeface="+mn-ea"/>
              </a:rPr>
              <a:t>State Machine Design</a:t>
            </a:r>
            <a:endParaRPr lang="en-US" altLang="en-US" sz="1800">
              <a:latin typeface="PT Sans" panose="020B0503020203020204" charset="0"/>
              <a:cs typeface="PT Sans" panose="020B0503020203020204" charset="0"/>
              <a:sym typeface="+mn-ea"/>
            </a:endParaRPr>
          </a:p>
          <a:p>
            <a:pPr marL="0" indent="0">
              <a:lnSpc>
                <a:spcPct val="100000"/>
              </a:lnSpc>
              <a:buFont typeface="Wingdings" panose="05000000000000000000" charset="0"/>
              <a:buNone/>
            </a:pPr>
            <a:endParaRPr lang="en-US" altLang="en-US" sz="1800">
              <a:latin typeface="PT Sans" panose="020B0503020203020204" charset="0"/>
              <a:cs typeface="PT Sans" panose="020B0503020203020204" charset="0"/>
              <a:sym typeface="+mn-ea"/>
            </a:endParaRPr>
          </a:p>
          <a:p>
            <a:pPr>
              <a:lnSpc>
                <a:spcPct val="100000"/>
              </a:lnSpc>
              <a:buFont typeface="Wingdings" panose="05000000000000000000" charset="0"/>
              <a:buChar char=""/>
            </a:pPr>
            <a:r>
              <a:rPr lang="de-DE" altLang="en-US" sz="1800">
                <a:latin typeface="PT Sans" panose="020B0503020203020204" charset="0"/>
                <a:cs typeface="PT Sans" panose="020B0503020203020204" charset="0"/>
                <a:sym typeface="+mn-ea"/>
              </a:rPr>
              <a:t>Network Interaction &amp; Utility Layer</a:t>
            </a:r>
            <a:endParaRPr lang="de-DE" altLang="en-US" sz="1800">
              <a:latin typeface="PT Sans" panose="020B0503020203020204" charset="0"/>
              <a:cs typeface="PT Sans" panose="020B0503020203020204" charset="0"/>
            </a:endParaRPr>
          </a:p>
          <a:p>
            <a:pPr>
              <a:lnSpc>
                <a:spcPct val="100000"/>
              </a:lnSpc>
              <a:buFont typeface="Wingdings" panose="05000000000000000000" charset="0"/>
              <a:buChar char=""/>
            </a:pPr>
            <a:endParaRPr lang="de-DE" altLang="en-US" sz="1800">
              <a:latin typeface="PT Sans" panose="020B0503020203020204" charset="0"/>
              <a:cs typeface="PT Sans" panose="020B050302020302020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r>
              <a:rPr lang="de-DE" altLang="en-US">
                <a:latin typeface="Calibri" charset="0"/>
              </a:rPr>
              <a:t>2</a:t>
            </a:r>
            <a:endParaRPr lang="de-DE" altLang="en-US">
              <a:latin typeface="Calibri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sz="4800" b="1">
                <a:latin typeface="PT Sans" panose="020B0503020203020204" charset="0"/>
                <a:cs typeface="PT Sans" panose="020B0503020203020204" charset="0"/>
              </a:rPr>
              <a:t>Sensor Thread</a:t>
            </a:r>
            <a:endParaRPr lang="en-US" altLang="en-US" sz="4800" b="1">
              <a:latin typeface="PT Sans" panose="020B0503020203020204" charset="0"/>
              <a:cs typeface="PT Sans" panose="020B0503020203020204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 sz="2000">
                <a:latin typeface="PT Sans" panose="020B0503020203020204" charset="0"/>
                <a:cs typeface="PT Sans" panose="020B0503020203020204" charset="0"/>
              </a:rPr>
              <a:t>Central execution component responsible for continuous hardware acquisition</a:t>
            </a:r>
            <a:r>
              <a:rPr lang="de-DE" altLang="en-US" sz="2000">
                <a:latin typeface="PT Sans" panose="020B0503020203020204" charset="0"/>
                <a:cs typeface="PT Sans" panose="020B0503020203020204" charset="0"/>
              </a:rPr>
              <a:t>.</a:t>
            </a:r>
            <a:endParaRPr lang="de-DE" altLang="en-US" sz="2000">
              <a:latin typeface="PT Sans" panose="020B0503020203020204" charset="0"/>
              <a:cs typeface="PT Sans" panose="020B0503020203020204" charset="0"/>
            </a:endParaRPr>
          </a:p>
          <a:p>
            <a:pPr marL="0" indent="0">
              <a:buNone/>
            </a:pPr>
            <a:endParaRPr lang="de-DE" altLang="en-US" sz="2000">
              <a:latin typeface="PT Sans" panose="020B0503020203020204" charset="0"/>
              <a:cs typeface="PT Sans" panose="020B0503020203020204" charset="0"/>
            </a:endParaRPr>
          </a:p>
          <a:p>
            <a:pPr marL="0" indent="0">
              <a:buNone/>
            </a:pPr>
            <a:r>
              <a:rPr lang="en-US" altLang="en-US" sz="2000">
                <a:latin typeface="PT Sans" panose="020B0503020203020204" charset="0"/>
                <a:cs typeface="PT Sans" panose="020B0503020203020204" charset="0"/>
              </a:rPr>
              <a:t>Acquires:</a:t>
            </a:r>
            <a:r>
              <a:rPr lang="de-DE" altLang="en-US" sz="2000">
                <a:latin typeface="PT Sans" panose="020B0503020203020204" charset="0"/>
                <a:cs typeface="PT Sans" panose="020B0503020203020204" charset="0"/>
              </a:rPr>
              <a:t> </a:t>
            </a:r>
            <a:r>
              <a:rPr lang="en-US" altLang="en-US" sz="2000">
                <a:latin typeface="PT Sans" panose="020B0503020203020204" charset="0"/>
                <a:cs typeface="PT Sans" panose="020B0503020203020204" charset="0"/>
              </a:rPr>
              <a:t>ADC channels (ADC0, ADC1)</a:t>
            </a:r>
            <a:r>
              <a:rPr lang="de-DE" altLang="en-US" sz="2000">
                <a:latin typeface="PT Sans" panose="020B0503020203020204" charset="0"/>
                <a:cs typeface="PT Sans" panose="020B0503020203020204" charset="0"/>
              </a:rPr>
              <a:t> &amp; d</a:t>
            </a:r>
            <a:r>
              <a:rPr lang="en-US" altLang="en-US" sz="2000">
                <a:latin typeface="PT Sans" panose="020B0503020203020204" charset="0"/>
                <a:cs typeface="PT Sans" panose="020B0503020203020204" charset="0"/>
              </a:rPr>
              <a:t>igital slide switches</a:t>
            </a:r>
            <a:r>
              <a:rPr lang="de-DE" altLang="en-US" sz="2000">
                <a:latin typeface="PT Sans" panose="020B0503020203020204" charset="0"/>
                <a:cs typeface="PT Sans" panose="020B0503020203020204" charset="0"/>
              </a:rPr>
              <a:t>.</a:t>
            </a:r>
            <a:endParaRPr lang="en-US" altLang="en-US" sz="2000">
              <a:latin typeface="PT Sans" panose="020B0503020203020204" charset="0"/>
              <a:cs typeface="PT Sans" panose="020B0503020203020204" charset="0"/>
            </a:endParaRPr>
          </a:p>
          <a:p>
            <a:pPr marL="0" indent="0">
              <a:buNone/>
            </a:pPr>
            <a:endParaRPr lang="en-US" altLang="en-US" sz="2000">
              <a:latin typeface="PT Sans" panose="020B0503020203020204" charset="0"/>
              <a:cs typeface="PT Sans" panose="020B0503020203020204" charset="0"/>
            </a:endParaRPr>
          </a:p>
          <a:p>
            <a:pPr marL="0" indent="0">
              <a:buNone/>
            </a:pPr>
            <a:r>
              <a:rPr lang="en-US" altLang="en-US" sz="2000">
                <a:latin typeface="PT Sans" panose="020B0503020203020204" charset="0"/>
                <a:cs typeface="PT Sans" panose="020B0503020203020204" charset="0"/>
              </a:rPr>
              <a:t>Outputs:</a:t>
            </a:r>
            <a:r>
              <a:rPr lang="de-DE" altLang="en-US" sz="2000">
                <a:latin typeface="PT Sans" panose="020B0503020203020204" charset="0"/>
                <a:cs typeface="PT Sans" panose="020B0503020203020204" charset="0"/>
              </a:rPr>
              <a:t> </a:t>
            </a:r>
            <a:r>
              <a:rPr lang="en-US" altLang="en-US" sz="2000">
                <a:latin typeface="PT Sans" panose="020B0503020203020204" charset="0"/>
                <a:cs typeface="PT Sans" panose="020B0503020203020204" charset="0"/>
              </a:rPr>
              <a:t>Timestamped sensor samples</a:t>
            </a:r>
            <a:r>
              <a:rPr lang="de-DE" altLang="en-US" sz="2000">
                <a:latin typeface="PT Sans" panose="020B0503020203020204" charset="0"/>
                <a:cs typeface="PT Sans" panose="020B0503020203020204" charset="0"/>
              </a:rPr>
              <a:t> and p</a:t>
            </a:r>
            <a:r>
              <a:rPr lang="en-US" altLang="en-US" sz="2000">
                <a:latin typeface="PT Sans" panose="020B0503020203020204" charset="0"/>
                <a:cs typeface="PT Sans" panose="020B0503020203020204" charset="0"/>
              </a:rPr>
              <a:t>ublishe</a:t>
            </a:r>
            <a:r>
              <a:rPr lang="de-DE" altLang="en-US" sz="2000">
                <a:latin typeface="PT Sans" panose="020B0503020203020204" charset="0"/>
                <a:cs typeface="PT Sans" panose="020B0503020203020204" charset="0"/>
              </a:rPr>
              <a:t>s</a:t>
            </a:r>
            <a:r>
              <a:rPr lang="en-US" altLang="en-US" sz="2000">
                <a:latin typeface="PT Sans" panose="020B0503020203020204" charset="0"/>
                <a:cs typeface="PT Sans" panose="020B0503020203020204" charset="0"/>
              </a:rPr>
              <a:t> to shared ring buffer</a:t>
            </a:r>
            <a:r>
              <a:rPr lang="de-DE" altLang="en-US" sz="2000">
                <a:latin typeface="PT Sans" panose="020B0503020203020204" charset="0"/>
                <a:cs typeface="PT Sans" panose="020B0503020203020204" charset="0"/>
              </a:rPr>
              <a:t>.</a:t>
            </a:r>
            <a:endParaRPr lang="de-DE" altLang="en-US" sz="2000">
              <a:latin typeface="PT Sans" panose="020B0503020203020204" charset="0"/>
              <a:cs typeface="PT Sans" panose="020B0503020203020204" charset="0"/>
            </a:endParaRPr>
          </a:p>
          <a:p>
            <a:pPr marL="0" indent="0">
              <a:buNone/>
            </a:pPr>
            <a:endParaRPr lang="de-DE" altLang="en-US" sz="2000">
              <a:latin typeface="PT Sans" panose="020B0503020203020204" charset="0"/>
              <a:cs typeface="PT Sans" panose="020B0503020203020204" charset="0"/>
            </a:endParaRPr>
          </a:p>
          <a:p>
            <a:pPr marL="0" indent="0">
              <a:buNone/>
            </a:pPr>
            <a:r>
              <a:rPr lang="en-US" altLang="en-US" sz="2000">
                <a:latin typeface="PT Sans" panose="020B0503020203020204" charset="0"/>
                <a:cs typeface="PT Sans" panose="020B0503020203020204" charset="0"/>
              </a:rPr>
              <a:t>Autonomous execution independent of</a:t>
            </a:r>
            <a:r>
              <a:rPr lang="de-DE" altLang="en-US" sz="2000">
                <a:latin typeface="PT Sans" panose="020B0503020203020204" charset="0"/>
                <a:cs typeface="PT Sans" panose="020B0503020203020204" charset="0"/>
              </a:rPr>
              <a:t> </a:t>
            </a:r>
            <a:r>
              <a:rPr lang="en-US" altLang="en-US" sz="2000">
                <a:latin typeface="PT Sans" panose="020B0503020203020204" charset="0"/>
                <a:cs typeface="PT Sans" panose="020B0503020203020204" charset="0"/>
              </a:rPr>
              <a:t>TCP clients</a:t>
            </a:r>
            <a:r>
              <a:rPr lang="de-DE" altLang="en-US" sz="2000">
                <a:latin typeface="PT Sans" panose="020B0503020203020204" charset="0"/>
                <a:cs typeface="PT Sans" panose="020B0503020203020204" charset="0"/>
              </a:rPr>
              <a:t>, </a:t>
            </a:r>
            <a:r>
              <a:rPr lang="en-US" altLang="en-US" sz="2000">
                <a:latin typeface="PT Sans" panose="020B0503020203020204" charset="0"/>
                <a:cs typeface="PT Sans" panose="020B0503020203020204" charset="0"/>
              </a:rPr>
              <a:t>network traffic</a:t>
            </a:r>
            <a:r>
              <a:rPr lang="de-DE" altLang="en-US" sz="2000">
                <a:latin typeface="PT Sans" panose="020B0503020203020204" charset="0"/>
                <a:cs typeface="PT Sans" panose="020B0503020203020204" charset="0"/>
              </a:rPr>
              <a:t> and </a:t>
            </a:r>
            <a:r>
              <a:rPr lang="en-US" altLang="en-US" sz="2000">
                <a:latin typeface="PT Sans" panose="020B0503020203020204" charset="0"/>
                <a:cs typeface="PT Sans" panose="020B0503020203020204" charset="0"/>
              </a:rPr>
              <a:t>command activity</a:t>
            </a:r>
            <a:r>
              <a:rPr lang="de-DE" altLang="en-US" sz="2000">
                <a:latin typeface="PT Sans" panose="020B0503020203020204" charset="0"/>
                <a:cs typeface="PT Sans" panose="020B0503020203020204" charset="0"/>
              </a:rPr>
              <a:t>.</a:t>
            </a:r>
            <a:endParaRPr lang="de-DE" altLang="en-US" sz="2000">
              <a:latin typeface="PT Sans" panose="020B0503020203020204" charset="0"/>
              <a:cs typeface="PT Sans" panose="020B0503020203020204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>
                <a:latin typeface="PT Sans" panose="020B0503020203020204" charset="0"/>
                <a:cs typeface="PT Sans" panose="020B0503020203020204" charset="0"/>
              </a:rPr>
              <a:t>Sensor Thread Lifecycle</a:t>
            </a:r>
            <a:endParaRPr lang="en-US" altLang="en-US" b="1">
              <a:latin typeface="PT Sans" panose="020B0503020203020204" charset="0"/>
              <a:cs typeface="PT Sans" panose="020B050302020302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563235" cy="4526280"/>
          </a:xfrm>
        </p:spPr>
        <p:txBody>
          <a:bodyPr>
            <a:normAutofit/>
          </a:bodyPr>
          <a:p>
            <a:pPr marL="0" indent="0">
              <a:buFont typeface="Wingdings" panose="05000000000000000000" charset="0"/>
              <a:buNone/>
            </a:pPr>
            <a:endParaRPr lang="en-US" altLang="en-US" sz="1800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endParaRPr lang="en-US" altLang="en-US" sz="1800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endParaRPr lang="de-DE" altLang="en-US" sz="1800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r>
              <a:rPr lang="de-DE" altLang="en-US" sz="1800">
                <a:latin typeface="PT Sans" panose="020B0503020203020204" charset="0"/>
                <a:cs typeface="PT Sans" panose="020B0503020203020204" charset="0"/>
              </a:rPr>
              <a:t>Sensor thread creation o</a:t>
            </a:r>
            <a:r>
              <a:rPr lang="en-US" altLang="en-US" sz="1800">
                <a:latin typeface="PT Sans" panose="020B0503020203020204" charset="0"/>
                <a:cs typeface="PT Sans" panose="020B0503020203020204" charset="0"/>
              </a:rPr>
              <a:t>ccurs after initialization of</a:t>
            </a:r>
            <a:r>
              <a:rPr lang="de-DE" altLang="en-US" sz="1800">
                <a:latin typeface="PT Sans" panose="020B0503020203020204" charset="0"/>
                <a:cs typeface="PT Sans" panose="020B0503020203020204" charset="0"/>
              </a:rPr>
              <a:t> </a:t>
            </a:r>
            <a:r>
              <a:rPr lang="en-US" altLang="en-US" sz="1800">
                <a:latin typeface="PT Sans" panose="020B0503020203020204" charset="0"/>
                <a:cs typeface="PT Sans" panose="020B0503020203020204" charset="0"/>
              </a:rPr>
              <a:t>shared buffers</a:t>
            </a:r>
            <a:r>
              <a:rPr lang="de-DE" altLang="en-US" sz="1800">
                <a:latin typeface="PT Sans" panose="020B0503020203020204" charset="0"/>
                <a:cs typeface="PT Sans" panose="020B0503020203020204" charset="0"/>
              </a:rPr>
              <a:t>, </a:t>
            </a:r>
            <a:r>
              <a:rPr lang="en-US" altLang="en-US" sz="1800">
                <a:latin typeface="PT Sans" panose="020B0503020203020204" charset="0"/>
                <a:cs typeface="PT Sans" panose="020B0503020203020204" charset="0"/>
              </a:rPr>
              <a:t>synchronization primitives</a:t>
            </a:r>
            <a:r>
              <a:rPr lang="de-DE" altLang="en-US" sz="1800">
                <a:latin typeface="PT Sans" panose="020B0503020203020204" charset="0"/>
                <a:cs typeface="PT Sans" panose="020B0503020203020204" charset="0"/>
              </a:rPr>
              <a:t> and </a:t>
            </a:r>
            <a:r>
              <a:rPr lang="en-US" altLang="en-US" sz="1800">
                <a:latin typeface="PT Sans" panose="020B0503020203020204" charset="0"/>
                <a:cs typeface="PT Sans" panose="020B0503020203020204" charset="0"/>
              </a:rPr>
              <a:t>global control flags</a:t>
            </a:r>
            <a:r>
              <a:rPr lang="de-DE" altLang="en-US" sz="1800">
                <a:latin typeface="PT Sans" panose="020B0503020203020204" charset="0"/>
                <a:cs typeface="PT Sans" panose="020B0503020203020204" charset="0"/>
              </a:rPr>
              <a:t>.</a:t>
            </a:r>
            <a:endParaRPr lang="de-DE" altLang="en-US" sz="1800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endParaRPr lang="en-US" altLang="en-US" sz="1800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r>
              <a:rPr lang="en-US" altLang="en-US" sz="1800">
                <a:latin typeface="PT Sans" panose="020B0503020203020204" charset="0"/>
                <a:cs typeface="PT Sans" panose="020B0503020203020204" charset="0"/>
              </a:rPr>
              <a:t>Sensor acquisition starts before network connections.</a:t>
            </a:r>
            <a:endParaRPr lang="en-US" altLang="en-US" sz="1800">
              <a:latin typeface="PT Sans" panose="020B0503020203020204" charset="0"/>
              <a:cs typeface="PT Sans" panose="020B0503020203020204" charset="0"/>
            </a:endParaRPr>
          </a:p>
        </p:txBody>
      </p:sp>
      <p:pic>
        <p:nvPicPr>
          <p:cNvPr id="5" name="Picture 4" descr="Screenshot 2026-03-15 at 12.28.0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20435" y="3757295"/>
            <a:ext cx="2679700" cy="21209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109335" y="6366510"/>
            <a:ext cx="2577465" cy="365125"/>
          </a:xfrm>
        </p:spPr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  <p:pic>
        <p:nvPicPr>
          <p:cNvPr id="4" name="Picture 2" descr="Screenshot 2026-02-23 at 21.04.0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465" y="1600200"/>
            <a:ext cx="8098790" cy="5149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>
                <a:latin typeface="PT Sans" panose="020B0503020203020204" charset="0"/>
                <a:cs typeface="PT Sans" panose="020B0503020203020204" charset="0"/>
              </a:rPr>
              <a:t>Sensor Configuration Model</a:t>
            </a:r>
            <a:endParaRPr lang="en-US" altLang="en-US" b="1">
              <a:latin typeface="PT Sans" panose="020B0503020203020204" charset="0"/>
              <a:cs typeface="PT Sans" panose="020B050302020302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08645" cy="4526280"/>
          </a:xfrm>
        </p:spPr>
        <p:txBody>
          <a:bodyPr>
            <a:noAutofit/>
          </a:bodyPr>
          <a:p>
            <a:pPr>
              <a:buFont typeface="Wingdings" panose="05000000000000000000" charset="0"/>
              <a:buChar char=""/>
            </a:pPr>
            <a:r>
              <a:rPr lang="en-US" altLang="en-US" sz="2400">
                <a:latin typeface="PT Sans" panose="020B0503020203020204" charset="0"/>
                <a:cs typeface="PT Sans" panose="020B0503020203020204" charset="0"/>
              </a:rPr>
              <a:t>Each sensor </a:t>
            </a:r>
            <a:r>
              <a:rPr lang="de-DE" altLang="en-US" sz="2400">
                <a:latin typeface="PT Sans" panose="020B0503020203020204" charset="0"/>
                <a:cs typeface="PT Sans" panose="020B0503020203020204" charset="0"/>
              </a:rPr>
              <a:t>is </a:t>
            </a:r>
            <a:r>
              <a:rPr lang="en-US" altLang="en-US" sz="2400">
                <a:latin typeface="PT Sans" panose="020B0503020203020204" charset="0"/>
                <a:cs typeface="PT Sans" panose="020B0503020203020204" charset="0"/>
              </a:rPr>
              <a:t>defined by</a:t>
            </a:r>
            <a:r>
              <a:rPr lang="de-DE" altLang="en-US" sz="2400">
                <a:latin typeface="PT Sans" panose="020B0503020203020204" charset="0"/>
                <a:cs typeface="PT Sans" panose="020B0503020203020204" charset="0"/>
              </a:rPr>
              <a:t> </a:t>
            </a:r>
            <a:r>
              <a:rPr lang="en-US" altLang="en-US" sz="2400">
                <a:latin typeface="PT Sans" panose="020B0503020203020204" charset="0"/>
                <a:cs typeface="PT Sans" panose="020B0503020203020204" charset="0"/>
              </a:rPr>
              <a:t>sensor </a:t>
            </a:r>
            <a:r>
              <a:rPr lang="de-DE" altLang="en-US" sz="2400">
                <a:latin typeface="PT Sans" panose="020B0503020203020204" charset="0"/>
                <a:cs typeface="PT Sans" panose="020B0503020203020204" charset="0"/>
              </a:rPr>
              <a:t>id, </a:t>
            </a:r>
            <a:r>
              <a:rPr lang="en-US" altLang="en-US" sz="2400">
                <a:latin typeface="PT Sans" panose="020B0503020203020204" charset="0"/>
                <a:cs typeface="PT Sans" panose="020B0503020203020204" charset="0"/>
              </a:rPr>
              <a:t>sampling rate</a:t>
            </a:r>
            <a:r>
              <a:rPr lang="de-DE" altLang="en-US" sz="2400">
                <a:latin typeface="PT Sans" panose="020B0503020203020204" charset="0"/>
                <a:cs typeface="PT Sans" panose="020B0503020203020204" charset="0"/>
              </a:rPr>
              <a:t>, </a:t>
            </a:r>
            <a:r>
              <a:rPr lang="en-US" altLang="en-US" sz="2400">
                <a:latin typeface="PT Sans" panose="020B0503020203020204" charset="0"/>
                <a:cs typeface="PT Sans" panose="020B0503020203020204" charset="0"/>
              </a:rPr>
              <a:t>sampling period</a:t>
            </a:r>
            <a:r>
              <a:rPr lang="de-DE" altLang="en-US" sz="2400">
                <a:latin typeface="PT Sans" panose="020B0503020203020204" charset="0"/>
                <a:cs typeface="PT Sans" panose="020B0503020203020204" charset="0"/>
              </a:rPr>
              <a:t> and </a:t>
            </a:r>
            <a:r>
              <a:rPr lang="en-US" altLang="en-US" sz="2400">
                <a:latin typeface="PT Sans" panose="020B0503020203020204" charset="0"/>
                <a:cs typeface="PT Sans" panose="020B0503020203020204" charset="0"/>
              </a:rPr>
              <a:t>next acquisition deadline</a:t>
            </a:r>
            <a:r>
              <a:rPr lang="de-DE" altLang="en-US" sz="2400">
                <a:latin typeface="PT Sans" panose="020B0503020203020204" charset="0"/>
                <a:cs typeface="PT Sans" panose="020B0503020203020204" charset="0"/>
              </a:rPr>
              <a:t>.</a:t>
            </a:r>
            <a:endParaRPr lang="de-DE" altLang="en-US" sz="2400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endParaRPr lang="de-DE" altLang="en-US" sz="2400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endParaRPr lang="de-DE" altLang="en-US" sz="2400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endParaRPr lang="de-DE" altLang="en-US" sz="2400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endParaRPr lang="de-DE" altLang="en-US" sz="2400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endParaRPr lang="de-DE" altLang="en-US" sz="2400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endParaRPr lang="de-DE" altLang="en-US" sz="2400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r>
              <a:rPr lang="en-US" altLang="en-US" sz="2400">
                <a:latin typeface="PT Sans" panose="020B0503020203020204" charset="0"/>
                <a:cs typeface="PT Sans" panose="020B0503020203020204" charset="0"/>
              </a:rPr>
              <a:t>Sensor thread iterates over sensors</a:t>
            </a:r>
            <a:r>
              <a:rPr lang="de-DE" altLang="en-US" sz="2400">
                <a:latin typeface="PT Sans" panose="020B0503020203020204" charset="0"/>
                <a:cs typeface="PT Sans" panose="020B0503020203020204" charset="0"/>
              </a:rPr>
              <a:t> and s</a:t>
            </a:r>
            <a:r>
              <a:rPr lang="en-US" altLang="en-US" sz="2400">
                <a:latin typeface="PT Sans" panose="020B0503020203020204" charset="0"/>
                <a:cs typeface="PT Sans" panose="020B0503020203020204" charset="0"/>
              </a:rPr>
              <a:t>upports multiple heterogeneous sensors within one thread.</a:t>
            </a:r>
            <a:endParaRPr lang="en-US" altLang="en-US" sz="2400">
              <a:latin typeface="PT Sans" panose="020B0503020203020204" charset="0"/>
              <a:cs typeface="PT Sans" panose="020B0503020203020204" charset="0"/>
            </a:endParaRPr>
          </a:p>
        </p:txBody>
      </p:sp>
      <p:pic>
        <p:nvPicPr>
          <p:cNvPr id="5" name="Picture 4" descr="Screenshot 2026-03-15 at 12.42.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1650" y="2625090"/>
            <a:ext cx="3060700" cy="2159000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>
                <a:latin typeface="PT Sans" panose="020B0503020203020204" charset="0"/>
                <a:cs typeface="PT Sans" panose="020B0503020203020204" charset="0"/>
              </a:rPr>
              <a:t>Execution Loop</a:t>
            </a:r>
            <a:endParaRPr lang="en-US" altLang="en-US" b="1">
              <a:latin typeface="PT Sans" panose="020B0503020203020204" charset="0"/>
              <a:cs typeface="PT Sans" panose="020B050302020302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2730"/>
            <a:ext cx="8230235" cy="4526280"/>
          </a:xfrm>
        </p:spPr>
        <p:txBody>
          <a:bodyPr/>
          <a:p>
            <a:pPr marL="0" indent="0">
              <a:buFont typeface="Wingdings" panose="05000000000000000000" charset="0"/>
              <a:buNone/>
            </a:pPr>
            <a:endParaRPr lang="de-DE" altLang="en-US" sz="2000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r>
              <a:rPr lang="de-DE" altLang="en-US" sz="2000">
                <a:latin typeface="PT Sans" panose="020B0503020203020204" charset="0"/>
                <a:cs typeface="PT Sans" panose="020B0503020203020204" charset="0"/>
              </a:rPr>
              <a:t>In e</a:t>
            </a:r>
            <a:r>
              <a:rPr lang="en-US" altLang="en-US" sz="2000">
                <a:latin typeface="PT Sans" panose="020B0503020203020204" charset="0"/>
                <a:cs typeface="PT Sans" panose="020B0503020203020204" charset="0"/>
              </a:rPr>
              <a:t>ach iteration</a:t>
            </a:r>
            <a:r>
              <a:rPr lang="de-DE" altLang="en-US" sz="2000">
                <a:latin typeface="PT Sans" panose="020B0503020203020204" charset="0"/>
                <a:cs typeface="PT Sans" panose="020B0503020203020204" charset="0"/>
              </a:rPr>
              <a:t>, the s</a:t>
            </a:r>
            <a:r>
              <a:rPr lang="en-US" altLang="en-US" sz="2000">
                <a:latin typeface="PT Sans" panose="020B0503020203020204" charset="0"/>
                <a:cs typeface="PT Sans" panose="020B0503020203020204" charset="0"/>
              </a:rPr>
              <a:t>equence</a:t>
            </a:r>
            <a:r>
              <a:rPr lang="de-DE" altLang="en-US" sz="2000">
                <a:latin typeface="PT Sans" panose="020B0503020203020204" charset="0"/>
                <a:cs typeface="PT Sans" panose="020B0503020203020204" charset="0"/>
              </a:rPr>
              <a:t> is as follows: </a:t>
            </a:r>
            <a:r>
              <a:rPr lang="en-US" altLang="en-US" sz="2000">
                <a:latin typeface="PT Sans" panose="020B0503020203020204" charset="0"/>
                <a:cs typeface="PT Sans" panose="020B0503020203020204" charset="0"/>
              </a:rPr>
              <a:t>Read ADC values</a:t>
            </a:r>
            <a:r>
              <a:rPr lang="de-DE" altLang="en-US" sz="2000">
                <a:latin typeface="Calibri" charset="0"/>
                <a:cs typeface="PT Sans" panose="020B0503020203020204" charset="0"/>
              </a:rPr>
              <a:t>, r</a:t>
            </a:r>
            <a:r>
              <a:rPr lang="en-US" altLang="en-US" sz="2000">
                <a:latin typeface="PT Sans" panose="020B0503020203020204" charset="0"/>
                <a:cs typeface="PT Sans" panose="020B0503020203020204" charset="0"/>
              </a:rPr>
              <a:t>ead switch states</a:t>
            </a:r>
            <a:r>
              <a:rPr lang="de-DE" altLang="en-US" sz="2000">
                <a:latin typeface="Calibri" charset="0"/>
                <a:cs typeface="PT Sans" panose="020B0503020203020204" charset="0"/>
              </a:rPr>
              <a:t>, a</a:t>
            </a:r>
            <a:r>
              <a:rPr lang="en-US" altLang="en-US" sz="2000">
                <a:latin typeface="PT Sans" panose="020B0503020203020204" charset="0"/>
                <a:cs typeface="PT Sans" panose="020B0503020203020204" charset="0"/>
              </a:rPr>
              <a:t>ssemble measurement record</a:t>
            </a:r>
            <a:r>
              <a:rPr lang="de-DE" altLang="en-US" sz="2000">
                <a:latin typeface="Calibri" charset="0"/>
                <a:cs typeface="PT Sans" panose="020B0503020203020204" charset="0"/>
              </a:rPr>
              <a:t> &amp; i</a:t>
            </a:r>
            <a:r>
              <a:rPr lang="en-US" altLang="en-US" sz="2000">
                <a:latin typeface="PT Sans" panose="020B0503020203020204" charset="0"/>
                <a:cs typeface="PT Sans" panose="020B0503020203020204" charset="0"/>
              </a:rPr>
              <a:t>nsert into ring buffer</a:t>
            </a:r>
            <a:r>
              <a:rPr lang="de-DE" altLang="en-US" sz="2000">
                <a:latin typeface="Calibri" charset="0"/>
                <a:cs typeface="PT Sans" panose="020B0503020203020204" charset="0"/>
              </a:rPr>
              <a:t>.</a:t>
            </a:r>
            <a:endParaRPr lang="de-DE" altLang="en-US" sz="2000">
              <a:latin typeface="PT Sans" panose="020B0503020203020204" charset="0"/>
              <a:cs typeface="PT Sans" panose="020B0503020203020204" charset="0"/>
            </a:endParaRPr>
          </a:p>
          <a:p>
            <a:pPr marL="0" indent="0">
              <a:buFont typeface="Wingdings" panose="05000000000000000000" charset="0"/>
              <a:buNone/>
            </a:pPr>
            <a:endParaRPr lang="de-DE" altLang="en-US" sz="2000">
              <a:latin typeface="PT Sans" panose="020B0503020203020204" charset="0"/>
              <a:cs typeface="PT Sans" panose="020B0503020203020204" charset="0"/>
            </a:endParaRPr>
          </a:p>
        </p:txBody>
      </p:sp>
      <p:pic>
        <p:nvPicPr>
          <p:cNvPr id="5" name="Picture 4" descr="Screenshot 2026-03-15 at 12.49.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8390" y="2938145"/>
            <a:ext cx="4427855" cy="3110865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>
                <a:latin typeface="PT Sans" panose="020B0503020203020204" charset="0"/>
                <a:cs typeface="PT Sans" panose="020B0503020203020204" charset="0"/>
              </a:rPr>
              <a:t>Local Sensor State</a:t>
            </a:r>
            <a:endParaRPr lang="en-US" altLang="en-US" b="1">
              <a:latin typeface="PT Sans" panose="020B0503020203020204" charset="0"/>
              <a:cs typeface="PT Sans" panose="020B050302020302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"/>
            </a:pPr>
            <a:r>
              <a:rPr lang="de-DE" altLang="en-US" sz="2800">
                <a:latin typeface="PT Sans" panose="020B0503020203020204" charset="0"/>
                <a:cs typeface="PT Sans" panose="020B0503020203020204" charset="0"/>
              </a:rPr>
              <a:t>L</a:t>
            </a:r>
            <a:r>
              <a:rPr lang="en-US" altLang="en-US" sz="2800">
                <a:latin typeface="PT Sans" panose="020B0503020203020204" charset="0"/>
                <a:cs typeface="PT Sans" panose="020B0503020203020204" charset="0"/>
              </a:rPr>
              <a:t>ocal variables store intermediate results</a:t>
            </a:r>
            <a:r>
              <a:rPr lang="de-DE" altLang="en-US" sz="2800">
                <a:latin typeface="PT Sans" panose="020B0503020203020204" charset="0"/>
                <a:cs typeface="PT Sans" panose="020B0503020203020204" charset="0"/>
              </a:rPr>
              <a:t>.</a:t>
            </a:r>
            <a:endParaRPr lang="de-DE" altLang="en-US" sz="2800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r>
              <a:rPr lang="en-US" altLang="en-US" sz="2800">
                <a:latin typeface="PT Sans" panose="020B0503020203020204" charset="0"/>
                <a:cs typeface="PT Sans" panose="020B0503020203020204" charset="0"/>
              </a:rPr>
              <a:t>Advantages</a:t>
            </a:r>
            <a:r>
              <a:rPr lang="de-DE" altLang="en-US" sz="2800">
                <a:latin typeface="PT Sans" panose="020B0503020203020204" charset="0"/>
                <a:cs typeface="PT Sans" panose="020B0503020203020204" charset="0"/>
              </a:rPr>
              <a:t>: N</a:t>
            </a:r>
            <a:r>
              <a:rPr lang="en-US" altLang="en-US" sz="2800">
                <a:latin typeface="PT Sans" panose="020B0503020203020204" charset="0"/>
                <a:cs typeface="PT Sans" panose="020B0503020203020204" charset="0"/>
              </a:rPr>
              <a:t>o inter-thread access</a:t>
            </a:r>
            <a:r>
              <a:rPr lang="de-DE" altLang="en-US" sz="2800">
                <a:latin typeface="PT Sans" panose="020B0503020203020204" charset="0"/>
                <a:cs typeface="PT Sans" panose="020B0503020203020204" charset="0"/>
              </a:rPr>
              <a:t>, </a:t>
            </a:r>
            <a:r>
              <a:rPr lang="en-US" altLang="en-US" sz="2800">
                <a:latin typeface="PT Sans" panose="020B0503020203020204" charset="0"/>
                <a:cs typeface="PT Sans" panose="020B0503020203020204" charset="0"/>
              </a:rPr>
              <a:t>no locking required</a:t>
            </a:r>
            <a:r>
              <a:rPr lang="de-DE" altLang="en-US" sz="2800">
                <a:latin typeface="PT Sans" panose="020B0503020203020204" charset="0"/>
                <a:cs typeface="PT Sans" panose="020B0503020203020204" charset="0"/>
              </a:rPr>
              <a:t> and </a:t>
            </a:r>
            <a:r>
              <a:rPr lang="en-US" altLang="en-US" sz="2800">
                <a:latin typeface="PT Sans" panose="020B0503020203020204" charset="0"/>
                <a:cs typeface="PT Sans" panose="020B0503020203020204" charset="0"/>
              </a:rPr>
              <a:t>minimal synchronization overhead</a:t>
            </a:r>
            <a:endParaRPr lang="en-US" altLang="en-US" sz="2800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endParaRPr lang="en-US" altLang="en-US" sz="2800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endParaRPr lang="en-US" altLang="en-US" sz="2800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r>
              <a:rPr lang="en-US" altLang="en-US" sz="2800">
                <a:latin typeface="PT Sans" panose="020B0503020203020204" charset="0"/>
                <a:cs typeface="PT Sans" panose="020B0503020203020204" charset="0"/>
              </a:rPr>
              <a:t>Synchronization occurs only during ring buffer insertion.</a:t>
            </a:r>
            <a:endParaRPr lang="en-US" altLang="en-US" sz="2800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endParaRPr lang="en-US" altLang="en-US" sz="2800">
              <a:latin typeface="PT Sans" panose="020B0503020203020204" charset="0"/>
              <a:cs typeface="PT Sans" panose="020B050302020302020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  <p:pic>
        <p:nvPicPr>
          <p:cNvPr id="6" name="Picture 5" descr="Screenshot 2026-03-15 at 13.05.08"/>
          <p:cNvPicPr>
            <a:picLocks noChangeAspect="1"/>
          </p:cNvPicPr>
          <p:nvPr/>
        </p:nvPicPr>
        <p:blipFill>
          <a:blip r:embed="rId1"/>
          <a:srcRect b="49333"/>
          <a:stretch>
            <a:fillRect/>
          </a:stretch>
        </p:blipFill>
        <p:spPr>
          <a:xfrm>
            <a:off x="3721100" y="3291840"/>
            <a:ext cx="1701800" cy="5791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en-US" b="1">
                <a:latin typeface="PT Sans" panose="020B0503020203020204" charset="0"/>
                <a:cs typeface="PT Sans" panose="020B0503020203020204" charset="0"/>
              </a:rPr>
              <a:t>Shared Resources</a:t>
            </a:r>
            <a:endParaRPr lang="en-US" altLang="en-US" b="1">
              <a:latin typeface="PT Sans" panose="020B0503020203020204" charset="0"/>
              <a:cs typeface="PT Sans" panose="020B050302020302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"/>
            </a:pPr>
            <a:r>
              <a:rPr lang="en-US" altLang="en-US" sz="2800">
                <a:latin typeface="PT Sans" panose="020B0503020203020204" charset="0"/>
                <a:cs typeface="PT Sans" panose="020B0503020203020204" charset="0"/>
              </a:rPr>
              <a:t>Sensor thread acts as producer</a:t>
            </a:r>
            <a:r>
              <a:rPr lang="de-DE" altLang="en-US" sz="2800">
                <a:latin typeface="PT Sans" panose="020B0503020203020204" charset="0"/>
                <a:cs typeface="PT Sans" panose="020B0503020203020204" charset="0"/>
              </a:rPr>
              <a:t> and p</a:t>
            </a:r>
            <a:r>
              <a:rPr lang="en-US" altLang="en-US" sz="2800">
                <a:latin typeface="PT Sans" panose="020B0503020203020204" charset="0"/>
                <a:cs typeface="PT Sans" panose="020B0503020203020204" charset="0"/>
              </a:rPr>
              <a:t>ublishes </a:t>
            </a:r>
            <a:r>
              <a:rPr lang="de-DE" altLang="en-US" sz="2800">
                <a:latin typeface="PT Sans" panose="020B0503020203020204" charset="0"/>
                <a:cs typeface="PT Sans" panose="020B0503020203020204" charset="0"/>
              </a:rPr>
              <a:t>the </a:t>
            </a:r>
            <a:r>
              <a:rPr lang="en-US" altLang="en-US" sz="2800">
                <a:latin typeface="PT Sans" panose="020B0503020203020204" charset="0"/>
                <a:cs typeface="PT Sans" panose="020B0503020203020204" charset="0"/>
              </a:rPr>
              <a:t>samples to shared buffer</a:t>
            </a:r>
            <a:r>
              <a:rPr lang="de-DE" altLang="en-US" sz="2800">
                <a:latin typeface="PT Sans" panose="020B0503020203020204" charset="0"/>
                <a:cs typeface="PT Sans" panose="020B0503020203020204" charset="0"/>
              </a:rPr>
              <a:t>.</a:t>
            </a:r>
            <a:endParaRPr lang="de-DE" altLang="en-US" sz="2800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endParaRPr lang="de-DE" altLang="en-US" sz="2800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r>
              <a:rPr lang="de-DE" altLang="en-US" sz="2800">
                <a:latin typeface="PT Sans" panose="020B0503020203020204" charset="0"/>
                <a:cs typeface="PT Sans" panose="020B0503020203020204" charset="0"/>
              </a:rPr>
              <a:t>Example: </a:t>
            </a:r>
            <a:endParaRPr lang="de-DE" altLang="en-US" sz="2800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endParaRPr lang="de-DE" altLang="en-US" sz="2800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r>
              <a:rPr lang="en-US" altLang="en-US" sz="2800">
                <a:latin typeface="PT Sans" panose="020B0503020203020204" charset="0"/>
                <a:cs typeface="PT Sans" panose="020B0503020203020204" charset="0"/>
              </a:rPr>
              <a:t>Critical section </a:t>
            </a:r>
            <a:r>
              <a:rPr lang="de-DE" altLang="en-US" sz="2800">
                <a:latin typeface="PT Sans" panose="020B0503020203020204" charset="0"/>
                <a:cs typeface="PT Sans" panose="020B0503020203020204" charset="0"/>
              </a:rPr>
              <a:t>are </a:t>
            </a:r>
            <a:r>
              <a:rPr lang="en-US" altLang="en-US" sz="2800">
                <a:latin typeface="PT Sans" panose="020B0503020203020204" charset="0"/>
                <a:cs typeface="PT Sans" panose="020B0503020203020204" charset="0"/>
              </a:rPr>
              <a:t>protected by mutex</a:t>
            </a:r>
            <a:r>
              <a:rPr lang="de-DE" altLang="en-US" sz="2800">
                <a:latin typeface="PT Sans" panose="020B0503020203020204" charset="0"/>
                <a:cs typeface="PT Sans" panose="020B0503020203020204" charset="0"/>
              </a:rPr>
              <a:t>.</a:t>
            </a:r>
            <a:endParaRPr lang="de-DE" altLang="en-US" sz="2800">
              <a:latin typeface="PT Sans" panose="020B0503020203020204" charset="0"/>
              <a:cs typeface="PT Sans" panose="020B050302020302020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  <p:pic>
        <p:nvPicPr>
          <p:cNvPr id="6" name="Picture 5" descr="Screenshot 2026-03-15 at 13.09.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4790" y="3106420"/>
            <a:ext cx="4433570" cy="460375"/>
          </a:xfrm>
          <a:prstGeom prst="rect">
            <a:avLst/>
          </a:prstGeom>
        </p:spPr>
      </p:pic>
      <p:pic>
        <p:nvPicPr>
          <p:cNvPr id="7" name="Picture 6" descr="Screenshot 2026-03-15 at 13.09.4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4790" y="4722495"/>
            <a:ext cx="4382770" cy="90741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>
                <a:latin typeface="PT Sans" panose="020B0503020203020204" charset="0"/>
                <a:cs typeface="PT Sans" panose="020B0503020203020204" charset="0"/>
              </a:rPr>
              <a:t>Sampling Rate Control</a:t>
            </a:r>
            <a:endParaRPr lang="en-US" altLang="en-US" b="1">
              <a:latin typeface="PT Sans" panose="020B0503020203020204" charset="0"/>
              <a:cs typeface="PT Sans" panose="020B050302020302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"/>
            </a:pPr>
            <a:r>
              <a:rPr lang="en-US" altLang="en-US" sz="2800">
                <a:latin typeface="PT Sans" panose="020B0503020203020204" charset="0"/>
                <a:cs typeface="PT Sans" panose="020B0503020203020204" charset="0"/>
              </a:rPr>
              <a:t>Sampling rate </a:t>
            </a:r>
            <a:r>
              <a:rPr lang="de-DE" altLang="en-US" sz="2800">
                <a:latin typeface="PT Sans" panose="020B0503020203020204" charset="0"/>
                <a:cs typeface="PT Sans" panose="020B0503020203020204" charset="0"/>
              </a:rPr>
              <a:t>is </a:t>
            </a:r>
            <a:r>
              <a:rPr lang="en-US" altLang="en-US" sz="2800">
                <a:latin typeface="PT Sans" panose="020B0503020203020204" charset="0"/>
                <a:cs typeface="PT Sans" panose="020B0503020203020204" charset="0"/>
              </a:rPr>
              <a:t>controlled by</a:t>
            </a:r>
            <a:r>
              <a:rPr lang="de-DE" altLang="en-US" sz="2800">
                <a:latin typeface="PT Sans" panose="020B0503020203020204" charset="0"/>
                <a:cs typeface="PT Sans" panose="020B0503020203020204" charset="0"/>
              </a:rPr>
              <a:t> </a:t>
            </a:r>
            <a:r>
              <a:rPr lang="en-US" altLang="en-US" sz="2800">
                <a:latin typeface="PT Sans" panose="020B0503020203020204" charset="0"/>
                <a:cs typeface="PT Sans" panose="020B0503020203020204" charset="0"/>
              </a:rPr>
              <a:t>sensor deadline</a:t>
            </a:r>
            <a:r>
              <a:rPr lang="de-DE" altLang="en-US" sz="2800">
                <a:latin typeface="PT Sans" panose="020B0503020203020204" charset="0"/>
                <a:cs typeface="PT Sans" panose="020B0503020203020204" charset="0"/>
              </a:rPr>
              <a:t> and </a:t>
            </a:r>
            <a:r>
              <a:rPr lang="en-US" altLang="en-US" sz="2800">
                <a:latin typeface="PT Sans" panose="020B0503020203020204" charset="0"/>
                <a:cs typeface="PT Sans" panose="020B0503020203020204" charset="0"/>
              </a:rPr>
              <a:t>execution loop delay</a:t>
            </a:r>
            <a:r>
              <a:rPr lang="de-DE" altLang="en-US" sz="2800">
                <a:latin typeface="PT Sans" panose="020B0503020203020204" charset="0"/>
                <a:cs typeface="PT Sans" panose="020B0503020203020204" charset="0"/>
              </a:rPr>
              <a:t>.</a:t>
            </a:r>
            <a:endParaRPr lang="de-DE" altLang="en-US" sz="2800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endParaRPr lang="de-DE" altLang="en-US" sz="2800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r>
              <a:rPr lang="de-DE" altLang="en-US" sz="2800">
                <a:latin typeface="PT Sans" panose="020B0503020203020204" charset="0"/>
                <a:cs typeface="PT Sans" panose="020B0503020203020204" charset="0"/>
              </a:rPr>
              <a:t>This </a:t>
            </a:r>
            <a:r>
              <a:rPr lang="en-US" altLang="en-US" sz="2800">
                <a:latin typeface="PT Sans" panose="020B0503020203020204" charset="0"/>
                <a:cs typeface="PT Sans" panose="020B0503020203020204" charset="0"/>
              </a:rPr>
              <a:t>avoid</a:t>
            </a:r>
            <a:r>
              <a:rPr lang="de-DE" altLang="en-US" sz="2800">
                <a:latin typeface="PT Sans" panose="020B0503020203020204" charset="0"/>
                <a:cs typeface="PT Sans" panose="020B0503020203020204" charset="0"/>
              </a:rPr>
              <a:t>s</a:t>
            </a:r>
            <a:r>
              <a:rPr lang="en-US" altLang="en-US" sz="2800">
                <a:latin typeface="PT Sans" panose="020B0503020203020204" charset="0"/>
                <a:cs typeface="PT Sans" panose="020B0503020203020204" charset="0"/>
              </a:rPr>
              <a:t> busy waiting</a:t>
            </a:r>
            <a:r>
              <a:rPr lang="de-DE" altLang="en-US" sz="2800">
                <a:latin typeface="PT Sans" panose="020B0503020203020204" charset="0"/>
                <a:cs typeface="PT Sans" panose="020B0503020203020204" charset="0"/>
              </a:rPr>
              <a:t>, </a:t>
            </a:r>
            <a:r>
              <a:rPr lang="en-US" altLang="en-US" sz="2800">
                <a:latin typeface="PT Sans" panose="020B0503020203020204" charset="0"/>
                <a:cs typeface="PT Sans" panose="020B0503020203020204" charset="0"/>
              </a:rPr>
              <a:t>reduce CPU load</a:t>
            </a:r>
            <a:r>
              <a:rPr lang="de-DE" altLang="en-US" sz="2800">
                <a:latin typeface="PT Sans" panose="020B0503020203020204" charset="0"/>
                <a:cs typeface="PT Sans" panose="020B0503020203020204" charset="0"/>
              </a:rPr>
              <a:t>, </a:t>
            </a:r>
            <a:r>
              <a:rPr lang="en-US" altLang="en-US" sz="2800">
                <a:latin typeface="PT Sans" panose="020B0503020203020204" charset="0"/>
                <a:cs typeface="PT Sans" panose="020B0503020203020204" charset="0"/>
              </a:rPr>
              <a:t>maintain periodic sampling</a:t>
            </a:r>
            <a:r>
              <a:rPr lang="de-DE" altLang="en-US" sz="2800">
                <a:latin typeface="PT Sans" panose="020B0503020203020204" charset="0"/>
                <a:cs typeface="PT Sans" panose="020B0503020203020204" charset="0"/>
              </a:rPr>
              <a:t> and i</a:t>
            </a:r>
            <a:r>
              <a:rPr lang="en-US" altLang="en-US" sz="2800">
                <a:latin typeface="PT Sans" panose="020B0503020203020204" charset="0"/>
                <a:cs typeface="PT Sans" panose="020B0503020203020204" charset="0"/>
              </a:rPr>
              <a:t>mportant</a:t>
            </a:r>
            <a:r>
              <a:rPr lang="de-DE" altLang="en-US" sz="2800">
                <a:latin typeface="PT Sans" panose="020B0503020203020204" charset="0"/>
                <a:cs typeface="PT Sans" panose="020B0503020203020204" charset="0"/>
              </a:rPr>
              <a:t>ly p</a:t>
            </a:r>
            <a:r>
              <a:rPr lang="en-US" altLang="en-US" sz="2800">
                <a:latin typeface="PT Sans" panose="020B0503020203020204" charset="0"/>
                <a:cs typeface="PT Sans" panose="020B0503020203020204" charset="0"/>
              </a:rPr>
              <a:t>rovides soft real-time behavior on Linux.</a:t>
            </a:r>
            <a:endParaRPr lang="en-US" altLang="en-US" sz="2800">
              <a:latin typeface="PT Sans" panose="020B0503020203020204" charset="0"/>
              <a:cs typeface="PT Sans" panose="020B050302020302020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>
                <a:latin typeface="PT Sans" panose="020B0503020203020204" charset="0"/>
                <a:cs typeface="PT Sans" panose="020B0503020203020204" charset="0"/>
              </a:rPr>
              <a:t>Thread Shutdown</a:t>
            </a:r>
            <a:endParaRPr lang="en-US" altLang="en-US" b="1">
              <a:latin typeface="PT Sans" panose="020B0503020203020204" charset="0"/>
              <a:cs typeface="PT Sans" panose="020B050302020302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82520"/>
            <a:ext cx="4693285" cy="3743960"/>
          </a:xfrm>
        </p:spPr>
        <p:txBody>
          <a:bodyPr/>
          <a:p>
            <a:pPr>
              <a:buFont typeface="Wingdings" panose="05000000000000000000" charset="0"/>
              <a:buChar char=""/>
            </a:pPr>
            <a:r>
              <a:rPr lang="en-US" altLang="en-US" sz="2000">
                <a:latin typeface="PT Sans" panose="020B0503020203020204" charset="0"/>
                <a:cs typeface="PT Sans" panose="020B0503020203020204" charset="0"/>
              </a:rPr>
              <a:t>Termination initiated by server shutdown</a:t>
            </a:r>
            <a:r>
              <a:rPr lang="de-DE" altLang="en-US" sz="2000">
                <a:latin typeface="PT Sans" panose="020B0503020203020204" charset="0"/>
                <a:cs typeface="PT Sans" panose="020B0503020203020204" charset="0"/>
              </a:rPr>
              <a:t>, the m</a:t>
            </a:r>
            <a:r>
              <a:rPr lang="en-US" altLang="en-US" sz="2000">
                <a:latin typeface="PT Sans" panose="020B0503020203020204" charset="0"/>
                <a:cs typeface="PT Sans" panose="020B0503020203020204" charset="0"/>
              </a:rPr>
              <a:t>echanism</a:t>
            </a:r>
            <a:r>
              <a:rPr lang="de-DE" altLang="en-US" sz="2000">
                <a:latin typeface="PT Sans" panose="020B0503020203020204" charset="0"/>
                <a:cs typeface="PT Sans" panose="020B0503020203020204" charset="0"/>
              </a:rPr>
              <a:t> being </a:t>
            </a:r>
            <a:r>
              <a:rPr lang="en-US" altLang="en-US" sz="2000">
                <a:latin typeface="PT Sans" panose="020B0503020203020204" charset="0"/>
                <a:cs typeface="PT Sans" panose="020B0503020203020204" charset="0"/>
              </a:rPr>
              <a:t>global termination flag</a:t>
            </a:r>
            <a:r>
              <a:rPr lang="de-DE" altLang="en-US" sz="2000">
                <a:latin typeface="PT Sans" panose="020B0503020203020204" charset="0"/>
                <a:cs typeface="PT Sans" panose="020B0503020203020204" charset="0"/>
              </a:rPr>
              <a:t>.</a:t>
            </a:r>
            <a:endParaRPr lang="de-DE" altLang="en-US" sz="2000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endParaRPr lang="de-DE" altLang="en-US" sz="2000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r>
              <a:rPr lang="en-US" altLang="en-US" sz="2000">
                <a:latin typeface="PT Sans" panose="020B0503020203020204" charset="0"/>
                <a:cs typeface="PT Sans" panose="020B0503020203020204" charset="0"/>
              </a:rPr>
              <a:t>Shutdown steps:</a:t>
            </a:r>
            <a:r>
              <a:rPr lang="de-DE" altLang="en-US" sz="2000">
                <a:latin typeface="PT Sans" panose="020B0503020203020204" charset="0"/>
                <a:cs typeface="PT Sans" panose="020B0503020203020204" charset="0"/>
              </a:rPr>
              <a:t> F</a:t>
            </a:r>
            <a:r>
              <a:rPr lang="en-US" altLang="en-US" sz="2000">
                <a:latin typeface="PT Sans" panose="020B0503020203020204" charset="0"/>
                <a:cs typeface="PT Sans" panose="020B0503020203020204" charset="0"/>
              </a:rPr>
              <a:t>inish current cycle</a:t>
            </a:r>
            <a:r>
              <a:rPr lang="de-DE" altLang="en-US" sz="2000">
                <a:latin typeface="PT Sans" panose="020B0503020203020204" charset="0"/>
                <a:cs typeface="PT Sans" panose="020B0503020203020204" charset="0"/>
              </a:rPr>
              <a:t>, </a:t>
            </a:r>
            <a:r>
              <a:rPr lang="en-US" altLang="en-US" sz="2000">
                <a:latin typeface="PT Sans" panose="020B0503020203020204" charset="0"/>
                <a:cs typeface="PT Sans" panose="020B0503020203020204" charset="0"/>
              </a:rPr>
              <a:t>exit </a:t>
            </a:r>
            <a:r>
              <a:rPr lang="de-DE" altLang="en-US" sz="2000">
                <a:latin typeface="PT Sans" panose="020B0503020203020204" charset="0"/>
                <a:cs typeface="PT Sans" panose="020B0503020203020204" charset="0"/>
              </a:rPr>
              <a:t>the </a:t>
            </a:r>
            <a:r>
              <a:rPr lang="en-US" altLang="en-US" sz="2000">
                <a:latin typeface="PT Sans" panose="020B0503020203020204" charset="0"/>
                <a:cs typeface="PT Sans" panose="020B0503020203020204" charset="0"/>
              </a:rPr>
              <a:t>loop</a:t>
            </a:r>
            <a:r>
              <a:rPr lang="de-DE" altLang="en-US" sz="2000">
                <a:latin typeface="PT Sans" panose="020B0503020203020204" charset="0"/>
                <a:cs typeface="PT Sans" panose="020B0503020203020204" charset="0"/>
              </a:rPr>
              <a:t>, </a:t>
            </a:r>
            <a:r>
              <a:rPr lang="en-US" altLang="en-US" sz="2000">
                <a:latin typeface="PT Sans" panose="020B0503020203020204" charset="0"/>
                <a:cs typeface="PT Sans" panose="020B0503020203020204" charset="0"/>
              </a:rPr>
              <a:t>release resources</a:t>
            </a:r>
            <a:r>
              <a:rPr lang="de-DE" altLang="en-US" sz="2000">
                <a:latin typeface="PT Sans" panose="020B0503020203020204" charset="0"/>
                <a:cs typeface="PT Sans" panose="020B0503020203020204" charset="0"/>
              </a:rPr>
              <a:t> and </a:t>
            </a:r>
            <a:r>
              <a:rPr lang="en-US" altLang="en-US" sz="2000">
                <a:latin typeface="PT Sans" panose="020B0503020203020204" charset="0"/>
                <a:cs typeface="PT Sans" panose="020B0503020203020204" charset="0"/>
              </a:rPr>
              <a:t>terminate thread</a:t>
            </a:r>
            <a:r>
              <a:rPr lang="de-DE" altLang="en-US" sz="2000">
                <a:latin typeface="PT Sans" panose="020B0503020203020204" charset="0"/>
                <a:cs typeface="PT Sans" panose="020B0503020203020204" charset="0"/>
              </a:rPr>
              <a:t>.</a:t>
            </a:r>
            <a:endParaRPr lang="de-DE" altLang="en-US" sz="2000">
              <a:latin typeface="PT Sans" panose="020B0503020203020204" charset="0"/>
              <a:cs typeface="PT Sans" panose="020B050302020302020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  <p:pic>
        <p:nvPicPr>
          <p:cNvPr id="4" name="Picture 4" descr="Screenshot 2026-02-23 at 21.16.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7365" y="1600200"/>
            <a:ext cx="2312035" cy="44970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>
                <a:latin typeface="PT Sans" panose="020B0503020203020204" charset="0"/>
                <a:cs typeface="PT Sans" panose="020B0503020203020204" charset="0"/>
              </a:rPr>
              <a:t>ADC Acquisition</a:t>
            </a:r>
            <a:endParaRPr lang="en-US" altLang="en-US" b="1">
              <a:latin typeface="PT Sans" panose="020B0503020203020204" charset="0"/>
              <a:cs typeface="PT Sans" panose="020B050302020302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>
              <a:buFont typeface="Wingdings" panose="05000000000000000000" charset="0"/>
              <a:buChar char=""/>
            </a:pPr>
            <a:r>
              <a:rPr lang="en-US" altLang="en-US" sz="1800">
                <a:latin typeface="PT Sans" panose="020B0503020203020204" charset="0"/>
                <a:cs typeface="PT Sans" panose="020B0503020203020204" charset="0"/>
              </a:rPr>
              <a:t>ADC acquisition is executed directly inside the sensor thread loop.</a:t>
            </a:r>
            <a:endParaRPr lang="en-US" altLang="en-US" sz="1800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endParaRPr lang="en-US" altLang="en-US" sz="1800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r>
              <a:rPr lang="en-US" altLang="en-US" sz="1800">
                <a:latin typeface="PT Sans" panose="020B0503020203020204" charset="0"/>
                <a:cs typeface="PT Sans" panose="020B0503020203020204" charset="0"/>
              </a:rPr>
              <a:t>Key design choices</a:t>
            </a:r>
            <a:r>
              <a:rPr lang="de-DE" altLang="en-US" sz="1800">
                <a:latin typeface="PT Sans" panose="020B0503020203020204" charset="0"/>
                <a:cs typeface="PT Sans" panose="020B0503020203020204" charset="0"/>
              </a:rPr>
              <a:t> include: N</a:t>
            </a:r>
            <a:r>
              <a:rPr lang="en-US" altLang="en-US" sz="1800">
                <a:latin typeface="PT Sans" panose="020B0503020203020204" charset="0"/>
                <a:cs typeface="PT Sans" panose="020B0503020203020204" charset="0"/>
              </a:rPr>
              <a:t>o separate ADC thread</a:t>
            </a:r>
            <a:r>
              <a:rPr lang="de-DE" altLang="en-US" sz="1800">
                <a:latin typeface="PT Sans" panose="020B0503020203020204" charset="0"/>
                <a:cs typeface="PT Sans" panose="020B0503020203020204" charset="0"/>
              </a:rPr>
              <a:t>, n</a:t>
            </a:r>
            <a:r>
              <a:rPr lang="en-US" altLang="en-US" sz="1800">
                <a:latin typeface="PT Sans" panose="020B0503020203020204" charset="0"/>
                <a:cs typeface="PT Sans" panose="020B0503020203020204" charset="0"/>
              </a:rPr>
              <a:t>o external interrupt handling</a:t>
            </a:r>
            <a:r>
              <a:rPr lang="de-DE" altLang="en-US" sz="1800">
                <a:latin typeface="PT Sans" panose="020B0503020203020204" charset="0"/>
                <a:cs typeface="PT Sans" panose="020B0503020203020204" charset="0"/>
              </a:rPr>
              <a:t> and i</a:t>
            </a:r>
            <a:r>
              <a:rPr lang="en-US" altLang="en-US" sz="1800">
                <a:latin typeface="PT Sans" panose="020B0503020203020204" charset="0"/>
                <a:cs typeface="PT Sans" panose="020B0503020203020204" charset="0"/>
              </a:rPr>
              <a:t>ntegrated into deadline-driven scheduling</a:t>
            </a:r>
            <a:r>
              <a:rPr lang="de-DE" altLang="en-US" sz="1800">
                <a:latin typeface="PT Sans" panose="020B0503020203020204" charset="0"/>
                <a:cs typeface="PT Sans" panose="020B0503020203020204" charset="0"/>
              </a:rPr>
              <a:t>.</a:t>
            </a:r>
            <a:endParaRPr lang="de-DE" altLang="en-US" sz="1800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endParaRPr lang="de-DE" altLang="en-US" sz="1800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r>
              <a:rPr lang="en-US" altLang="en-US" sz="1800">
                <a:latin typeface="PT Sans" panose="020B0503020203020204" charset="0"/>
                <a:cs typeface="PT Sans" panose="020B0503020203020204" charset="0"/>
              </a:rPr>
              <a:t>ADC acquisition uses persistent state variables</a:t>
            </a:r>
            <a:r>
              <a:rPr lang="de-DE" altLang="en-US" sz="1800">
                <a:latin typeface="PT Sans" panose="020B0503020203020204" charset="0"/>
                <a:cs typeface="PT Sans" panose="020B0503020203020204" charset="0"/>
              </a:rPr>
              <a:t>.</a:t>
            </a:r>
            <a:endParaRPr lang="de-DE" altLang="en-US" sz="1800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endParaRPr lang="de-DE" altLang="en-US" sz="1800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endParaRPr lang="de-DE" altLang="en-US" sz="1800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endParaRPr lang="de-DE" altLang="en-US" sz="1800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r>
              <a:rPr lang="de-DE" altLang="en-US" sz="1800">
                <a:latin typeface="PT Sans" panose="020B0503020203020204" charset="0"/>
                <a:cs typeface="PT Sans" panose="020B0503020203020204" charset="0"/>
              </a:rPr>
              <a:t>These plays the role of storing </a:t>
            </a:r>
            <a:r>
              <a:rPr lang="en-US" altLang="en-US" sz="1800">
                <a:latin typeface="PT Sans" panose="020B0503020203020204" charset="0"/>
                <a:cs typeface="PT Sans" panose="020B0503020203020204" charset="0"/>
              </a:rPr>
              <a:t>timestamp of last ADC read</a:t>
            </a:r>
            <a:r>
              <a:rPr lang="de-DE" altLang="en-US" sz="1800">
                <a:latin typeface="PT Sans" panose="020B0503020203020204" charset="0"/>
                <a:cs typeface="PT Sans" panose="020B0503020203020204" charset="0"/>
              </a:rPr>
              <a:t>, </a:t>
            </a:r>
            <a:r>
              <a:rPr lang="en-US" altLang="en-US" sz="1800">
                <a:latin typeface="PT Sans" panose="020B0503020203020204" charset="0"/>
                <a:cs typeface="PT Sans" panose="020B0503020203020204" charset="0"/>
              </a:rPr>
              <a:t>cached ADC0 value</a:t>
            </a:r>
            <a:r>
              <a:rPr lang="de-DE" altLang="en-US" sz="1800">
                <a:latin typeface="PT Sans" panose="020B0503020203020204" charset="0"/>
                <a:cs typeface="PT Sans" panose="020B0503020203020204" charset="0"/>
              </a:rPr>
              <a:t> and </a:t>
            </a:r>
            <a:r>
              <a:rPr lang="en-US" altLang="en-US" sz="1800">
                <a:latin typeface="PT Sans" panose="020B0503020203020204" charset="0"/>
                <a:cs typeface="PT Sans" panose="020B0503020203020204" charset="0"/>
              </a:rPr>
              <a:t>cached ADC1 value</a:t>
            </a:r>
            <a:r>
              <a:rPr lang="de-DE" altLang="en-US" sz="1800">
                <a:latin typeface="PT Sans" panose="020B0503020203020204" charset="0"/>
                <a:cs typeface="PT Sans" panose="020B0503020203020204" charset="0"/>
              </a:rPr>
              <a:t>.</a:t>
            </a:r>
            <a:endParaRPr lang="de-DE" altLang="en-US" sz="1800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endParaRPr lang="de-DE" altLang="en-US" sz="1800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r>
              <a:rPr lang="de-DE" altLang="en-US" sz="1800">
                <a:latin typeface="PT Sans" panose="020B0503020203020204" charset="0"/>
                <a:cs typeface="PT Sans" panose="020B0503020203020204" charset="0"/>
              </a:rPr>
              <a:t>Being static </a:t>
            </a:r>
            <a:r>
              <a:rPr lang="en-US" altLang="en-US" sz="1800">
                <a:latin typeface="PT Sans" panose="020B0503020203020204" charset="0"/>
                <a:cs typeface="PT Sans" panose="020B0503020203020204" charset="0"/>
              </a:rPr>
              <a:t>allows state persistence across loop iterations.</a:t>
            </a:r>
            <a:endParaRPr lang="en-US" altLang="en-US" sz="1800">
              <a:latin typeface="PT Sans" panose="020B0503020203020204" charset="0"/>
              <a:cs typeface="PT Sans" panose="020B050302020302020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  <p:pic>
        <p:nvPicPr>
          <p:cNvPr id="6" name="Picture 5" descr="Screenshot 2026-03-15 at 13.46.3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7450" y="3652520"/>
            <a:ext cx="4150360" cy="8477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>
                <a:latin typeface="PT Sans" panose="020B0503020203020204" charset="0"/>
                <a:cs typeface="PT Sans" panose="020B0503020203020204" charset="0"/>
              </a:rPr>
              <a:t>ADC Handling</a:t>
            </a:r>
            <a:endParaRPr lang="en-US" altLang="en-US" b="1">
              <a:latin typeface="PT Sans" panose="020B0503020203020204" charset="0"/>
              <a:cs typeface="PT Sans" panose="020B050302020302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"/>
            </a:pPr>
            <a:r>
              <a:rPr lang="en-US" altLang="en-US" sz="2800">
                <a:latin typeface="PT Sans" panose="020B0503020203020204" charset="0"/>
                <a:cs typeface="PT Sans" panose="020B0503020203020204" charset="0"/>
              </a:rPr>
              <a:t>ADC </a:t>
            </a:r>
            <a:r>
              <a:rPr lang="de-DE" altLang="en-US" sz="2800">
                <a:latin typeface="PT Sans" panose="020B0503020203020204" charset="0"/>
                <a:cs typeface="PT Sans" panose="020B0503020203020204" charset="0"/>
              </a:rPr>
              <a:t>is </a:t>
            </a:r>
            <a:r>
              <a:rPr lang="en-US" altLang="en-US" sz="2800">
                <a:latin typeface="PT Sans" panose="020B0503020203020204" charset="0"/>
                <a:cs typeface="PT Sans" panose="020B0503020203020204" charset="0"/>
              </a:rPr>
              <a:t>handled inside the sensor switch block</a:t>
            </a:r>
            <a:r>
              <a:rPr lang="de-DE" altLang="en-US" sz="2800">
                <a:latin typeface="PT Sans" panose="020B0503020203020204" charset="0"/>
                <a:cs typeface="PT Sans" panose="020B0503020203020204" charset="0"/>
              </a:rPr>
              <a:t>, and is </a:t>
            </a:r>
            <a:r>
              <a:rPr lang="en-US" altLang="en-US" sz="2800">
                <a:latin typeface="PT Sans" panose="020B0503020203020204" charset="0"/>
                <a:cs typeface="PT Sans" panose="020B0503020203020204" charset="0"/>
              </a:rPr>
              <a:t>read only once per sampling cycle.</a:t>
            </a:r>
            <a:endParaRPr lang="en-US" altLang="en-US" sz="2800">
              <a:latin typeface="PT Sans" panose="020B0503020203020204" charset="0"/>
              <a:cs typeface="PT Sans" panose="020B050302020302020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  <p:pic>
        <p:nvPicPr>
          <p:cNvPr id="6" name="Picture 5" descr="Screenshot 2026-03-15 at 13.54.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8750" y="3075305"/>
            <a:ext cx="6286500" cy="2362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>
                <a:latin typeface="PT Sans" panose="020B0503020203020204" charset="0"/>
                <a:cs typeface="PT Sans" panose="020B0503020203020204" charset="0"/>
              </a:rPr>
              <a:t>Simulation Mode</a:t>
            </a:r>
            <a:endParaRPr lang="en-US" altLang="en-US" b="1">
              <a:latin typeface="PT Sans" panose="020B0503020203020204" charset="0"/>
              <a:cs typeface="PT Sans" panose="020B050302020302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"/>
            </a:pPr>
            <a:r>
              <a:rPr lang="en-US" altLang="en-US" sz="2800">
                <a:latin typeface="PT Sans" panose="020B0503020203020204" charset="0"/>
                <a:cs typeface="PT Sans" panose="020B0503020203020204" charset="0"/>
              </a:rPr>
              <a:t>When system runs in simulation</a:t>
            </a:r>
            <a:r>
              <a:rPr lang="de-DE" altLang="en-US" sz="2800">
                <a:latin typeface="PT Sans" panose="020B0503020203020204" charset="0"/>
                <a:cs typeface="PT Sans" panose="020B0503020203020204" charset="0"/>
              </a:rPr>
              <a:t>, it </a:t>
            </a:r>
            <a:r>
              <a:rPr lang="en-US" altLang="en-US" sz="2800">
                <a:latin typeface="PT Sans" panose="020B0503020203020204" charset="0"/>
                <a:cs typeface="PT Sans" panose="020B0503020203020204" charset="0"/>
              </a:rPr>
              <a:t>generates synthetic ADC signals</a:t>
            </a:r>
            <a:r>
              <a:rPr lang="de-DE" altLang="en-US" sz="2800">
                <a:latin typeface="PT Sans" panose="020B0503020203020204" charset="0"/>
                <a:cs typeface="PT Sans" panose="020B0503020203020204" charset="0"/>
              </a:rPr>
              <a:t>, </a:t>
            </a:r>
            <a:r>
              <a:rPr lang="en-US" altLang="en-US" sz="2800">
                <a:latin typeface="PT Sans" panose="020B0503020203020204" charset="0"/>
                <a:cs typeface="PT Sans" panose="020B0503020203020204" charset="0"/>
              </a:rPr>
              <a:t>writes both channels simultaneously</a:t>
            </a:r>
            <a:r>
              <a:rPr lang="de-DE" altLang="en-US" sz="2800">
                <a:latin typeface="PT Sans" panose="020B0503020203020204" charset="0"/>
                <a:cs typeface="PT Sans" panose="020B0503020203020204" charset="0"/>
              </a:rPr>
              <a:t> and provides </a:t>
            </a:r>
            <a:r>
              <a:rPr lang="en-US" altLang="en-US" sz="2800">
                <a:latin typeface="PT Sans" panose="020B0503020203020204" charset="0"/>
                <a:cs typeface="PT Sans" panose="020B0503020203020204" charset="0"/>
              </a:rPr>
              <a:t>identical interface to hardware mode</a:t>
            </a:r>
            <a:r>
              <a:rPr lang="de-DE" altLang="en-US" sz="2800">
                <a:latin typeface="PT Sans" panose="020B0503020203020204" charset="0"/>
                <a:cs typeface="PT Sans" panose="020B0503020203020204" charset="0"/>
              </a:rPr>
              <a:t>.</a:t>
            </a:r>
            <a:endParaRPr lang="en-US" altLang="en-US" sz="2800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endParaRPr lang="en-US" altLang="en-US" sz="2800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r>
              <a:rPr lang="en-US" altLang="en-US" sz="2800">
                <a:latin typeface="PT Sans" panose="020B0503020203020204" charset="0"/>
                <a:cs typeface="PT Sans" panose="020B0503020203020204" charset="0"/>
              </a:rPr>
              <a:t>Advantage</a:t>
            </a:r>
            <a:r>
              <a:rPr lang="de-DE" altLang="en-US" sz="2800">
                <a:latin typeface="PT Sans" panose="020B0503020203020204" charset="0"/>
                <a:cs typeface="PT Sans" panose="020B0503020203020204" charset="0"/>
              </a:rPr>
              <a:t>s: S</a:t>
            </a:r>
            <a:r>
              <a:rPr lang="en-US" altLang="en-US" sz="2800">
                <a:latin typeface="PT Sans" panose="020B0503020203020204" charset="0"/>
                <a:cs typeface="PT Sans" panose="020B0503020203020204" charset="0"/>
              </a:rPr>
              <a:t>cheduling logi</a:t>
            </a:r>
            <a:r>
              <a:rPr lang="de-DE" altLang="en-US" sz="2800">
                <a:latin typeface="PT Sans" panose="020B0503020203020204" charset="0"/>
                <a:cs typeface="PT Sans" panose="020B0503020203020204" charset="0"/>
              </a:rPr>
              <a:t>c, </a:t>
            </a:r>
            <a:r>
              <a:rPr lang="en-US" altLang="en-US" sz="2800">
                <a:latin typeface="PT Sans" panose="020B0503020203020204" charset="0"/>
                <a:cs typeface="PT Sans" panose="020B0503020203020204" charset="0"/>
              </a:rPr>
              <a:t>caching logic</a:t>
            </a:r>
            <a:r>
              <a:rPr lang="de-DE" altLang="en-US" sz="2800">
                <a:latin typeface="PT Sans" panose="020B0503020203020204" charset="0"/>
                <a:cs typeface="PT Sans" panose="020B0503020203020204" charset="0"/>
              </a:rPr>
              <a:t>, and </a:t>
            </a:r>
            <a:r>
              <a:rPr lang="en-US" altLang="en-US" sz="2800">
                <a:latin typeface="PT Sans" panose="020B0503020203020204" charset="0"/>
                <a:cs typeface="PT Sans" panose="020B0503020203020204" charset="0"/>
              </a:rPr>
              <a:t>buffering pipeline</a:t>
            </a:r>
            <a:r>
              <a:rPr lang="de-DE" altLang="en-US" sz="2800">
                <a:latin typeface="PT Sans" panose="020B0503020203020204" charset="0"/>
                <a:cs typeface="PT Sans" panose="020B0503020203020204" charset="0"/>
              </a:rPr>
              <a:t> </a:t>
            </a:r>
            <a:r>
              <a:rPr lang="en-US" altLang="en-US" sz="2800">
                <a:latin typeface="PT Sans" panose="020B0503020203020204" charset="0"/>
                <a:cs typeface="PT Sans" panose="020B0503020203020204" charset="0"/>
              </a:rPr>
              <a:t>without requiring real hardware.</a:t>
            </a:r>
            <a:endParaRPr lang="en-US" altLang="en-US" sz="2800">
              <a:latin typeface="PT Sans" panose="020B0503020203020204" charset="0"/>
              <a:cs typeface="PT Sans" panose="020B050302020302020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>
                <a:latin typeface="PT Sans" panose="020B0503020203020204" charset="0"/>
                <a:cs typeface="PT Sans" panose="020B0503020203020204" charset="0"/>
              </a:rPr>
              <a:t>Measurement Device Interface</a:t>
            </a:r>
            <a:endParaRPr lang="en-US" altLang="en-US" b="1">
              <a:latin typeface="PT Sans" panose="020B0503020203020204" charset="0"/>
              <a:cs typeface="PT Sans" panose="020B050302020302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"/>
            </a:pPr>
            <a:r>
              <a:rPr lang="en-US" altLang="en-US" sz="2400">
                <a:latin typeface="PT Sans" panose="020B0503020203020204" charset="0"/>
                <a:cs typeface="PT Sans" panose="020B0503020203020204" charset="0"/>
              </a:rPr>
              <a:t>Device interface:</a:t>
            </a:r>
            <a:r>
              <a:rPr lang="de-DE" altLang="en-US" sz="2400">
                <a:latin typeface="PT Sans" panose="020B0503020203020204" charset="0"/>
                <a:cs typeface="PT Sans" panose="020B0503020203020204" charset="0"/>
              </a:rPr>
              <a:t> </a:t>
            </a:r>
            <a:r>
              <a:rPr lang="en-US" altLang="en-US" sz="2400">
                <a:latin typeface="PT Sans" panose="020B0503020203020204" charset="0"/>
                <a:cs typeface="PT Sans" panose="020B0503020203020204" charset="0"/>
              </a:rPr>
              <a:t>/dev/meascdd</a:t>
            </a:r>
            <a:endParaRPr lang="en-US" altLang="en-US" sz="2400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endParaRPr lang="en-US" altLang="en-US" sz="2400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r>
              <a:rPr lang="en-US" altLang="en-US" sz="2400">
                <a:latin typeface="PT Sans" panose="020B0503020203020204" charset="0"/>
                <a:cs typeface="PT Sans" panose="020B0503020203020204" charset="0"/>
              </a:rPr>
              <a:t>Architecture:</a:t>
            </a:r>
            <a:r>
              <a:rPr lang="de-DE" altLang="en-US" sz="2400">
                <a:latin typeface="PT Sans" panose="020B0503020203020204" charset="0"/>
                <a:cs typeface="PT Sans" panose="020B0503020203020204" charset="0"/>
              </a:rPr>
              <a:t> </a:t>
            </a:r>
            <a:r>
              <a:rPr lang="en-US" altLang="en-US" sz="2400">
                <a:latin typeface="PT Sans" panose="020B0503020203020204" charset="0"/>
                <a:cs typeface="PT Sans" panose="020B0503020203020204" charset="0"/>
              </a:rPr>
              <a:t>Sensor Thread</a:t>
            </a:r>
            <a:r>
              <a:rPr lang="de-DE" altLang="en-US" sz="2400">
                <a:latin typeface="PT Sans" panose="020B0503020203020204" charset="0"/>
                <a:cs typeface="PT Sans" panose="020B0503020203020204" charset="0"/>
              </a:rPr>
              <a:t> - </a:t>
            </a:r>
            <a:r>
              <a:rPr lang="en-US" altLang="en-US" sz="2400">
                <a:latin typeface="PT Sans" panose="020B0503020203020204" charset="0"/>
                <a:cs typeface="PT Sans" panose="020B0503020203020204" charset="0"/>
              </a:rPr>
              <a:t>Linux Character Device</a:t>
            </a:r>
            <a:r>
              <a:rPr lang="de-DE" altLang="en-US" sz="2400">
                <a:latin typeface="PT Sans" panose="020B0503020203020204" charset="0"/>
                <a:cs typeface="PT Sans" panose="020B0503020203020204" charset="0"/>
              </a:rPr>
              <a:t> - </a:t>
            </a:r>
            <a:r>
              <a:rPr lang="en-US" altLang="en-US" sz="2400">
                <a:latin typeface="PT Sans" panose="020B0503020203020204" charset="0"/>
                <a:cs typeface="PT Sans" panose="020B0503020203020204" charset="0"/>
              </a:rPr>
              <a:t>Kernel Module</a:t>
            </a:r>
            <a:r>
              <a:rPr lang="de-DE" altLang="en-US" sz="2400">
                <a:latin typeface="PT Sans" panose="020B0503020203020204" charset="0"/>
                <a:cs typeface="PT Sans" panose="020B0503020203020204" charset="0"/>
              </a:rPr>
              <a:t> - </a:t>
            </a:r>
            <a:r>
              <a:rPr lang="en-US" altLang="en-US" sz="2400">
                <a:latin typeface="PT Sans" panose="020B0503020203020204" charset="0"/>
                <a:cs typeface="PT Sans" panose="020B0503020203020204" charset="0"/>
              </a:rPr>
              <a:t>FPGA Logic</a:t>
            </a:r>
            <a:endParaRPr lang="en-US" altLang="en-US" sz="2400">
              <a:latin typeface="PT Sans" panose="020B0503020203020204" charset="0"/>
              <a:cs typeface="PT Sans" panose="020B0503020203020204" charset="0"/>
            </a:endParaRPr>
          </a:p>
          <a:p>
            <a:pPr marL="0" indent="0">
              <a:buFont typeface="Wingdings" panose="05000000000000000000" charset="0"/>
              <a:buNone/>
            </a:pPr>
            <a:endParaRPr lang="en-US" altLang="en-US" sz="2400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r>
              <a:rPr lang="en-US" altLang="en-US" sz="2400">
                <a:latin typeface="PT Sans" panose="020B0503020203020204" charset="0"/>
                <a:cs typeface="PT Sans" panose="020B0503020203020204" charset="0"/>
              </a:rPr>
              <a:t>Both ADC channels are sampled in one hardware conversion cycle.</a:t>
            </a:r>
            <a:endParaRPr lang="en-US" altLang="en-US" sz="2400">
              <a:latin typeface="PT Sans" panose="020B0503020203020204" charset="0"/>
              <a:cs typeface="PT Sans" panose="020B050302020302020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  <p:pic>
        <p:nvPicPr>
          <p:cNvPr id="6" name="Picture 5" descr="Screenshot 2026-03-15 at 14.03.5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63900" y="4596130"/>
            <a:ext cx="2616200" cy="1397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>
                <a:latin typeface="PT Sans" panose="020B0503020203020204" charset="0"/>
                <a:cs typeface="PT Sans" panose="020B0503020203020204" charset="0"/>
              </a:rPr>
              <a:t>Conversion</a:t>
            </a:r>
            <a:r>
              <a:rPr lang="de-DE" altLang="en-US" b="1">
                <a:latin typeface="PT Sans" panose="020B0503020203020204" charset="0"/>
                <a:cs typeface="PT Sans" panose="020B0503020203020204" charset="0"/>
              </a:rPr>
              <a:t> and Extraction</a:t>
            </a:r>
            <a:endParaRPr lang="de-DE" altLang="en-US" b="1">
              <a:latin typeface="PT Sans" panose="020B0503020203020204" charset="0"/>
              <a:cs typeface="PT Sans" panose="020B050302020302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"/>
            </a:pPr>
            <a:r>
              <a:rPr lang="de-DE" altLang="en-US" sz="2400">
                <a:latin typeface="PT Sans" panose="020B0503020203020204" charset="0"/>
                <a:cs typeface="PT Sans" panose="020B0503020203020204" charset="0"/>
              </a:rPr>
              <a:t>Conversion procedure: </a:t>
            </a:r>
            <a:r>
              <a:rPr lang="en-US" altLang="en-US" sz="2400">
                <a:latin typeface="PT Sans" panose="020B0503020203020204" charset="0"/>
                <a:cs typeface="PT Sans" panose="020B0503020203020204" charset="0"/>
              </a:rPr>
              <a:t>Trigger conversion</a:t>
            </a:r>
            <a:r>
              <a:rPr lang="de-DE" altLang="en-US" sz="2400">
                <a:latin typeface="PT Sans" panose="020B0503020203020204" charset="0"/>
                <a:cs typeface="PT Sans" panose="020B0503020203020204" charset="0"/>
              </a:rPr>
              <a:t>, p</a:t>
            </a:r>
            <a:r>
              <a:rPr lang="en-US" altLang="en-US" sz="2400">
                <a:latin typeface="PT Sans" panose="020B0503020203020204" charset="0"/>
                <a:cs typeface="PT Sans" panose="020B0503020203020204" charset="0"/>
              </a:rPr>
              <a:t>oll conversion status</a:t>
            </a:r>
            <a:r>
              <a:rPr lang="de-DE" altLang="en-US" sz="2400">
                <a:latin typeface="PT Sans" panose="020B0503020203020204" charset="0"/>
                <a:cs typeface="PT Sans" panose="020B0503020203020204" charset="0"/>
              </a:rPr>
              <a:t> and r</a:t>
            </a:r>
            <a:r>
              <a:rPr lang="en-US" altLang="en-US" sz="2400">
                <a:latin typeface="PT Sans" panose="020B0503020203020204" charset="0"/>
                <a:cs typeface="PT Sans" panose="020B0503020203020204" charset="0"/>
              </a:rPr>
              <a:t>ead result register</a:t>
            </a:r>
            <a:r>
              <a:rPr lang="de-DE" altLang="en-US" sz="2400">
                <a:latin typeface="PT Sans" panose="020B0503020203020204" charset="0"/>
                <a:cs typeface="PT Sans" panose="020B0503020203020204" charset="0"/>
              </a:rPr>
              <a:t>.</a:t>
            </a:r>
            <a:endParaRPr lang="de-DE" altLang="en-US" sz="2400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endParaRPr lang="de-DE" altLang="en-US" sz="2400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r>
              <a:rPr lang="en-US" altLang="en-US" sz="2400">
                <a:latin typeface="PT Sans" panose="020B0503020203020204" charset="0"/>
                <a:cs typeface="PT Sans" panose="020B0503020203020204" charset="0"/>
              </a:rPr>
              <a:t>Both channels </a:t>
            </a:r>
            <a:r>
              <a:rPr lang="de-DE" altLang="en-US" sz="2400">
                <a:latin typeface="PT Sans" panose="020B0503020203020204" charset="0"/>
                <a:cs typeface="PT Sans" panose="020B0503020203020204" charset="0"/>
              </a:rPr>
              <a:t>are </a:t>
            </a:r>
            <a:r>
              <a:rPr lang="en-US" altLang="en-US" sz="2400">
                <a:latin typeface="PT Sans" panose="020B0503020203020204" charset="0"/>
                <a:cs typeface="PT Sans" panose="020B0503020203020204" charset="0"/>
              </a:rPr>
              <a:t>stored in one register</a:t>
            </a:r>
            <a:r>
              <a:rPr lang="de-DE" altLang="en-US" sz="2400">
                <a:latin typeface="PT Sans" panose="020B0503020203020204" charset="0"/>
                <a:cs typeface="PT Sans" panose="020B0503020203020204" charset="0"/>
              </a:rPr>
              <a:t> and </a:t>
            </a:r>
            <a:r>
              <a:rPr lang="en-US" altLang="en-US" sz="2400">
                <a:latin typeface="PT Sans" panose="020B0503020203020204" charset="0"/>
                <a:cs typeface="PT Sans" panose="020B0503020203020204" charset="0"/>
              </a:rPr>
              <a:t>acquired from a single hardware read.</a:t>
            </a:r>
            <a:endParaRPr lang="en-US" altLang="en-US" sz="2400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endParaRPr lang="en-US" altLang="en-US" sz="2400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r>
              <a:rPr lang="de-DE" altLang="en-US" sz="2400">
                <a:latin typeface="PT Sans" panose="020B0503020203020204" charset="0"/>
                <a:cs typeface="PT Sans" panose="020B0503020203020204" charset="0"/>
              </a:rPr>
              <a:t>The </a:t>
            </a:r>
            <a:r>
              <a:rPr lang="en-US" altLang="en-US" sz="2400">
                <a:latin typeface="PT Sans" panose="020B0503020203020204" charset="0"/>
                <a:cs typeface="PT Sans" panose="020B0503020203020204" charset="0"/>
              </a:rPr>
              <a:t>lower 12 bits	</a:t>
            </a:r>
            <a:r>
              <a:rPr lang="de-DE" altLang="en-US" sz="2400">
                <a:latin typeface="PT Sans" panose="020B0503020203020204" charset="0"/>
                <a:cs typeface="PT Sans" panose="020B0503020203020204" charset="0"/>
              </a:rPr>
              <a:t>are for </a:t>
            </a:r>
            <a:r>
              <a:rPr lang="en-US" altLang="en-US" sz="2400">
                <a:latin typeface="PT Sans" panose="020B0503020203020204" charset="0"/>
                <a:cs typeface="PT Sans" panose="020B0503020203020204" charset="0"/>
              </a:rPr>
              <a:t>ADC0</a:t>
            </a:r>
            <a:r>
              <a:rPr lang="de-DE" altLang="en-US" sz="2400">
                <a:latin typeface="PT Sans" panose="020B0503020203020204" charset="0"/>
                <a:cs typeface="PT Sans" panose="020B0503020203020204" charset="0"/>
              </a:rPr>
              <a:t> and the </a:t>
            </a:r>
            <a:r>
              <a:rPr lang="en-US" altLang="en-US" sz="2400">
                <a:latin typeface="PT Sans" panose="020B0503020203020204" charset="0"/>
                <a:cs typeface="PT Sans" panose="020B0503020203020204" charset="0"/>
              </a:rPr>
              <a:t>upper bits</a:t>
            </a:r>
            <a:r>
              <a:rPr lang="de-DE" altLang="en-US" sz="2400">
                <a:latin typeface="PT Sans" panose="020B0503020203020204" charset="0"/>
                <a:cs typeface="PT Sans" panose="020B0503020203020204" charset="0"/>
              </a:rPr>
              <a:t> are for </a:t>
            </a:r>
            <a:r>
              <a:rPr lang="en-US" altLang="en-US" sz="2400">
                <a:latin typeface="PT Sans" panose="020B0503020203020204" charset="0"/>
                <a:cs typeface="PT Sans" panose="020B0503020203020204" charset="0"/>
              </a:rPr>
              <a:t>ADC1</a:t>
            </a:r>
            <a:r>
              <a:rPr lang="de-DE" altLang="en-US" sz="2400">
                <a:latin typeface="PT Sans" panose="020B0503020203020204" charset="0"/>
                <a:cs typeface="PT Sans" panose="020B0503020203020204" charset="0"/>
              </a:rPr>
              <a:t>.</a:t>
            </a:r>
            <a:endParaRPr lang="de-DE" altLang="en-US" sz="2400">
              <a:latin typeface="PT Sans" panose="020B0503020203020204" charset="0"/>
              <a:cs typeface="PT Sans" panose="020B050302020302020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>
                <a:latin typeface="PT Sans" panose="020B0503020203020204" charset="0"/>
                <a:cs typeface="PT Sans" panose="020B0503020203020204" charset="0"/>
              </a:rPr>
              <a:t>Switch Inputs</a:t>
            </a:r>
            <a:endParaRPr lang="en-US" altLang="en-US" b="1">
              <a:latin typeface="PT Sans" panose="020B0503020203020204" charset="0"/>
              <a:cs typeface="PT Sans" panose="020B050302020302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"/>
            </a:pPr>
            <a:r>
              <a:rPr lang="en-US" altLang="en-US" sz="1800">
                <a:latin typeface="PT Sans" panose="020B0503020203020204" charset="0"/>
                <a:cs typeface="PT Sans" panose="020B0503020203020204" charset="0"/>
              </a:rPr>
              <a:t>ZedBoard slide switches provide persistent digital input states.</a:t>
            </a:r>
            <a:endParaRPr lang="en-US" altLang="en-US" sz="1800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endParaRPr lang="en-US" altLang="en-US" sz="1800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r>
              <a:rPr lang="de-DE" altLang="en-US" sz="1800">
                <a:latin typeface="PT Sans" panose="020B0503020203020204" charset="0"/>
                <a:cs typeface="PT Sans" panose="020B0503020203020204" charset="0"/>
              </a:rPr>
              <a:t>These have b</a:t>
            </a:r>
            <a:r>
              <a:rPr lang="en-US" altLang="en-US" sz="1800">
                <a:latin typeface="PT Sans" panose="020B0503020203020204" charset="0"/>
                <a:cs typeface="PT Sans" panose="020B0503020203020204" charset="0"/>
              </a:rPr>
              <a:t>inary states</a:t>
            </a:r>
            <a:r>
              <a:rPr lang="de-DE" altLang="en-US" sz="1800">
                <a:latin typeface="PT Sans" panose="020B0503020203020204" charset="0"/>
                <a:cs typeface="PT Sans" panose="020B0503020203020204" charset="0"/>
              </a:rPr>
              <a:t>, m</a:t>
            </a:r>
            <a:r>
              <a:rPr lang="en-US" altLang="en-US" sz="1800">
                <a:latin typeface="PT Sans" panose="020B0503020203020204" charset="0"/>
                <a:cs typeface="PT Sans" panose="020B0503020203020204" charset="0"/>
              </a:rPr>
              <a:t>aintain state until manually changed</a:t>
            </a:r>
            <a:r>
              <a:rPr lang="de-DE" altLang="en-US" sz="1800">
                <a:latin typeface="PT Sans" panose="020B0503020203020204" charset="0"/>
                <a:cs typeface="PT Sans" panose="020B0503020203020204" charset="0"/>
              </a:rPr>
              <a:t> and </a:t>
            </a:r>
            <a:r>
              <a:rPr lang="en-US" altLang="en-US" sz="1800">
                <a:latin typeface="PT Sans" panose="020B0503020203020204" charset="0"/>
                <a:cs typeface="PT Sans" panose="020B0503020203020204" charset="0"/>
              </a:rPr>
              <a:t>are treated as digital sensors.</a:t>
            </a:r>
            <a:endParaRPr lang="en-US" altLang="en-US" sz="1800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endParaRPr lang="en-US" altLang="en-US" sz="1800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r>
              <a:rPr lang="de-DE" altLang="en-US" sz="1800">
                <a:latin typeface="PT Sans" panose="020B0503020203020204" charset="0"/>
                <a:cs typeface="PT Sans" panose="020B0503020203020204" charset="0"/>
              </a:rPr>
              <a:t>H</a:t>
            </a:r>
            <a:r>
              <a:rPr lang="en-US" altLang="en-US" sz="1800">
                <a:latin typeface="PT Sans" panose="020B0503020203020204" charset="0"/>
                <a:cs typeface="PT Sans" panose="020B0503020203020204" charset="0"/>
              </a:rPr>
              <a:t>andled in the sensor </a:t>
            </a:r>
            <a:r>
              <a:rPr lang="de-DE" altLang="en-US" sz="1800">
                <a:latin typeface="PT Sans" panose="020B0503020203020204" charset="0"/>
                <a:cs typeface="PT Sans" panose="020B0503020203020204" charset="0"/>
              </a:rPr>
              <a:t>thread </a:t>
            </a:r>
            <a:r>
              <a:rPr lang="en-US" altLang="en-US" sz="1800">
                <a:latin typeface="PT Sans" panose="020B0503020203020204" charset="0"/>
                <a:cs typeface="PT Sans" panose="020B0503020203020204" charset="0"/>
              </a:rPr>
              <a:t>switch-case block.</a:t>
            </a:r>
            <a:endParaRPr lang="en-US" altLang="en-US" sz="1800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endParaRPr lang="en-US" altLang="en-US" sz="1800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r>
              <a:rPr lang="en-US" altLang="en-US" sz="1800">
                <a:latin typeface="PT Sans" panose="020B0503020203020204" charset="0"/>
                <a:cs typeface="PT Sans" panose="020B0503020203020204" charset="0"/>
              </a:rPr>
              <a:t>Trigger condition:</a:t>
            </a:r>
            <a:r>
              <a:rPr lang="de-DE" altLang="en-US" sz="1800">
                <a:latin typeface="PT Sans" panose="020B0503020203020204" charset="0"/>
                <a:cs typeface="PT Sans" panose="020B0503020203020204" charset="0"/>
              </a:rPr>
              <a:t> </a:t>
            </a:r>
            <a:r>
              <a:rPr lang="en-US" altLang="en-US" sz="1800">
                <a:latin typeface="PT Sans" panose="020B0503020203020204" charset="0"/>
                <a:cs typeface="PT Sans" panose="020B0503020203020204" charset="0"/>
              </a:rPr>
              <a:t>if (now &gt;= sensor_cfg[i].next_deadline)</a:t>
            </a:r>
            <a:endParaRPr lang="en-US" altLang="en-US" sz="1800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endParaRPr lang="en-US" altLang="en-US" sz="1800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r>
              <a:rPr lang="en-US" altLang="en-US" sz="1800">
                <a:latin typeface="PT Sans" panose="020B0503020203020204" charset="0"/>
                <a:cs typeface="PT Sans" panose="020B0503020203020204" charset="0"/>
              </a:rPr>
              <a:t>Polling </a:t>
            </a:r>
            <a:r>
              <a:rPr lang="de-DE" altLang="en-US" sz="1800">
                <a:latin typeface="PT Sans" panose="020B0503020203020204" charset="0"/>
                <a:cs typeface="PT Sans" panose="020B0503020203020204" charset="0"/>
              </a:rPr>
              <a:t>s</a:t>
            </a:r>
            <a:r>
              <a:rPr lang="en-US" altLang="en-US" sz="1800">
                <a:latin typeface="PT Sans" panose="020B0503020203020204" charset="0"/>
                <a:cs typeface="PT Sans" panose="020B0503020203020204" charset="0"/>
              </a:rPr>
              <a:t>trategy</a:t>
            </a:r>
            <a:r>
              <a:rPr lang="de-DE" altLang="en-US" sz="1800">
                <a:latin typeface="PT Sans" panose="020B0503020203020204" charset="0"/>
                <a:cs typeface="PT Sans" panose="020B0503020203020204" charset="0"/>
              </a:rPr>
              <a:t> is used as s</a:t>
            </a:r>
            <a:r>
              <a:rPr lang="en-US" altLang="en-US" sz="1800">
                <a:latin typeface="PT Sans" panose="020B0503020203020204" charset="0"/>
                <a:cs typeface="PT Sans" panose="020B0503020203020204" charset="0"/>
              </a:rPr>
              <a:t>witch states change infrequently, </a:t>
            </a:r>
            <a:r>
              <a:rPr lang="de-DE" altLang="en-US" sz="1800">
                <a:latin typeface="PT Sans" panose="020B0503020203020204" charset="0"/>
                <a:cs typeface="PT Sans" panose="020B0503020203020204" charset="0"/>
              </a:rPr>
              <a:t>hence </a:t>
            </a:r>
            <a:r>
              <a:rPr lang="en-US" altLang="en-US" sz="1800">
                <a:latin typeface="PT Sans" panose="020B0503020203020204" charset="0"/>
                <a:cs typeface="PT Sans" panose="020B0503020203020204" charset="0"/>
              </a:rPr>
              <a:t>interrupt-driven approach</a:t>
            </a:r>
            <a:r>
              <a:rPr lang="de-DE" altLang="en-US" sz="1800">
                <a:latin typeface="PT Sans" panose="020B0503020203020204" charset="0"/>
                <a:cs typeface="PT Sans" panose="020B0503020203020204" charset="0"/>
              </a:rPr>
              <a:t> is not favoured.</a:t>
            </a:r>
            <a:endParaRPr lang="de-DE" altLang="en-US" sz="1800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endParaRPr lang="en-US" altLang="en-US" sz="1800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r>
              <a:rPr lang="en-US" altLang="en-US" sz="1800">
                <a:latin typeface="PT Sans" panose="020B0503020203020204" charset="0"/>
                <a:cs typeface="PT Sans" panose="020B0503020203020204" charset="0"/>
              </a:rPr>
              <a:t>ADC </a:t>
            </a:r>
            <a:r>
              <a:rPr lang="en-US" altLang="en-US" sz="1800">
                <a:latin typeface="PT Sans" panose="020B0503020203020204" charset="0"/>
                <a:cs typeface="PT Sans" panose="020B0503020203020204" charset="0"/>
                <a:sym typeface="+mn-ea"/>
              </a:rPr>
              <a:t>acquisition </a:t>
            </a:r>
            <a:r>
              <a:rPr lang="en-US" altLang="en-US" sz="1800">
                <a:latin typeface="PT Sans" panose="020B0503020203020204" charset="0"/>
                <a:cs typeface="PT Sans" panose="020B0503020203020204" charset="0"/>
              </a:rPr>
              <a:t>remain</a:t>
            </a:r>
            <a:r>
              <a:rPr lang="de-DE" altLang="en-US" sz="1800">
                <a:latin typeface="PT Sans" panose="020B0503020203020204" charset="0"/>
                <a:cs typeface="PT Sans" panose="020B0503020203020204" charset="0"/>
              </a:rPr>
              <a:t>s</a:t>
            </a:r>
            <a:r>
              <a:rPr lang="en-US" altLang="en-US" sz="1800">
                <a:latin typeface="PT Sans" panose="020B0503020203020204" charset="0"/>
                <a:cs typeface="PT Sans" panose="020B0503020203020204" charset="0"/>
              </a:rPr>
              <a:t> unaffected because</a:t>
            </a:r>
            <a:r>
              <a:rPr lang="de-DE" altLang="en-US" sz="1800">
                <a:latin typeface="PT Sans" panose="020B0503020203020204" charset="0"/>
                <a:cs typeface="PT Sans" panose="020B0503020203020204" charset="0"/>
              </a:rPr>
              <a:t> </a:t>
            </a:r>
            <a:r>
              <a:rPr lang="en-US" altLang="en-US" sz="1800">
                <a:latin typeface="PT Sans" panose="020B0503020203020204" charset="0"/>
                <a:cs typeface="PT Sans" panose="020B0503020203020204" charset="0"/>
              </a:rPr>
              <a:t>switch read time &lt;&lt; ADC acquisition time</a:t>
            </a:r>
            <a:r>
              <a:rPr lang="de-DE" altLang="en-US" sz="1800">
                <a:latin typeface="PT Sans" panose="020B0503020203020204" charset="0"/>
                <a:cs typeface="PT Sans" panose="020B0503020203020204" charset="0"/>
              </a:rPr>
              <a:t>.</a:t>
            </a:r>
            <a:endParaRPr lang="de-DE" altLang="en-US" sz="1800">
              <a:latin typeface="PT Sans" panose="020B0503020203020204" charset="0"/>
              <a:cs typeface="PT Sans" panose="020B050302020302020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>
                <a:latin typeface="PT Sans" panose="020B0503020203020204" charset="0"/>
                <a:cs typeface="PT Sans" panose="020B0503020203020204" charset="0"/>
              </a:rPr>
              <a:t>Encoding</a:t>
            </a:r>
            <a:r>
              <a:rPr lang="de-DE" altLang="en-US" b="1">
                <a:latin typeface="PT Sans" panose="020B0503020203020204" charset="0"/>
                <a:cs typeface="PT Sans" panose="020B0503020203020204" charset="0"/>
              </a:rPr>
              <a:t> &amp; Data Flow</a:t>
            </a:r>
            <a:endParaRPr lang="de-DE" altLang="en-US" b="1">
              <a:latin typeface="PT Sans" panose="020B0503020203020204" charset="0"/>
              <a:cs typeface="PT Sans" panose="020B050302020302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"/>
            </a:pPr>
            <a:r>
              <a:rPr lang="de-DE" altLang="en-US">
                <a:latin typeface="PT Sans" panose="020B0503020203020204" charset="0"/>
                <a:cs typeface="PT Sans" panose="020B0503020203020204" charset="0"/>
              </a:rPr>
              <a:t>S</a:t>
            </a:r>
            <a:r>
              <a:rPr lang="en-US" altLang="en-US">
                <a:latin typeface="PT Sans" panose="020B0503020203020204" charset="0"/>
                <a:cs typeface="PT Sans" panose="020B0503020203020204" charset="0"/>
              </a:rPr>
              <a:t>tored as 8-bit bitfield</a:t>
            </a:r>
            <a:r>
              <a:rPr lang="de-DE" altLang="en-US">
                <a:latin typeface="Calibri" charset="0"/>
                <a:cs typeface="PT Sans" panose="020B0503020203020204" charset="0"/>
              </a:rPr>
              <a:t>.</a:t>
            </a:r>
            <a:endParaRPr lang="de-DE" altLang="en-US">
              <a:latin typeface="Calibri" charset="0"/>
              <a:cs typeface="PT Sans" panose="020B050302020302020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  <p:graphicFrame>
        <p:nvGraphicFramePr>
          <p:cNvPr id="6" name="Table 5"/>
          <p:cNvGraphicFramePr/>
          <p:nvPr/>
        </p:nvGraphicFramePr>
        <p:xfrm>
          <a:off x="985520" y="2371725"/>
          <a:ext cx="4389120" cy="281178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  <a:gridCol w="1463040"/>
              </a:tblGrid>
              <a:tr h="312420">
                <a:tc>
                  <a:txBody>
                    <a:bodyPr/>
                    <a:p>
                      <a:pPr marL="85725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 b="1" i="0">
                          <a:latin typeface="Times New Roman Bold" panose="02020503050405090304"/>
                          <a:ea typeface="等线"/>
                        </a:rPr>
                        <a:t>Switch Index</a:t>
                      </a:r>
                      <a:endParaRPr sz="1200" b="1" i="0">
                        <a:latin typeface="Times New Roman Bold" panose="02020503050405090304"/>
                        <a:ea typeface="等线"/>
                      </a:endParaRPr>
                    </a:p>
                  </a:txBody>
                  <a:tcPr marL="9525" marR="9525" marT="9525" marB="9525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 b="1" i="0">
                          <a:latin typeface="Times New Roman Bold" panose="02020503050405090304"/>
                          <a:ea typeface="等线"/>
                        </a:rPr>
                        <a:t>Bit Position</a:t>
                      </a:r>
                      <a:endParaRPr sz="1200" b="1" i="0">
                        <a:latin typeface="Times New Roman Bold" panose="02020503050405090304"/>
                        <a:ea typeface="等线"/>
                      </a:endParaRPr>
                    </a:p>
                  </a:txBody>
                  <a:tcPr marL="9525" marR="9525" marT="9525" marB="9525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 b="1" i="0">
                          <a:latin typeface="Times New Roman Bold" panose="02020503050405090304"/>
                          <a:ea typeface="等线"/>
                        </a:rPr>
                        <a:t>Description</a:t>
                      </a:r>
                      <a:endParaRPr sz="1200" b="1" i="0">
                        <a:latin typeface="Times New Roman Bold" panose="02020503050405090304"/>
                        <a:ea typeface="等线"/>
                      </a:endParaRPr>
                    </a:p>
                  </a:txBody>
                  <a:tcPr marL="9525" marR="9525" marT="9525" marB="9525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2420">
                <a:tc>
                  <a:txBody>
                    <a:bodyPr/>
                    <a:p>
                      <a:pPr marL="85725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 b="0" i="0">
                          <a:latin typeface="Times New Roman" panose="02020503050405090304"/>
                          <a:ea typeface="等线"/>
                        </a:rPr>
                        <a:t>SW0</a:t>
                      </a:r>
                      <a:endParaRPr sz="1200" b="0" i="0">
                        <a:latin typeface="Times New Roman" panose="02020503050405090304"/>
                        <a:ea typeface="等线"/>
                      </a:endParaRPr>
                    </a:p>
                  </a:txBody>
                  <a:tcPr marL="9525" marR="9525" marT="9525" marB="9525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 b="0" i="0">
                          <a:latin typeface="Times New Roman" panose="02020503050405090304"/>
                          <a:ea typeface="等线"/>
                        </a:rPr>
                        <a:t>Bit 0</a:t>
                      </a:r>
                      <a:endParaRPr sz="1200" b="0" i="0">
                        <a:latin typeface="Times New Roman" panose="02020503050405090304"/>
                        <a:ea typeface="等线"/>
                      </a:endParaRPr>
                    </a:p>
                  </a:txBody>
                  <a:tcPr marL="9525" marR="9525" marT="9525" marB="9525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 b="0" i="0">
                          <a:latin typeface="Times New Roman" panose="02020503050405090304"/>
                          <a:ea typeface="等线"/>
                        </a:rPr>
                        <a:t>Slide switch 0</a:t>
                      </a:r>
                      <a:endParaRPr sz="1200" b="0" i="0">
                        <a:latin typeface="Times New Roman" panose="02020503050405090304"/>
                        <a:ea typeface="等线"/>
                      </a:endParaRPr>
                    </a:p>
                  </a:txBody>
                  <a:tcPr marL="9525" marR="9525" marT="9525" marB="9525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2420">
                <a:tc>
                  <a:txBody>
                    <a:bodyPr/>
                    <a:p>
                      <a:pPr marL="85725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 b="0" i="0">
                          <a:latin typeface="Times New Roman" panose="02020503050405090304"/>
                          <a:ea typeface="等线"/>
                        </a:rPr>
                        <a:t>SW1</a:t>
                      </a:r>
                      <a:endParaRPr sz="1200" b="0" i="0">
                        <a:latin typeface="Times New Roman" panose="02020503050405090304"/>
                        <a:ea typeface="等线"/>
                      </a:endParaRPr>
                    </a:p>
                  </a:txBody>
                  <a:tcPr marL="9525" marR="9525" marT="9525" marB="9525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 b="0" i="0">
                          <a:latin typeface="Times New Roman" panose="02020503050405090304"/>
                          <a:ea typeface="等线"/>
                        </a:rPr>
                        <a:t>Bit 1</a:t>
                      </a:r>
                      <a:endParaRPr sz="1200" b="0" i="0">
                        <a:latin typeface="Times New Roman" panose="02020503050405090304"/>
                        <a:ea typeface="等线"/>
                      </a:endParaRPr>
                    </a:p>
                  </a:txBody>
                  <a:tcPr marL="9525" marR="9525" marT="9525" marB="9525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 b="0" i="0">
                          <a:latin typeface="Times New Roman" panose="02020503050405090304"/>
                          <a:ea typeface="等线"/>
                        </a:rPr>
                        <a:t>Slide switch 1</a:t>
                      </a:r>
                      <a:endParaRPr sz="1200" b="0" i="0">
                        <a:latin typeface="Times New Roman" panose="02020503050405090304"/>
                        <a:ea typeface="等线"/>
                      </a:endParaRPr>
                    </a:p>
                  </a:txBody>
                  <a:tcPr marL="9525" marR="9525" marT="9525" marB="9525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2420">
                <a:tc>
                  <a:txBody>
                    <a:bodyPr/>
                    <a:p>
                      <a:pPr marL="85725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 b="0" i="0">
                          <a:latin typeface="Times New Roman" panose="02020503050405090304"/>
                          <a:ea typeface="等线"/>
                        </a:rPr>
                        <a:t>SW2</a:t>
                      </a:r>
                      <a:endParaRPr sz="1200" b="0" i="0">
                        <a:latin typeface="Times New Roman" panose="02020503050405090304"/>
                        <a:ea typeface="等线"/>
                      </a:endParaRPr>
                    </a:p>
                  </a:txBody>
                  <a:tcPr marL="9525" marR="9525" marT="9525" marB="9525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 b="0" i="0">
                          <a:latin typeface="Times New Roman" panose="02020503050405090304"/>
                          <a:ea typeface="等线"/>
                        </a:rPr>
                        <a:t>Bit 2</a:t>
                      </a:r>
                      <a:endParaRPr sz="1200" b="0" i="0">
                        <a:latin typeface="Times New Roman" panose="02020503050405090304"/>
                        <a:ea typeface="等线"/>
                      </a:endParaRPr>
                    </a:p>
                  </a:txBody>
                  <a:tcPr marL="9525" marR="9525" marT="9525" marB="9525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 b="0" i="0">
                          <a:latin typeface="Times New Roman" panose="02020503050405090304"/>
                          <a:ea typeface="等线"/>
                        </a:rPr>
                        <a:t>Slide switch 2</a:t>
                      </a:r>
                      <a:endParaRPr sz="1200" b="0" i="0">
                        <a:latin typeface="Times New Roman" panose="02020503050405090304"/>
                        <a:ea typeface="等线"/>
                      </a:endParaRPr>
                    </a:p>
                  </a:txBody>
                  <a:tcPr marL="9525" marR="9525" marT="9525" marB="9525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2420">
                <a:tc>
                  <a:txBody>
                    <a:bodyPr/>
                    <a:p>
                      <a:pPr marL="85725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 b="0" i="0">
                          <a:latin typeface="Times New Roman" panose="02020503050405090304"/>
                          <a:ea typeface="等线"/>
                        </a:rPr>
                        <a:t>SW3</a:t>
                      </a:r>
                      <a:endParaRPr sz="1200" b="0" i="0">
                        <a:latin typeface="Times New Roman" panose="02020503050405090304"/>
                        <a:ea typeface="等线"/>
                      </a:endParaRPr>
                    </a:p>
                  </a:txBody>
                  <a:tcPr marL="9525" marR="9525" marT="9525" marB="9525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 b="0" i="0">
                          <a:latin typeface="Times New Roman" panose="02020503050405090304"/>
                          <a:ea typeface="等线"/>
                        </a:rPr>
                        <a:t>Bit 3</a:t>
                      </a:r>
                      <a:endParaRPr sz="1200" b="0" i="0">
                        <a:latin typeface="Times New Roman" panose="02020503050405090304"/>
                        <a:ea typeface="等线"/>
                      </a:endParaRPr>
                    </a:p>
                  </a:txBody>
                  <a:tcPr marL="9525" marR="9525" marT="9525" marB="9525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 b="0" i="0">
                          <a:latin typeface="Times New Roman" panose="02020503050405090304"/>
                          <a:ea typeface="等线"/>
                        </a:rPr>
                        <a:t>Slide switch 3</a:t>
                      </a:r>
                      <a:endParaRPr sz="1200" b="0" i="0">
                        <a:latin typeface="Times New Roman" panose="02020503050405090304"/>
                        <a:ea typeface="等线"/>
                      </a:endParaRPr>
                    </a:p>
                  </a:txBody>
                  <a:tcPr marL="9525" marR="9525" marT="9525" marB="9525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2420">
                <a:tc>
                  <a:txBody>
                    <a:bodyPr/>
                    <a:p>
                      <a:pPr marL="85725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 b="0" i="0">
                          <a:latin typeface="Times New Roman" panose="02020503050405090304"/>
                          <a:ea typeface="等线"/>
                        </a:rPr>
                        <a:t>SW4</a:t>
                      </a:r>
                      <a:endParaRPr sz="1200" b="0" i="0">
                        <a:latin typeface="Times New Roman" panose="02020503050405090304"/>
                        <a:ea typeface="等线"/>
                      </a:endParaRPr>
                    </a:p>
                  </a:txBody>
                  <a:tcPr marL="9525" marR="9525" marT="9525" marB="9525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 b="0" i="0">
                          <a:latin typeface="Times New Roman" panose="02020503050405090304"/>
                          <a:ea typeface="等线"/>
                        </a:rPr>
                        <a:t>Bit 4</a:t>
                      </a:r>
                      <a:endParaRPr sz="1200" b="0" i="0">
                        <a:latin typeface="Times New Roman" panose="02020503050405090304"/>
                        <a:ea typeface="等线"/>
                      </a:endParaRPr>
                    </a:p>
                  </a:txBody>
                  <a:tcPr marL="9525" marR="9525" marT="9525" marB="9525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 b="0" i="0">
                          <a:latin typeface="Times New Roman" panose="02020503050405090304"/>
                          <a:ea typeface="等线"/>
                        </a:rPr>
                        <a:t>Slide switch 4</a:t>
                      </a:r>
                      <a:endParaRPr sz="1200" b="0" i="0">
                        <a:latin typeface="Times New Roman" panose="02020503050405090304"/>
                        <a:ea typeface="等线"/>
                      </a:endParaRPr>
                    </a:p>
                  </a:txBody>
                  <a:tcPr marL="9525" marR="9525" marT="9525" marB="9525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2420">
                <a:tc>
                  <a:txBody>
                    <a:bodyPr/>
                    <a:p>
                      <a:pPr marL="85725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 b="0" i="0">
                          <a:latin typeface="Times New Roman" panose="02020503050405090304"/>
                          <a:ea typeface="等线"/>
                        </a:rPr>
                        <a:t>SW5</a:t>
                      </a:r>
                      <a:endParaRPr sz="1200" b="0" i="0">
                        <a:latin typeface="Times New Roman" panose="02020503050405090304"/>
                        <a:ea typeface="等线"/>
                      </a:endParaRPr>
                    </a:p>
                  </a:txBody>
                  <a:tcPr marL="9525" marR="9525" marT="9525" marB="9525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 b="0" i="0">
                          <a:latin typeface="Times New Roman" panose="02020503050405090304"/>
                          <a:ea typeface="等线"/>
                        </a:rPr>
                        <a:t>Bit 5</a:t>
                      </a:r>
                      <a:endParaRPr sz="1200" b="0" i="0">
                        <a:latin typeface="Times New Roman" panose="02020503050405090304"/>
                        <a:ea typeface="等线"/>
                      </a:endParaRPr>
                    </a:p>
                  </a:txBody>
                  <a:tcPr marL="9525" marR="9525" marT="9525" marB="9525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 b="0" i="0">
                          <a:latin typeface="Times New Roman" panose="02020503050405090304"/>
                          <a:ea typeface="等线"/>
                        </a:rPr>
                        <a:t>Slide switch 5</a:t>
                      </a:r>
                      <a:endParaRPr sz="1200" b="0" i="0">
                        <a:latin typeface="Times New Roman" panose="02020503050405090304"/>
                        <a:ea typeface="等线"/>
                      </a:endParaRPr>
                    </a:p>
                  </a:txBody>
                  <a:tcPr marL="9525" marR="9525" marT="9525" marB="9525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2420">
                <a:tc>
                  <a:txBody>
                    <a:bodyPr/>
                    <a:p>
                      <a:pPr marL="85725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 b="0" i="0">
                          <a:latin typeface="Times New Roman" panose="02020503050405090304"/>
                          <a:ea typeface="等线"/>
                        </a:rPr>
                        <a:t>SW6</a:t>
                      </a:r>
                      <a:endParaRPr sz="1200" b="0" i="0">
                        <a:latin typeface="Times New Roman" panose="02020503050405090304"/>
                        <a:ea typeface="等线"/>
                      </a:endParaRPr>
                    </a:p>
                  </a:txBody>
                  <a:tcPr marL="9525" marR="9525" marT="9525" marB="9525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 b="0" i="0">
                          <a:latin typeface="Times New Roman" panose="02020503050405090304"/>
                          <a:ea typeface="等线"/>
                        </a:rPr>
                        <a:t>Bit 6</a:t>
                      </a:r>
                      <a:endParaRPr sz="1200" b="0" i="0">
                        <a:latin typeface="Times New Roman" panose="02020503050405090304"/>
                        <a:ea typeface="等线"/>
                      </a:endParaRPr>
                    </a:p>
                  </a:txBody>
                  <a:tcPr marL="9525" marR="9525" marT="9525" marB="9525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 b="0" i="0">
                          <a:latin typeface="Times New Roman" panose="02020503050405090304"/>
                          <a:ea typeface="等线"/>
                        </a:rPr>
                        <a:t>Slide switch 6</a:t>
                      </a:r>
                      <a:endParaRPr sz="1200" b="0" i="0">
                        <a:latin typeface="Times New Roman" panose="02020503050405090304"/>
                        <a:ea typeface="等线"/>
                      </a:endParaRPr>
                    </a:p>
                  </a:txBody>
                  <a:tcPr marL="9525" marR="9525" marT="9525" marB="9525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2420">
                <a:tc>
                  <a:txBody>
                    <a:bodyPr/>
                    <a:p>
                      <a:pPr marL="85725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 b="0" i="0">
                          <a:latin typeface="Times New Roman" panose="02020503050405090304"/>
                          <a:ea typeface="等线"/>
                        </a:rPr>
                        <a:t>SW7</a:t>
                      </a:r>
                      <a:endParaRPr sz="1200" b="0" i="0">
                        <a:latin typeface="Times New Roman" panose="02020503050405090304"/>
                        <a:ea typeface="等线"/>
                      </a:endParaRPr>
                    </a:p>
                  </a:txBody>
                  <a:tcPr marL="9525" marR="9525" marT="9525" marB="9525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 b="0" i="0">
                          <a:latin typeface="Times New Roman" panose="02020503050405090304"/>
                          <a:ea typeface="等线"/>
                        </a:rPr>
                        <a:t>Bit 7</a:t>
                      </a:r>
                      <a:endParaRPr sz="1200" b="0" i="0">
                        <a:latin typeface="Times New Roman" panose="02020503050405090304"/>
                        <a:ea typeface="等线"/>
                      </a:endParaRPr>
                    </a:p>
                  </a:txBody>
                  <a:tcPr marL="9525" marR="9525" marT="9525" marB="9525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 b="0" i="0">
                          <a:latin typeface="Times New Roman" panose="02020503050405090304"/>
                          <a:ea typeface="等线"/>
                        </a:rPr>
                        <a:t>Slide switch 7</a:t>
                      </a:r>
                      <a:endParaRPr sz="1200" b="0" i="0">
                        <a:latin typeface="Times New Roman" panose="02020503050405090304"/>
                        <a:ea typeface="等线"/>
                      </a:endParaRPr>
                    </a:p>
                  </a:txBody>
                  <a:tcPr marL="9525" marR="9525" marT="9525" marB="9525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Text Box 6"/>
          <p:cNvSpPr txBox="1"/>
          <p:nvPr/>
        </p:nvSpPr>
        <p:spPr>
          <a:xfrm>
            <a:off x="640080" y="3595688"/>
            <a:ext cx="5080000" cy="2306955"/>
          </a:xfrm>
          <a:prstGeom prst="rect">
            <a:avLst/>
          </a:prstGeom>
        </p:spPr>
        <p:txBody>
          <a:bodyPr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sz="1200" b="0" i="0">
                <a:latin typeface="Times New Roman" panose="02020503050405090304"/>
                <a:ea typeface="等线"/>
              </a:rPr>
              <a:t> </a:t>
            </a:r>
            <a:endParaRPr sz="1200" b="0" i="0">
              <a:latin typeface="Times New Roman" panose="02020503050405090304"/>
              <a:ea typeface="等线"/>
            </a:endParaRPr>
          </a:p>
          <a:p>
            <a:pPr marL="0" indent="0" algn="ctr" defTabSz="266700">
              <a:spcBef>
                <a:spcPct val="0"/>
              </a:spcBef>
              <a:spcAft>
                <a:spcPct val="0"/>
              </a:spcAft>
            </a:pPr>
            <a:r>
              <a:rPr sz="1200" b="0" i="0">
                <a:latin typeface="Times New Roman" panose="02020503050405090304"/>
                <a:ea typeface="等线"/>
              </a:rPr>
              <a:t> </a:t>
            </a:r>
            <a:endParaRPr sz="1200" b="0" i="0">
              <a:latin typeface="Times New Roman" panose="02020503050405090304"/>
              <a:ea typeface="等线"/>
            </a:endParaRPr>
          </a:p>
          <a:p>
            <a:pPr marL="0" indent="0" algn="ctr" defTabSz="266700">
              <a:spcBef>
                <a:spcPct val="0"/>
              </a:spcBef>
              <a:spcAft>
                <a:spcPct val="0"/>
              </a:spcAft>
            </a:pPr>
            <a:r>
              <a:rPr sz="1200" b="0" i="0">
                <a:latin typeface="Times New Roman" panose="02020503050405090304"/>
                <a:ea typeface="等线"/>
              </a:rPr>
              <a:t> </a:t>
            </a:r>
            <a:endParaRPr sz="1200" b="0" i="0">
              <a:latin typeface="Times New Roman" panose="02020503050405090304"/>
              <a:ea typeface="等线"/>
            </a:endParaRPr>
          </a:p>
          <a:p>
            <a:pPr marL="0" indent="0" algn="ctr" defTabSz="266700">
              <a:spcBef>
                <a:spcPct val="0"/>
              </a:spcBef>
              <a:spcAft>
                <a:spcPct val="0"/>
              </a:spcAft>
            </a:pPr>
            <a:r>
              <a:rPr sz="1200" b="0" i="0">
                <a:latin typeface="Times New Roman" panose="02020503050405090304"/>
                <a:ea typeface="等线"/>
              </a:rPr>
              <a:t> </a:t>
            </a:r>
            <a:endParaRPr sz="1200" b="0" i="0">
              <a:latin typeface="Times New Roman" panose="02020503050405090304"/>
              <a:ea typeface="等线"/>
            </a:endParaRPr>
          </a:p>
          <a:p>
            <a:pPr marL="0" indent="0" algn="ctr" defTabSz="266700">
              <a:spcBef>
                <a:spcPct val="0"/>
              </a:spcBef>
              <a:spcAft>
                <a:spcPct val="0"/>
              </a:spcAft>
            </a:pPr>
            <a:r>
              <a:rPr sz="1200" b="0" i="0">
                <a:latin typeface="Times New Roman" panose="02020503050405090304"/>
                <a:ea typeface="等线"/>
              </a:rPr>
              <a:t> </a:t>
            </a:r>
            <a:endParaRPr sz="1200" b="0" i="0">
              <a:latin typeface="Times New Roman" panose="02020503050405090304"/>
              <a:ea typeface="等线"/>
            </a:endParaRPr>
          </a:p>
          <a:p>
            <a:pPr marL="0" indent="0" algn="ctr" defTabSz="266700">
              <a:spcBef>
                <a:spcPct val="0"/>
              </a:spcBef>
              <a:spcAft>
                <a:spcPct val="0"/>
              </a:spcAft>
            </a:pPr>
            <a:r>
              <a:rPr sz="1200" b="0" i="0">
                <a:latin typeface="Times New Roman" panose="02020503050405090304"/>
                <a:ea typeface="等线"/>
              </a:rPr>
              <a:t> </a:t>
            </a:r>
            <a:endParaRPr sz="1200" b="0" i="0">
              <a:latin typeface="Times New Roman" panose="02020503050405090304"/>
              <a:ea typeface="等线"/>
            </a:endParaRPr>
          </a:p>
          <a:p>
            <a:pPr marL="0" indent="0" algn="ctr" defTabSz="266700">
              <a:spcBef>
                <a:spcPct val="0"/>
              </a:spcBef>
              <a:spcAft>
                <a:spcPct val="0"/>
              </a:spcAft>
            </a:pPr>
            <a:r>
              <a:rPr sz="1200" b="0" i="0">
                <a:latin typeface="Times New Roman" panose="02020503050405090304"/>
                <a:ea typeface="等线"/>
              </a:rPr>
              <a:t> </a:t>
            </a:r>
            <a:endParaRPr sz="1200" b="0" i="0">
              <a:latin typeface="Times New Roman" panose="02020503050405090304"/>
              <a:ea typeface="等线"/>
            </a:endParaRPr>
          </a:p>
          <a:p>
            <a:pPr marL="0" indent="0" algn="ctr" defTabSz="266700">
              <a:spcBef>
                <a:spcPct val="0"/>
              </a:spcBef>
              <a:spcAft>
                <a:spcPct val="0"/>
              </a:spcAft>
            </a:pPr>
            <a:r>
              <a:rPr sz="1200" b="0" i="0">
                <a:latin typeface="Times New Roman" panose="02020503050405090304"/>
                <a:ea typeface="等线"/>
              </a:rPr>
              <a:t> </a:t>
            </a:r>
            <a:endParaRPr sz="1200" b="0" i="0">
              <a:latin typeface="Times New Roman" panose="02020503050405090304"/>
              <a:ea typeface="等线"/>
            </a:endParaRPr>
          </a:p>
          <a:p>
            <a:pPr marL="0" indent="0" algn="ctr" defTabSz="266700">
              <a:spcBef>
                <a:spcPct val="0"/>
              </a:spcBef>
              <a:spcAft>
                <a:spcPct val="0"/>
              </a:spcAft>
            </a:pPr>
            <a:r>
              <a:rPr sz="1200" b="0" i="0">
                <a:latin typeface="Times New Roman" panose="02020503050405090304"/>
                <a:ea typeface="等线"/>
              </a:rPr>
              <a:t> </a:t>
            </a:r>
            <a:endParaRPr sz="1200" b="0" i="0">
              <a:latin typeface="Times New Roman" panose="02020503050405090304"/>
              <a:ea typeface="等线"/>
            </a:endParaRPr>
          </a:p>
          <a:p>
            <a:pPr marL="0" indent="0" algn="ctr" defTabSz="266700">
              <a:spcBef>
                <a:spcPct val="0"/>
              </a:spcBef>
              <a:spcAft>
                <a:spcPct val="0"/>
              </a:spcAft>
            </a:pPr>
            <a:r>
              <a:rPr sz="1200" b="0" i="0">
                <a:latin typeface="Times New Roman" panose="02020503050405090304"/>
                <a:ea typeface="等线"/>
              </a:rPr>
              <a:t> </a:t>
            </a:r>
            <a:endParaRPr sz="1200" b="0" i="0">
              <a:latin typeface="Times New Roman" panose="02020503050405090304"/>
              <a:ea typeface="等线"/>
            </a:endParaRPr>
          </a:p>
          <a:p>
            <a:pPr marL="0" indent="0" algn="ctr" defTabSz="266700">
              <a:spcBef>
                <a:spcPct val="0"/>
              </a:spcBef>
              <a:spcAft>
                <a:spcPct val="0"/>
              </a:spcAft>
            </a:pPr>
            <a:r>
              <a:rPr sz="1200" b="0" i="0">
                <a:latin typeface="Times New Roman" panose="02020503050405090304"/>
                <a:ea typeface="等线"/>
              </a:rPr>
              <a:t> </a:t>
            </a:r>
            <a:endParaRPr sz="1200" b="0" i="0">
              <a:latin typeface="Times New Roman" panose="02020503050405090304"/>
              <a:ea typeface="等线"/>
            </a:endParaRPr>
          </a:p>
          <a:p>
            <a:pPr marL="0" indent="0" algn="ctr" defTabSz="266700">
              <a:spcBef>
                <a:spcPct val="0"/>
              </a:spcBef>
              <a:spcAft>
                <a:spcPct val="0"/>
              </a:spcAft>
            </a:pPr>
            <a:r>
              <a:rPr sz="1200" b="0" i="0">
                <a:latin typeface="Times New Roman" panose="02020503050405090304"/>
                <a:ea typeface="等线"/>
              </a:rPr>
              <a:t> </a:t>
            </a:r>
            <a:endParaRPr sz="1200" b="0" i="0">
              <a:latin typeface="Times New Roman" panose="02020503050405090304"/>
              <a:ea typeface="等线"/>
            </a:endParaRPr>
          </a:p>
        </p:txBody>
      </p:sp>
      <p:pic>
        <p:nvPicPr>
          <p:cNvPr id="4" name="Picture 6" descr="Screenshot 2026-02-24 at 07.54.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3235" y="1888490"/>
            <a:ext cx="1440815" cy="362394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>
                <a:latin typeface="PT Sans" panose="020B0503020203020204" charset="0"/>
                <a:cs typeface="PT Sans" panose="020B0503020203020204" charset="0"/>
              </a:rPr>
              <a:t>Utility Layer</a:t>
            </a:r>
            <a:endParaRPr lang="en-US" altLang="en-US" b="1">
              <a:latin typeface="PT Sans" panose="020B0503020203020204" charset="0"/>
              <a:cs typeface="PT Sans" panose="020B050302020302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23975"/>
            <a:ext cx="8229600" cy="5022850"/>
          </a:xfrm>
        </p:spPr>
        <p:txBody>
          <a:bodyPr>
            <a:noAutofit/>
          </a:bodyPr>
          <a:p>
            <a:pPr>
              <a:buFont typeface="Wingdings" panose="05000000000000000000" charset="0"/>
              <a:buChar char=""/>
            </a:pPr>
            <a:r>
              <a:rPr lang="de-DE" altLang="en-US" sz="2200">
                <a:latin typeface="PT Sans" panose="020B0503020203020204" charset="0"/>
                <a:cs typeface="PT Sans" panose="020B0503020203020204" charset="0"/>
              </a:rPr>
              <a:t>It </a:t>
            </a:r>
            <a:r>
              <a:rPr lang="en-US" altLang="en-US" sz="2200">
                <a:latin typeface="PT Sans" panose="020B0503020203020204" charset="0"/>
                <a:cs typeface="PT Sans" panose="020B0503020203020204" charset="0"/>
              </a:rPr>
              <a:t>provides</a:t>
            </a:r>
            <a:r>
              <a:rPr lang="de-DE" altLang="en-US" sz="2200">
                <a:latin typeface="PT Sans" panose="020B0503020203020204" charset="0"/>
                <a:cs typeface="PT Sans" panose="020B0503020203020204" charset="0"/>
              </a:rPr>
              <a:t> </a:t>
            </a:r>
            <a:r>
              <a:rPr lang="en-US" altLang="en-US" sz="2200">
                <a:latin typeface="PT Sans" panose="020B0503020203020204" charset="0"/>
                <a:cs typeface="PT Sans" panose="020B0503020203020204" charset="0"/>
              </a:rPr>
              <a:t>hardware abstraction</a:t>
            </a:r>
            <a:r>
              <a:rPr lang="de-DE" altLang="en-US" sz="2200">
                <a:latin typeface="PT Sans" panose="020B0503020203020204" charset="0"/>
                <a:cs typeface="PT Sans" panose="020B0503020203020204" charset="0"/>
              </a:rPr>
              <a:t>, </a:t>
            </a:r>
            <a:r>
              <a:rPr lang="en-US" altLang="en-US" sz="2200">
                <a:latin typeface="PT Sans" panose="020B0503020203020204" charset="0"/>
                <a:cs typeface="PT Sans" panose="020B0503020203020204" charset="0"/>
              </a:rPr>
              <a:t>timing </a:t>
            </a:r>
            <a:r>
              <a:rPr lang="de-DE" sz="2200">
                <a:latin typeface="PT Sans" panose="020B0503020203020204" charset="0"/>
                <a:cs typeface="PT Sans" panose="020B0503020203020204" charset="0"/>
              </a:rPr>
              <a:t>functions </a:t>
            </a:r>
            <a:r>
              <a:rPr lang="de-DE" altLang="en-US" sz="2200">
                <a:latin typeface="PT Sans" panose="020B0503020203020204" charset="0"/>
                <a:cs typeface="PT Sans" panose="020B0503020203020204" charset="0"/>
              </a:rPr>
              <a:t>and </a:t>
            </a:r>
            <a:r>
              <a:rPr lang="en-US" altLang="en-US" sz="2200">
                <a:latin typeface="PT Sans" panose="020B0503020203020204" charset="0"/>
                <a:cs typeface="PT Sans" panose="020B0503020203020204" charset="0"/>
              </a:rPr>
              <a:t>low-level device communication</a:t>
            </a:r>
            <a:r>
              <a:rPr lang="de-DE" altLang="en-US" sz="2200">
                <a:latin typeface="PT Sans" panose="020B0503020203020204" charset="0"/>
                <a:cs typeface="PT Sans" panose="020B0503020203020204" charset="0"/>
              </a:rPr>
              <a:t>.</a:t>
            </a:r>
            <a:endParaRPr lang="de-DE" altLang="en-US" sz="2200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r>
              <a:rPr lang="de-DE" altLang="en-US" sz="2200">
                <a:latin typeface="PT Sans" panose="020B0503020203020204" charset="0"/>
                <a:cs typeface="PT Sans" panose="020B0503020203020204" charset="0"/>
              </a:rPr>
              <a:t>H</a:t>
            </a:r>
            <a:r>
              <a:rPr lang="en-US" altLang="en-US" sz="2200">
                <a:latin typeface="PT Sans" panose="020B0503020203020204" charset="0"/>
                <a:cs typeface="PT Sans" panose="020B0503020203020204" charset="0"/>
              </a:rPr>
              <a:t>ardware interaction</a:t>
            </a:r>
            <a:r>
              <a:rPr lang="de-DE" altLang="en-US" sz="2200">
                <a:latin typeface="PT Sans" panose="020B0503020203020204" charset="0"/>
                <a:cs typeface="PT Sans" panose="020B0503020203020204" charset="0"/>
              </a:rPr>
              <a:t>s</a:t>
            </a:r>
            <a:r>
              <a:rPr lang="en-US" altLang="en-US" sz="2200">
                <a:latin typeface="PT Sans" panose="020B0503020203020204" charset="0"/>
                <a:cs typeface="PT Sans" panose="020B0503020203020204" charset="0"/>
              </a:rPr>
              <a:t> occurs through utility functions.</a:t>
            </a:r>
            <a:endParaRPr lang="en-US" altLang="en-US" sz="2200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endParaRPr lang="en-US" altLang="en-US" sz="2200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endParaRPr lang="en-US" altLang="en-US" sz="2200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r>
              <a:rPr lang="de-DE" altLang="en-US" sz="2200">
                <a:latin typeface="PT Sans" panose="020B0503020203020204" charset="0"/>
                <a:cs typeface="PT Sans" panose="020B0503020203020204" charset="0"/>
              </a:rPr>
              <a:t>It also </a:t>
            </a:r>
            <a:r>
              <a:rPr lang="en-US" altLang="en-US" sz="2200">
                <a:latin typeface="PT Sans" panose="020B0503020203020204" charset="0"/>
                <a:cs typeface="PT Sans" panose="020B0503020203020204" charset="0"/>
              </a:rPr>
              <a:t>handles</a:t>
            </a:r>
            <a:r>
              <a:rPr lang="de-DE" altLang="en-US" sz="2200">
                <a:latin typeface="PT Sans" panose="020B0503020203020204" charset="0"/>
                <a:cs typeface="PT Sans" panose="020B0503020203020204" charset="0"/>
              </a:rPr>
              <a:t> </a:t>
            </a:r>
            <a:r>
              <a:rPr lang="en-US" altLang="en-US" sz="2200">
                <a:latin typeface="PT Sans" panose="020B0503020203020204" charset="0"/>
                <a:cs typeface="PT Sans" panose="020B0503020203020204" charset="0"/>
              </a:rPr>
              <a:t>register numbers</a:t>
            </a:r>
            <a:r>
              <a:rPr lang="de-DE" altLang="en-US" sz="2200">
                <a:latin typeface="PT Sans" panose="020B0503020203020204" charset="0"/>
                <a:cs typeface="PT Sans" panose="020B0503020203020204" charset="0"/>
              </a:rPr>
              <a:t>, </a:t>
            </a:r>
            <a:r>
              <a:rPr lang="en-US" altLang="en-US" sz="2200">
                <a:latin typeface="PT Sans" panose="020B0503020203020204" charset="0"/>
                <a:cs typeface="PT Sans" panose="020B0503020203020204" charset="0"/>
              </a:rPr>
              <a:t>device communication</a:t>
            </a:r>
            <a:r>
              <a:rPr lang="de-DE" altLang="en-US" sz="2200">
                <a:latin typeface="PT Sans" panose="020B0503020203020204" charset="0"/>
                <a:cs typeface="PT Sans" panose="020B0503020203020204" charset="0"/>
              </a:rPr>
              <a:t> and </a:t>
            </a:r>
            <a:r>
              <a:rPr lang="en-US" altLang="en-US" sz="2200">
                <a:latin typeface="PT Sans" panose="020B0503020203020204" charset="0"/>
                <a:cs typeface="PT Sans" panose="020B0503020203020204" charset="0"/>
              </a:rPr>
              <a:t>kernel interface</a:t>
            </a:r>
            <a:r>
              <a:rPr lang="de-DE" altLang="en-US" sz="2200">
                <a:latin typeface="PT Sans" panose="020B0503020203020204" charset="0"/>
                <a:cs typeface="PT Sans" panose="020B0503020203020204" charset="0"/>
              </a:rPr>
              <a:t>.</a:t>
            </a:r>
            <a:endParaRPr lang="de-DE" altLang="en-US" sz="2200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r>
              <a:rPr lang="de-DE" altLang="en-US" sz="2200">
                <a:latin typeface="PT Sans" panose="020B0503020203020204" charset="0"/>
                <a:cs typeface="PT Sans" panose="020B0503020203020204" charset="0"/>
              </a:rPr>
              <a:t>It </a:t>
            </a:r>
            <a:r>
              <a:rPr lang="en-US" altLang="en-US" sz="2200">
                <a:latin typeface="PT Sans" panose="020B0503020203020204" charset="0"/>
                <a:cs typeface="PT Sans" panose="020B0503020203020204" charset="0"/>
              </a:rPr>
              <a:t>provides centralized </a:t>
            </a:r>
            <a:r>
              <a:rPr lang="de-DE" altLang="en-US" sz="2200">
                <a:latin typeface="PT Sans" panose="020B0503020203020204" charset="0"/>
                <a:cs typeface="PT Sans" panose="020B0503020203020204" charset="0"/>
              </a:rPr>
              <a:t>monotonic </a:t>
            </a:r>
            <a:r>
              <a:rPr lang="en-US" altLang="en-US" sz="2200">
                <a:latin typeface="PT Sans" panose="020B0503020203020204" charset="0"/>
                <a:cs typeface="PT Sans" panose="020B0503020203020204" charset="0"/>
              </a:rPr>
              <a:t>timing functions</a:t>
            </a:r>
            <a:r>
              <a:rPr lang="de-DE" altLang="en-US" sz="2200">
                <a:latin typeface="PT Sans" panose="020B0503020203020204" charset="0"/>
                <a:cs typeface="PT Sans" panose="020B0503020203020204" charset="0"/>
              </a:rPr>
              <a:t>, thereby providing </a:t>
            </a:r>
            <a:r>
              <a:rPr lang="en-US" altLang="en-US" sz="2200">
                <a:latin typeface="PT Sans" panose="020B0503020203020204" charset="0"/>
                <a:cs typeface="PT Sans" panose="020B0503020203020204" charset="0"/>
              </a:rPr>
              <a:t>system clock adjustments</a:t>
            </a:r>
            <a:r>
              <a:rPr lang="de-DE" altLang="en-US" sz="2200">
                <a:latin typeface="PT Sans" panose="020B0503020203020204" charset="0"/>
                <a:cs typeface="PT Sans" panose="020B0503020203020204" charset="0"/>
              </a:rPr>
              <a:t>, avoiding </a:t>
            </a:r>
            <a:r>
              <a:rPr lang="en-US" altLang="en-US" sz="2200">
                <a:latin typeface="PT Sans" panose="020B0503020203020204" charset="0"/>
                <a:cs typeface="PT Sans" panose="020B0503020203020204" charset="0"/>
              </a:rPr>
              <a:t>timestamp drift</a:t>
            </a:r>
            <a:r>
              <a:rPr lang="de-DE" altLang="en-US" sz="2200">
                <a:latin typeface="PT Sans" panose="020B0503020203020204" charset="0"/>
                <a:cs typeface="PT Sans" panose="020B0503020203020204" charset="0"/>
              </a:rPr>
              <a:t> and </a:t>
            </a:r>
            <a:r>
              <a:rPr lang="en-US" altLang="en-US" sz="2200">
                <a:latin typeface="PT Sans" panose="020B0503020203020204" charset="0"/>
                <a:cs typeface="PT Sans" panose="020B0503020203020204" charset="0"/>
              </a:rPr>
              <a:t>inconsistent timing</a:t>
            </a:r>
            <a:r>
              <a:rPr lang="de-DE" altLang="en-US" sz="2200">
                <a:latin typeface="PT Sans" panose="020B0503020203020204" charset="0"/>
                <a:cs typeface="PT Sans" panose="020B0503020203020204" charset="0"/>
              </a:rPr>
              <a:t>. </a:t>
            </a:r>
            <a:r>
              <a:rPr lang="en-US" altLang="en-US" sz="2200">
                <a:latin typeface="PT Sans" panose="020B0503020203020204" charset="0"/>
                <a:cs typeface="PT Sans" panose="020B0503020203020204" charset="0"/>
              </a:rPr>
              <a:t>All sensors share the same timestamp reference</a:t>
            </a:r>
            <a:r>
              <a:rPr lang="de-DE" altLang="en-US" sz="2200">
                <a:latin typeface="PT Sans" panose="020B0503020203020204" charset="0"/>
                <a:cs typeface="PT Sans" panose="020B0503020203020204" charset="0"/>
              </a:rPr>
              <a:t>. </a:t>
            </a:r>
            <a:endParaRPr lang="de-DE" altLang="en-US" sz="2200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r>
              <a:rPr lang="de-DE" altLang="en-US" sz="2200">
                <a:latin typeface="PT Sans" panose="020B0503020203020204" charset="0"/>
                <a:cs typeface="PT Sans" panose="020B0503020203020204" charset="0"/>
              </a:rPr>
              <a:t>it gives d</a:t>
            </a:r>
            <a:r>
              <a:rPr lang="en-US" altLang="en-US" sz="2200">
                <a:latin typeface="PT Sans" panose="020B0503020203020204" charset="0"/>
                <a:cs typeface="PT Sans" panose="020B0503020203020204" charset="0"/>
              </a:rPr>
              <a:t>esign </a:t>
            </a:r>
            <a:r>
              <a:rPr lang="de-DE" altLang="en-US" sz="2200">
                <a:latin typeface="PT Sans" panose="020B0503020203020204" charset="0"/>
                <a:cs typeface="PT Sans" panose="020B0503020203020204" charset="0"/>
              </a:rPr>
              <a:t>b</a:t>
            </a:r>
            <a:r>
              <a:rPr lang="en-US" altLang="en-US" sz="2200">
                <a:latin typeface="PT Sans" panose="020B0503020203020204" charset="0"/>
                <a:cs typeface="PT Sans" panose="020B0503020203020204" charset="0"/>
              </a:rPr>
              <a:t>enefit</a:t>
            </a:r>
            <a:r>
              <a:rPr lang="de-DE" altLang="en-US" sz="2200">
                <a:latin typeface="PT Sans" panose="020B0503020203020204" charset="0"/>
                <a:cs typeface="PT Sans" panose="020B0503020203020204" charset="0"/>
              </a:rPr>
              <a:t>s such as </a:t>
            </a:r>
            <a:r>
              <a:rPr lang="en-US" altLang="en-US" sz="2200">
                <a:latin typeface="PT Sans" panose="020B0503020203020204" charset="0"/>
                <a:cs typeface="PT Sans" panose="020B0503020203020204" charset="0"/>
              </a:rPr>
              <a:t>modular architecture</a:t>
            </a:r>
            <a:r>
              <a:rPr lang="de-DE" altLang="en-US" sz="2200">
                <a:latin typeface="PT Sans" panose="020B0503020203020204" charset="0"/>
                <a:cs typeface="PT Sans" panose="020B0503020203020204" charset="0"/>
              </a:rPr>
              <a:t>, </a:t>
            </a:r>
            <a:r>
              <a:rPr lang="en-US" altLang="en-US" sz="2200">
                <a:latin typeface="PT Sans" panose="020B0503020203020204" charset="0"/>
                <a:cs typeface="PT Sans" panose="020B0503020203020204" charset="0"/>
              </a:rPr>
              <a:t>easy addition of new sensors</a:t>
            </a:r>
            <a:r>
              <a:rPr lang="de-DE" altLang="en-US" sz="2200">
                <a:latin typeface="PT Sans" panose="020B0503020203020204" charset="0"/>
                <a:cs typeface="PT Sans" panose="020B0503020203020204" charset="0"/>
              </a:rPr>
              <a:t> and </a:t>
            </a:r>
            <a:r>
              <a:rPr lang="en-US" altLang="en-US" sz="2200">
                <a:latin typeface="PT Sans" panose="020B0503020203020204" charset="0"/>
                <a:cs typeface="PT Sans" panose="020B0503020203020204" charset="0"/>
              </a:rPr>
              <a:t>reusable hardware interface</a:t>
            </a:r>
            <a:r>
              <a:rPr lang="de-DE" altLang="en-US" sz="2200">
                <a:latin typeface="PT Sans" panose="020B0503020203020204" charset="0"/>
                <a:cs typeface="PT Sans" panose="020B0503020203020204" charset="0"/>
              </a:rPr>
              <a:t>.</a:t>
            </a:r>
            <a:endParaRPr lang="de-DE" altLang="en-US" sz="2200">
              <a:latin typeface="PT Sans" panose="020B0503020203020204" charset="0"/>
              <a:cs typeface="PT Sans" panose="020B050302020302020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  <p:pic>
        <p:nvPicPr>
          <p:cNvPr id="6" name="Picture 5" descr="Screenshot 2026-03-15 at 15.44.5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13100" y="2607945"/>
            <a:ext cx="2743200" cy="5969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>
                <a:latin typeface="PT Sans" panose="020B0503020203020204" charset="0"/>
                <a:cs typeface="PT Sans" panose="020B0503020203020204" charset="0"/>
              </a:rPr>
              <a:t>Deterministic Timing</a:t>
            </a:r>
            <a:endParaRPr lang="en-US" altLang="en-US" b="1">
              <a:latin typeface="PT Sans" panose="020B0503020203020204" charset="0"/>
              <a:cs typeface="PT Sans" panose="020B050302020302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p>
            <a:pPr>
              <a:buFont typeface="Wingdings" panose="05000000000000000000" charset="0"/>
              <a:buChar char=""/>
            </a:pPr>
            <a:r>
              <a:rPr lang="en-US" altLang="en-US">
                <a:latin typeface="PT Sans" panose="020B0503020203020204" charset="0"/>
                <a:cs typeface="PT Sans" panose="020B0503020203020204" charset="0"/>
              </a:rPr>
              <a:t>The server runs in Linux user space, which does not provide hard real-time guarantees.</a:t>
            </a:r>
            <a:endParaRPr lang="en-US" altLang="en-US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endParaRPr lang="en-US" altLang="en-US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r>
              <a:rPr lang="de-DE" altLang="en-US">
                <a:latin typeface="PT Sans" panose="020B0503020203020204" charset="0"/>
                <a:cs typeface="PT Sans" panose="020B0503020203020204" charset="0"/>
              </a:rPr>
              <a:t>As the </a:t>
            </a:r>
            <a:r>
              <a:rPr lang="en-US" altLang="en-US">
                <a:latin typeface="PT Sans" panose="020B0503020203020204" charset="0"/>
                <a:cs typeface="PT Sans" panose="020B0503020203020204" charset="0"/>
              </a:rPr>
              <a:t>sensor acquisition requires</a:t>
            </a:r>
            <a:r>
              <a:rPr lang="de-DE" altLang="en-US">
                <a:latin typeface="PT Sans" panose="020B0503020203020204" charset="0"/>
                <a:cs typeface="PT Sans" panose="020B0503020203020204" charset="0"/>
              </a:rPr>
              <a:t> </a:t>
            </a:r>
            <a:r>
              <a:rPr lang="en-US" altLang="en-US">
                <a:latin typeface="PT Sans" panose="020B0503020203020204" charset="0"/>
                <a:cs typeface="PT Sans" panose="020B0503020203020204" charset="0"/>
              </a:rPr>
              <a:t>predictable sampling intervals</a:t>
            </a:r>
            <a:r>
              <a:rPr lang="de-DE" altLang="en-US">
                <a:latin typeface="PT Sans" panose="020B0503020203020204" charset="0"/>
                <a:cs typeface="PT Sans" panose="020B0503020203020204" charset="0"/>
              </a:rPr>
              <a:t>, </a:t>
            </a:r>
            <a:r>
              <a:rPr lang="en-US" altLang="en-US">
                <a:latin typeface="PT Sans" panose="020B0503020203020204" charset="0"/>
                <a:cs typeface="PT Sans" panose="020B0503020203020204" charset="0"/>
              </a:rPr>
              <a:t>consistent timestamps</a:t>
            </a:r>
            <a:r>
              <a:rPr lang="de-DE" altLang="en-US">
                <a:latin typeface="PT Sans" panose="020B0503020203020204" charset="0"/>
                <a:cs typeface="PT Sans" panose="020B0503020203020204" charset="0"/>
              </a:rPr>
              <a:t> and </a:t>
            </a:r>
            <a:r>
              <a:rPr lang="en-US" altLang="en-US">
                <a:latin typeface="PT Sans" panose="020B0503020203020204" charset="0"/>
                <a:cs typeface="PT Sans" panose="020B0503020203020204" charset="0"/>
              </a:rPr>
              <a:t>bounded execution time</a:t>
            </a:r>
            <a:r>
              <a:rPr lang="de-DE" altLang="en-US">
                <a:latin typeface="PT Sans" panose="020B0503020203020204" charset="0"/>
                <a:cs typeface="PT Sans" panose="020B0503020203020204" charset="0"/>
              </a:rPr>
              <a:t>, s</a:t>
            </a:r>
            <a:r>
              <a:rPr lang="en-US" altLang="en-US">
                <a:latin typeface="PT Sans" panose="020B0503020203020204" charset="0"/>
                <a:cs typeface="PT Sans" panose="020B0503020203020204" charset="0"/>
              </a:rPr>
              <a:t>oft real-time deterministic sampling</a:t>
            </a:r>
            <a:r>
              <a:rPr lang="de-DE" altLang="en-US">
                <a:latin typeface="PT Sans" panose="020B0503020203020204" charset="0"/>
                <a:cs typeface="PT Sans" panose="020B0503020203020204" charset="0"/>
              </a:rPr>
              <a:t> is required.</a:t>
            </a:r>
            <a:endParaRPr lang="en-US" altLang="en-US">
              <a:latin typeface="PT Sans" panose="020B0503020203020204" charset="0"/>
              <a:cs typeface="PT Sans" panose="020B0503020203020204" charset="0"/>
            </a:endParaRPr>
          </a:p>
          <a:p>
            <a:pPr marL="0" indent="0">
              <a:buFont typeface="Wingdings" panose="05000000000000000000" charset="0"/>
              <a:buNone/>
            </a:pPr>
            <a:endParaRPr lang="en-US" altLang="en-US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r>
              <a:rPr lang="en-US" altLang="en-US">
                <a:latin typeface="PT Sans" panose="020B0503020203020204" charset="0"/>
                <a:cs typeface="PT Sans" panose="020B0503020203020204" charset="0"/>
              </a:rPr>
              <a:t>The system achieves deterministic sampling without real-time Linux extensions</a:t>
            </a:r>
            <a:r>
              <a:rPr lang="de-DE" altLang="en-US">
                <a:latin typeface="PT Sans" panose="020B0503020203020204" charset="0"/>
                <a:cs typeface="PT Sans" panose="020B0503020203020204" charset="0"/>
              </a:rPr>
              <a:t> through d</a:t>
            </a:r>
            <a:r>
              <a:rPr lang="en-US" altLang="en-US">
                <a:latin typeface="PT Sans" panose="020B0503020203020204" charset="0"/>
                <a:cs typeface="PT Sans" panose="020B0503020203020204" charset="0"/>
                <a:sym typeface="+mn-ea"/>
              </a:rPr>
              <a:t>eadline </a:t>
            </a:r>
            <a:r>
              <a:rPr lang="de-DE" altLang="en-US">
                <a:latin typeface="PT Sans" panose="020B0503020203020204" charset="0"/>
                <a:cs typeface="PT Sans" panose="020B0503020203020204" charset="0"/>
                <a:sym typeface="+mn-ea"/>
              </a:rPr>
              <a:t>s</a:t>
            </a:r>
            <a:r>
              <a:rPr lang="en-US" altLang="en-US">
                <a:latin typeface="PT Sans" panose="020B0503020203020204" charset="0"/>
                <a:cs typeface="PT Sans" panose="020B0503020203020204" charset="0"/>
                <a:sym typeface="+mn-ea"/>
              </a:rPr>
              <a:t>cheduling</a:t>
            </a:r>
            <a:r>
              <a:rPr lang="de-DE" altLang="en-US">
                <a:latin typeface="PT Sans" panose="020B0503020203020204" charset="0"/>
                <a:cs typeface="PT Sans" panose="020B0503020203020204" charset="0"/>
                <a:sym typeface="+mn-ea"/>
              </a:rPr>
              <a:t> in sensor thread and monotonic timing in utility layer.</a:t>
            </a:r>
            <a:endParaRPr lang="de-DE" altLang="en-US">
              <a:latin typeface="PT Sans" panose="020B0503020203020204" charset="0"/>
              <a:cs typeface="PT Sans" panose="020B0503020203020204" charset="0"/>
              <a:sym typeface="+mn-ea"/>
            </a:endParaRPr>
          </a:p>
          <a:p>
            <a:pPr>
              <a:buFont typeface="Wingdings" panose="05000000000000000000" charset="0"/>
              <a:buChar char=""/>
            </a:pPr>
            <a:endParaRPr lang="de-DE" altLang="en-US">
              <a:latin typeface="PT Sans" panose="020B0503020203020204" charset="0"/>
              <a:cs typeface="PT Sans" panose="020B0503020203020204" charset="0"/>
              <a:sym typeface="+mn-ea"/>
            </a:endParaRPr>
          </a:p>
          <a:p>
            <a:pPr>
              <a:buFont typeface="Wingdings" panose="05000000000000000000" charset="0"/>
              <a:buChar char=""/>
            </a:pPr>
            <a:r>
              <a:rPr lang="de-DE" altLang="en-US">
                <a:latin typeface="PT Sans" panose="020B0503020203020204" charset="0"/>
                <a:cs typeface="PT Sans" panose="020B0503020203020204" charset="0"/>
                <a:sym typeface="+mn-ea"/>
              </a:rPr>
              <a:t>The a</a:t>
            </a:r>
            <a:r>
              <a:rPr lang="en-US" altLang="en-US">
                <a:latin typeface="PT Sans" panose="020B0503020203020204" charset="0"/>
                <a:cs typeface="PT Sans" panose="020B0503020203020204" charset="0"/>
                <a:sym typeface="+mn-ea"/>
              </a:rPr>
              <a:t>dvantages</a:t>
            </a:r>
            <a:r>
              <a:rPr lang="de-DE" altLang="en-US">
                <a:latin typeface="PT Sans" panose="020B0503020203020204" charset="0"/>
                <a:cs typeface="PT Sans" panose="020B0503020203020204" charset="0"/>
                <a:sym typeface="+mn-ea"/>
              </a:rPr>
              <a:t> are it is </a:t>
            </a:r>
            <a:r>
              <a:rPr lang="en-US" altLang="en-US">
                <a:latin typeface="PT Sans" panose="020B0503020203020204" charset="0"/>
                <a:cs typeface="PT Sans" panose="020B0503020203020204" charset="0"/>
                <a:sym typeface="+mn-ea"/>
              </a:rPr>
              <a:t>portable across Linux system</a:t>
            </a:r>
            <a:r>
              <a:rPr lang="de-DE" altLang="en-US">
                <a:latin typeface="PT Sans" panose="020B0503020203020204" charset="0"/>
                <a:cs typeface="PT Sans" panose="020B0503020203020204" charset="0"/>
                <a:sym typeface="+mn-ea"/>
              </a:rPr>
              <a:t>s and </a:t>
            </a:r>
            <a:r>
              <a:rPr lang="en-US" altLang="en-US">
                <a:latin typeface="PT Sans" panose="020B0503020203020204" charset="0"/>
                <a:cs typeface="PT Sans" panose="020B0503020203020204" charset="0"/>
                <a:sym typeface="+mn-ea"/>
              </a:rPr>
              <a:t>no PREEMPT_RT </a:t>
            </a:r>
            <a:r>
              <a:rPr lang="de-DE" altLang="en-US">
                <a:latin typeface="PT Sans" panose="020B0503020203020204" charset="0"/>
                <a:cs typeface="PT Sans" panose="020B0503020203020204" charset="0"/>
                <a:sym typeface="+mn-ea"/>
              </a:rPr>
              <a:t>is </a:t>
            </a:r>
            <a:r>
              <a:rPr lang="en-US" altLang="en-US">
                <a:latin typeface="PT Sans" panose="020B0503020203020204" charset="0"/>
                <a:cs typeface="PT Sans" panose="020B0503020203020204" charset="0"/>
                <a:sym typeface="+mn-ea"/>
              </a:rPr>
              <a:t>required</a:t>
            </a:r>
            <a:r>
              <a:rPr lang="de-DE" altLang="en-US">
                <a:latin typeface="PT Sans" panose="020B0503020203020204" charset="0"/>
                <a:cs typeface="PT Sans" panose="020B0503020203020204" charset="0"/>
                <a:sym typeface="+mn-ea"/>
              </a:rPr>
              <a:t>.</a:t>
            </a:r>
            <a:endParaRPr lang="de-DE" altLang="en-US">
              <a:latin typeface="PT Sans" panose="020B0503020203020204" charset="0"/>
              <a:cs typeface="PT Sans" panose="020B0503020203020204" charset="0"/>
              <a:sym typeface="+mn-ea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>
                <a:latin typeface="PT Sans" panose="020B0503020203020204" charset="0"/>
                <a:cs typeface="PT Sans" panose="020B0503020203020204" charset="0"/>
              </a:rPr>
              <a:t>Design Alternatives</a:t>
            </a:r>
            <a:r>
              <a:rPr lang="de-DE" altLang="en-US" b="1">
                <a:latin typeface="PT Sans" panose="020B0503020203020204" charset="0"/>
                <a:cs typeface="PT Sans" panose="020B0503020203020204" charset="0"/>
              </a:rPr>
              <a:t> &amp; Testing</a:t>
            </a:r>
            <a:endParaRPr lang="de-DE" altLang="en-US" b="1">
              <a:latin typeface="PT Sans" panose="020B0503020203020204" charset="0"/>
              <a:cs typeface="PT Sans" panose="020B050302020302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>
              <a:buFont typeface="Wingdings" panose="05000000000000000000" charset="0"/>
              <a:buChar char=""/>
            </a:pPr>
            <a:r>
              <a:rPr lang="en-US" altLang="en-US" sz="2400">
                <a:latin typeface="PT Sans" panose="020B0503020203020204" charset="0"/>
                <a:cs typeface="PT Sans" panose="020B0503020203020204" charset="0"/>
              </a:rPr>
              <a:t>Sensor scheduling	</a:t>
            </a:r>
            <a:r>
              <a:rPr lang="de-DE" altLang="en-US" sz="2400">
                <a:latin typeface="PT Sans" panose="020B0503020203020204" charset="0"/>
                <a:cs typeface="PT Sans" panose="020B0503020203020204" charset="0"/>
              </a:rPr>
              <a:t> - </a:t>
            </a:r>
            <a:r>
              <a:rPr lang="en-US" altLang="en-US" sz="2400">
                <a:latin typeface="PT Sans" panose="020B0503020203020204" charset="0"/>
                <a:cs typeface="PT Sans" panose="020B0503020203020204" charset="0"/>
              </a:rPr>
              <a:t>timer-driven vs deadline scheduling</a:t>
            </a:r>
            <a:endParaRPr lang="en-US" altLang="en-US" sz="2400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r>
              <a:rPr lang="en-US" altLang="en-US" sz="2400">
                <a:latin typeface="PT Sans" panose="020B0503020203020204" charset="0"/>
                <a:cs typeface="PT Sans" panose="020B0503020203020204" charset="0"/>
              </a:rPr>
              <a:t>Timing model</a:t>
            </a:r>
            <a:r>
              <a:rPr lang="de-DE" altLang="en-US" sz="2400">
                <a:latin typeface="PT Sans" panose="020B0503020203020204" charset="0"/>
                <a:cs typeface="PT Sans" panose="020B0503020203020204" charset="0"/>
              </a:rPr>
              <a:t> - </a:t>
            </a:r>
            <a:r>
              <a:rPr lang="en-US" altLang="en-US" sz="2400">
                <a:latin typeface="PT Sans" panose="020B0503020203020204" charset="0"/>
                <a:cs typeface="PT Sans" panose="020B0503020203020204" charset="0"/>
              </a:rPr>
              <a:t>relative delay vs absolute deadline</a:t>
            </a:r>
            <a:endParaRPr lang="en-US" altLang="en-US" sz="2400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r>
              <a:rPr lang="en-US" altLang="en-US" sz="2400">
                <a:latin typeface="PT Sans" panose="020B0503020203020204" charset="0"/>
                <a:cs typeface="PT Sans" panose="020B0503020203020204" charset="0"/>
              </a:rPr>
              <a:t>Threading</a:t>
            </a:r>
            <a:r>
              <a:rPr lang="de-DE" altLang="en-US" sz="2400">
                <a:latin typeface="PT Sans" panose="020B0503020203020204" charset="0"/>
                <a:cs typeface="PT Sans" panose="020B0503020203020204" charset="0"/>
              </a:rPr>
              <a:t> - </a:t>
            </a:r>
            <a:r>
              <a:rPr lang="en-US" altLang="en-US" sz="2400">
                <a:latin typeface="PT Sans" panose="020B0503020203020204" charset="0"/>
                <a:cs typeface="PT Sans" panose="020B0503020203020204" charset="0"/>
              </a:rPr>
              <a:t>single thread vs multi-thread</a:t>
            </a:r>
            <a:endParaRPr lang="en-US" altLang="en-US" sz="2400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r>
              <a:rPr lang="en-US" altLang="en-US" sz="2400">
                <a:latin typeface="PT Sans" panose="020B0503020203020204" charset="0"/>
                <a:cs typeface="PT Sans" panose="020B0503020203020204" charset="0"/>
              </a:rPr>
              <a:t>Hardware access</a:t>
            </a:r>
            <a:r>
              <a:rPr lang="de-DE" altLang="en-US" sz="2400">
                <a:latin typeface="PT Sans" panose="020B0503020203020204" charset="0"/>
                <a:cs typeface="PT Sans" panose="020B0503020203020204" charset="0"/>
              </a:rPr>
              <a:t> - </a:t>
            </a:r>
            <a:r>
              <a:rPr lang="en-US" altLang="en-US" sz="2400">
                <a:latin typeface="PT Sans" panose="020B0503020203020204" charset="0"/>
                <a:cs typeface="PT Sans" panose="020B0503020203020204" charset="0"/>
              </a:rPr>
              <a:t>user-space vs kernel-space</a:t>
            </a:r>
            <a:endParaRPr lang="en-US" altLang="en-US" sz="2400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r>
              <a:rPr lang="en-US" altLang="en-US" sz="2400">
                <a:latin typeface="PT Sans" panose="020B0503020203020204" charset="0"/>
                <a:cs typeface="PT Sans" panose="020B0503020203020204" charset="0"/>
              </a:rPr>
              <a:t>Time source</a:t>
            </a:r>
            <a:r>
              <a:rPr lang="de-DE" altLang="en-US" sz="2400">
                <a:latin typeface="PT Sans" panose="020B0503020203020204" charset="0"/>
                <a:cs typeface="PT Sans" panose="020B0503020203020204" charset="0"/>
              </a:rPr>
              <a:t> - </a:t>
            </a:r>
            <a:r>
              <a:rPr lang="en-US" altLang="en-US" sz="2400">
                <a:latin typeface="PT Sans" panose="020B0503020203020204" charset="0"/>
                <a:cs typeface="PT Sans" panose="020B0503020203020204" charset="0"/>
              </a:rPr>
              <a:t>wall-clock vs monotonic</a:t>
            </a:r>
            <a:endParaRPr lang="en-US" altLang="en-US" sz="2400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r>
              <a:rPr lang="en-US" altLang="en-US" sz="2400">
                <a:latin typeface="PT Sans" panose="020B0503020203020204" charset="0"/>
                <a:cs typeface="PT Sans" panose="020B0503020203020204" charset="0"/>
              </a:rPr>
              <a:t>OS behavior</a:t>
            </a:r>
            <a:r>
              <a:rPr lang="de-DE" altLang="en-US" sz="2400">
                <a:latin typeface="PT Sans" panose="020B0503020203020204" charset="0"/>
                <a:cs typeface="PT Sans" panose="020B0503020203020204" charset="0"/>
              </a:rPr>
              <a:t> - </a:t>
            </a:r>
            <a:r>
              <a:rPr lang="en-US" altLang="en-US" sz="2400">
                <a:latin typeface="PT Sans" panose="020B0503020203020204" charset="0"/>
                <a:cs typeface="PT Sans" panose="020B0503020203020204" charset="0"/>
              </a:rPr>
              <a:t>real-time Linux vs soft real-time</a:t>
            </a:r>
            <a:endParaRPr lang="en-US" altLang="en-US" sz="2400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endParaRPr lang="en-US" altLang="en-US" sz="2400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r>
              <a:rPr lang="en-US" altLang="en-US" sz="2400">
                <a:latin typeface="PT Sans" panose="020B0503020203020204" charset="0"/>
                <a:cs typeface="PT Sans" panose="020B0503020203020204" charset="0"/>
              </a:rPr>
              <a:t>Testing:</a:t>
            </a:r>
            <a:r>
              <a:rPr lang="de-DE" altLang="en-US" sz="2400">
                <a:latin typeface="PT Sans" panose="020B0503020203020204" charset="0"/>
                <a:cs typeface="PT Sans" panose="020B0503020203020204" charset="0"/>
              </a:rPr>
              <a:t> V</a:t>
            </a:r>
            <a:r>
              <a:rPr lang="en-US" altLang="en-US" sz="2400">
                <a:latin typeface="PT Sans" panose="020B0503020203020204" charset="0"/>
                <a:cs typeface="PT Sans" panose="020B0503020203020204" charset="0"/>
              </a:rPr>
              <a:t>erify correct sensor acquisition</a:t>
            </a:r>
            <a:r>
              <a:rPr lang="de-DE" altLang="en-US" sz="2400">
                <a:latin typeface="PT Sans" panose="020B0503020203020204" charset="0"/>
                <a:cs typeface="PT Sans" panose="020B0503020203020204" charset="0"/>
              </a:rPr>
              <a:t>, </a:t>
            </a:r>
            <a:r>
              <a:rPr lang="en-US" altLang="en-US" sz="2400">
                <a:latin typeface="PT Sans" panose="020B0503020203020204" charset="0"/>
                <a:cs typeface="PT Sans" panose="020B0503020203020204" charset="0"/>
              </a:rPr>
              <a:t>validate timing consistency</a:t>
            </a:r>
            <a:r>
              <a:rPr lang="de-DE" altLang="en-US" sz="2400">
                <a:latin typeface="PT Sans" panose="020B0503020203020204" charset="0"/>
                <a:cs typeface="PT Sans" panose="020B0503020203020204" charset="0"/>
              </a:rPr>
              <a:t>, </a:t>
            </a:r>
            <a:r>
              <a:rPr lang="en-US" altLang="en-US" sz="2400">
                <a:latin typeface="PT Sans" panose="020B0503020203020204" charset="0"/>
                <a:cs typeface="PT Sans" panose="020B0503020203020204" charset="0"/>
              </a:rPr>
              <a:t>detect system faults</a:t>
            </a:r>
            <a:r>
              <a:rPr lang="de-DE" altLang="en-US" sz="2400">
                <a:latin typeface="PT Sans" panose="020B0503020203020204" charset="0"/>
                <a:cs typeface="PT Sans" panose="020B0503020203020204" charset="0"/>
              </a:rPr>
              <a:t>, </a:t>
            </a:r>
            <a:r>
              <a:rPr lang="en-US" altLang="en-US" sz="2400">
                <a:latin typeface="PT Sans" panose="020B0503020203020204" charset="0"/>
                <a:cs typeface="PT Sans" panose="020B0503020203020204" charset="0"/>
              </a:rPr>
              <a:t>confirm robustness under load</a:t>
            </a:r>
            <a:endParaRPr lang="en-US" altLang="en-US" sz="2400">
              <a:latin typeface="PT Sans" panose="020B0503020203020204" charset="0"/>
              <a:cs typeface="PT Sans" panose="020B050302020302020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>
                <a:latin typeface="PT Sans" panose="020B0503020203020204" charset="0"/>
                <a:cs typeface="PT Sans" panose="020B0503020203020204" charset="0"/>
              </a:rPr>
              <a:t>GUI Client Architecture</a:t>
            </a:r>
            <a:endParaRPr lang="en-US" altLang="en-US" b="1">
              <a:latin typeface="PT Sans" panose="020B0503020203020204" charset="0"/>
              <a:cs typeface="PT Sans" panose="020B050302020302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p>
            <a:pPr>
              <a:buFont typeface="Wingdings" panose="05000000000000000000" charset="0"/>
              <a:buChar char=""/>
            </a:pPr>
            <a:r>
              <a:rPr lang="de-DE" altLang="en-US">
                <a:latin typeface="PT Sans" panose="020B0503020203020204" charset="0"/>
                <a:cs typeface="PT Sans" panose="020B0503020203020204" charset="0"/>
              </a:rPr>
              <a:t>A</a:t>
            </a:r>
            <a:r>
              <a:rPr lang="en-US" altLang="en-US">
                <a:latin typeface="PT Sans" panose="020B0503020203020204" charset="0"/>
                <a:cs typeface="PT Sans" panose="020B0503020203020204" charset="0"/>
              </a:rPr>
              <a:t>cts as the client interface of the Measurement Network Gateway.</a:t>
            </a:r>
            <a:endParaRPr lang="en-US" altLang="en-US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endParaRPr lang="en-US" altLang="en-US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r>
              <a:rPr lang="de-DE" altLang="en-US">
                <a:latin typeface="PT Sans" panose="020B0503020203020204" charset="0"/>
                <a:cs typeface="PT Sans" panose="020B0503020203020204" charset="0"/>
              </a:rPr>
              <a:t>R</a:t>
            </a:r>
            <a:r>
              <a:rPr lang="en-US" altLang="en-US">
                <a:latin typeface="PT Sans" panose="020B0503020203020204" charset="0"/>
                <a:cs typeface="PT Sans" panose="020B0503020203020204" charset="0"/>
              </a:rPr>
              <a:t>esponsibilities</a:t>
            </a:r>
            <a:r>
              <a:rPr lang="de-DE" altLang="en-US">
                <a:latin typeface="PT Sans" panose="020B0503020203020204" charset="0"/>
                <a:cs typeface="PT Sans" panose="020B0503020203020204" charset="0"/>
              </a:rPr>
              <a:t> includes </a:t>
            </a:r>
            <a:r>
              <a:rPr lang="en-US" altLang="en-US">
                <a:latin typeface="PT Sans" panose="020B0503020203020204" charset="0"/>
                <a:cs typeface="PT Sans" panose="020B0503020203020204" charset="0"/>
              </a:rPr>
              <a:t>establish</a:t>
            </a:r>
            <a:r>
              <a:rPr lang="de-DE" altLang="en-US">
                <a:latin typeface="PT Sans" panose="020B0503020203020204" charset="0"/>
                <a:cs typeface="PT Sans" panose="020B0503020203020204" charset="0"/>
              </a:rPr>
              <a:t>ing</a:t>
            </a:r>
            <a:r>
              <a:rPr lang="en-US" altLang="en-US">
                <a:latin typeface="PT Sans" panose="020B0503020203020204" charset="0"/>
                <a:cs typeface="PT Sans" panose="020B0503020203020204" charset="0"/>
              </a:rPr>
              <a:t> TCP connection to server</a:t>
            </a:r>
            <a:r>
              <a:rPr lang="de-DE" altLang="en-US">
                <a:latin typeface="PT Sans" panose="020B0503020203020204" charset="0"/>
                <a:cs typeface="PT Sans" panose="020B0503020203020204" charset="0"/>
              </a:rPr>
              <a:t>, </a:t>
            </a:r>
            <a:r>
              <a:rPr lang="en-US" altLang="en-US">
                <a:latin typeface="PT Sans" panose="020B0503020203020204" charset="0"/>
                <a:cs typeface="PT Sans" panose="020B0503020203020204" charset="0"/>
              </a:rPr>
              <a:t>send control commands</a:t>
            </a:r>
            <a:r>
              <a:rPr lang="de-DE" altLang="en-US">
                <a:latin typeface="PT Sans" panose="020B0503020203020204" charset="0"/>
                <a:cs typeface="PT Sans" panose="020B0503020203020204" charset="0"/>
              </a:rPr>
              <a:t>, </a:t>
            </a:r>
            <a:r>
              <a:rPr lang="en-US" altLang="en-US">
                <a:latin typeface="PT Sans" panose="020B0503020203020204" charset="0"/>
                <a:cs typeface="PT Sans" panose="020B0503020203020204" charset="0"/>
              </a:rPr>
              <a:t>receive sensor data streams</a:t>
            </a:r>
            <a:r>
              <a:rPr lang="de-DE" altLang="en-US">
                <a:latin typeface="PT Sans" panose="020B0503020203020204" charset="0"/>
                <a:cs typeface="PT Sans" panose="020B0503020203020204" charset="0"/>
              </a:rPr>
              <a:t>, and </a:t>
            </a:r>
            <a:r>
              <a:rPr lang="en-US" altLang="en-US">
                <a:latin typeface="PT Sans" panose="020B0503020203020204" charset="0"/>
                <a:cs typeface="PT Sans" panose="020B0503020203020204" charset="0"/>
              </a:rPr>
              <a:t>visualize measurements in real time</a:t>
            </a:r>
            <a:r>
              <a:rPr lang="de-DE" altLang="en-US">
                <a:latin typeface="PT Sans" panose="020B0503020203020204" charset="0"/>
                <a:cs typeface="PT Sans" panose="020B0503020203020204" charset="0"/>
              </a:rPr>
              <a:t>.</a:t>
            </a:r>
            <a:endParaRPr lang="de-DE" altLang="en-US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endParaRPr lang="en-US" altLang="en-US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r>
              <a:rPr lang="en-US" altLang="en-US">
                <a:latin typeface="PT Sans" panose="020B0503020203020204" charset="0"/>
                <a:cs typeface="PT Sans" panose="020B0503020203020204" charset="0"/>
              </a:rPr>
              <a:t>Technologies used:</a:t>
            </a:r>
            <a:endParaRPr lang="en-US" altLang="en-US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endParaRPr lang="en-US" altLang="en-US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r>
              <a:rPr lang="en-US" altLang="en-US">
                <a:latin typeface="PT Sans" panose="020B0503020203020204" charset="0"/>
                <a:cs typeface="PT Sans" panose="020B0503020203020204" charset="0"/>
              </a:rPr>
              <a:t>GTK	</a:t>
            </a:r>
            <a:r>
              <a:rPr lang="de-DE" altLang="en-US">
                <a:latin typeface="PT Sans" panose="020B0503020203020204" charset="0"/>
                <a:cs typeface="PT Sans" panose="020B0503020203020204" charset="0"/>
              </a:rPr>
              <a:t> - </a:t>
            </a:r>
            <a:r>
              <a:rPr lang="en-US" altLang="en-US">
                <a:latin typeface="PT Sans" panose="020B0503020203020204" charset="0"/>
                <a:cs typeface="PT Sans" panose="020B0503020203020204" charset="0"/>
              </a:rPr>
              <a:t>window &amp; UI</a:t>
            </a:r>
            <a:endParaRPr lang="en-US" altLang="en-US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r>
              <a:rPr lang="en-US" altLang="en-US">
                <a:latin typeface="PT Sans" panose="020B0503020203020204" charset="0"/>
                <a:cs typeface="PT Sans" panose="020B0503020203020204" charset="0"/>
              </a:rPr>
              <a:t>POSIX sockets</a:t>
            </a:r>
            <a:r>
              <a:rPr lang="de-DE" altLang="en-US">
                <a:latin typeface="PT Sans" panose="020B0503020203020204" charset="0"/>
                <a:cs typeface="PT Sans" panose="020B0503020203020204" charset="0"/>
              </a:rPr>
              <a:t> - </a:t>
            </a:r>
            <a:r>
              <a:rPr lang="en-US" altLang="en-US">
                <a:latin typeface="PT Sans" panose="020B0503020203020204" charset="0"/>
                <a:cs typeface="PT Sans" panose="020B0503020203020204" charset="0"/>
              </a:rPr>
              <a:t>TCP communication</a:t>
            </a:r>
            <a:endParaRPr lang="en-US" altLang="en-US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r>
              <a:rPr lang="en-US" altLang="en-US">
                <a:latin typeface="PT Sans" panose="020B0503020203020204" charset="0"/>
                <a:cs typeface="PT Sans" panose="020B0503020203020204" charset="0"/>
              </a:rPr>
              <a:t>pthreads	</a:t>
            </a:r>
            <a:r>
              <a:rPr lang="de-DE" altLang="en-US">
                <a:latin typeface="PT Sans" panose="020B0503020203020204" charset="0"/>
                <a:cs typeface="PT Sans" panose="020B0503020203020204" charset="0"/>
              </a:rPr>
              <a:t> - </a:t>
            </a:r>
            <a:r>
              <a:rPr lang="en-US" altLang="en-US">
                <a:latin typeface="PT Sans" panose="020B0503020203020204" charset="0"/>
                <a:cs typeface="PT Sans" panose="020B0503020203020204" charset="0"/>
              </a:rPr>
              <a:t>background networking</a:t>
            </a:r>
            <a:endParaRPr lang="en-US" altLang="en-US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r>
              <a:rPr lang="en-US" altLang="en-US">
                <a:latin typeface="PT Sans" panose="020B0503020203020204" charset="0"/>
                <a:cs typeface="PT Sans" panose="020B0503020203020204" charset="0"/>
              </a:rPr>
              <a:t>Cairo</a:t>
            </a:r>
            <a:r>
              <a:rPr lang="de-DE" altLang="en-US">
                <a:latin typeface="PT Sans" panose="020B0503020203020204" charset="0"/>
                <a:cs typeface="PT Sans" panose="020B0503020203020204" charset="0"/>
              </a:rPr>
              <a:t> - </a:t>
            </a:r>
            <a:r>
              <a:rPr lang="en-US" altLang="en-US">
                <a:latin typeface="PT Sans" panose="020B0503020203020204" charset="0"/>
                <a:cs typeface="PT Sans" panose="020B0503020203020204" charset="0"/>
              </a:rPr>
              <a:t>real-time plotting</a:t>
            </a:r>
            <a:endParaRPr lang="en-US" altLang="en-US">
              <a:latin typeface="PT Sans" panose="020B0503020203020204" charset="0"/>
              <a:cs typeface="PT Sans" panose="020B050302020302020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>
                <a:latin typeface="PT Sans" panose="020B0503020203020204" charset="0"/>
                <a:cs typeface="PT Sans" panose="020B0503020203020204" charset="0"/>
              </a:rPr>
              <a:t>TCP Connection</a:t>
            </a:r>
            <a:endParaRPr lang="en-US" altLang="en-US" b="1">
              <a:latin typeface="PT Sans" panose="020B0503020203020204" charset="0"/>
              <a:cs typeface="PT Sans" panose="020B050302020302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>
              <a:buFont typeface="Wingdings" panose="05000000000000000000" charset="0"/>
              <a:buChar char=""/>
            </a:pPr>
            <a:r>
              <a:rPr lang="en-US" altLang="en-US" sz="2800">
                <a:latin typeface="PT Sans" panose="020B0503020203020204" charset="0"/>
                <a:cs typeface="PT Sans" panose="020B0503020203020204" charset="0"/>
              </a:rPr>
              <a:t>Connection initiated by user input of server IPv4 address.</a:t>
            </a:r>
            <a:endParaRPr lang="en-US" altLang="en-US" sz="2800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endParaRPr lang="en-US" altLang="en-US" sz="2800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r>
              <a:rPr lang="en-US" altLang="en-US" sz="2800">
                <a:latin typeface="PT Sans" panose="020B0503020203020204" charset="0"/>
                <a:cs typeface="PT Sans" panose="020B0503020203020204" charset="0"/>
              </a:rPr>
              <a:t>User input is validated before opening a socket.</a:t>
            </a:r>
            <a:endParaRPr lang="en-US" altLang="en-US" sz="2800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endParaRPr lang="en-US" altLang="en-US" sz="2800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endParaRPr lang="en-US" altLang="en-US" sz="2800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r>
              <a:rPr lang="en-US" altLang="en-US" sz="2800">
                <a:latin typeface="PT Sans" panose="020B0503020203020204" charset="0"/>
                <a:cs typeface="PT Sans" panose="020B0503020203020204" charset="0"/>
              </a:rPr>
              <a:t>Example invalid input rejected:</a:t>
            </a:r>
            <a:r>
              <a:rPr lang="de-DE" altLang="en-US" sz="2800">
                <a:latin typeface="Calibri" charset="0"/>
                <a:cs typeface="PT Sans" panose="020B0503020203020204" charset="0"/>
              </a:rPr>
              <a:t> </a:t>
            </a:r>
            <a:r>
              <a:rPr lang="en-US" altLang="en-US" sz="2800">
                <a:latin typeface="PT Sans" panose="020B0503020203020204" charset="0"/>
                <a:cs typeface="PT Sans" panose="020B0503020203020204" charset="0"/>
              </a:rPr>
              <a:t>192.168.1</a:t>
            </a:r>
            <a:r>
              <a:rPr lang="de-DE" altLang="en-US" sz="2800">
                <a:latin typeface="Calibri" charset="0"/>
                <a:cs typeface="PT Sans" panose="020B0503020203020204" charset="0"/>
              </a:rPr>
              <a:t>, </a:t>
            </a:r>
            <a:r>
              <a:rPr lang="en-US" altLang="en-US" sz="2800">
                <a:latin typeface="PT Sans" panose="020B0503020203020204" charset="0"/>
                <a:cs typeface="PT Sans" panose="020B0503020203020204" charset="0"/>
              </a:rPr>
              <a:t>192.168.1.1abc</a:t>
            </a:r>
            <a:endParaRPr lang="en-US" altLang="en-US" sz="2800">
              <a:latin typeface="PT Sans" panose="020B0503020203020204" charset="0"/>
              <a:cs typeface="PT Sans" panose="020B050302020302020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  <p:pic>
        <p:nvPicPr>
          <p:cNvPr id="6" name="Picture 5" descr="Screenshot 2026-03-16 at 08.54.5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29865" y="3699510"/>
            <a:ext cx="3835400" cy="8128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en-US" b="1">
                <a:latin typeface="PT Sans" panose="020B0503020203020204" charset="0"/>
                <a:cs typeface="PT Sans" panose="020B0503020203020204" charset="0"/>
              </a:rPr>
              <a:t>State Machine</a:t>
            </a:r>
            <a:r>
              <a:rPr lang="de-DE" altLang="en-US" b="1">
                <a:latin typeface="PT Sans" panose="020B0503020203020204" charset="0"/>
                <a:cs typeface="PT Sans" panose="020B0503020203020204" charset="0"/>
              </a:rPr>
              <a:t> &amp; </a:t>
            </a:r>
            <a:r>
              <a:rPr lang="en-US" altLang="en-US" b="1">
                <a:latin typeface="PT Sans" panose="020B0503020203020204" charset="0"/>
                <a:cs typeface="PT Sans" panose="020B0503020203020204" charset="0"/>
              </a:rPr>
              <a:t>Data Reception</a:t>
            </a:r>
            <a:endParaRPr lang="en-US" altLang="en-US" b="1">
              <a:latin typeface="PT Sans" panose="020B0503020203020204" charset="0"/>
              <a:cs typeface="PT Sans" panose="020B050302020302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955"/>
            <a:ext cx="8229600" cy="4525963"/>
          </a:xfrm>
        </p:spPr>
        <p:txBody>
          <a:bodyPr>
            <a:normAutofit/>
          </a:bodyPr>
          <a:p>
            <a:pPr>
              <a:buFont typeface="Wingdings" panose="05000000000000000000" charset="0"/>
              <a:buChar char=""/>
            </a:pPr>
            <a:r>
              <a:rPr lang="en-US" altLang="en-US" sz="2800">
                <a:latin typeface="PT Sans" panose="020B0503020203020204" charset="0"/>
                <a:cs typeface="PT Sans" panose="020B0503020203020204" charset="0"/>
              </a:rPr>
              <a:t>GUI maintains its own client-side state machine.</a:t>
            </a:r>
            <a:endParaRPr lang="en-US" altLang="en-US" sz="2800">
              <a:latin typeface="PT Sans" panose="020B0503020203020204" charset="0"/>
              <a:cs typeface="PT Sans" panose="020B0503020203020204" charset="0"/>
            </a:endParaRPr>
          </a:p>
          <a:p>
            <a:pPr marL="0" indent="457200">
              <a:buFont typeface="Wingdings" panose="05000000000000000000" charset="0"/>
              <a:buNone/>
            </a:pPr>
            <a:r>
              <a:rPr lang="en-US" altLang="en-US" sz="2400">
                <a:latin typeface="PT Sans" panose="020B0503020203020204" charset="0"/>
                <a:cs typeface="PT Sans" panose="020B0503020203020204" charset="0"/>
              </a:rPr>
              <a:t>DISCONNECTE</a:t>
            </a:r>
            <a:r>
              <a:rPr lang="de-DE" altLang="en-US" sz="2400">
                <a:latin typeface="PT Sans" panose="020B0503020203020204" charset="0"/>
                <a:cs typeface="PT Sans" panose="020B0503020203020204" charset="0"/>
              </a:rPr>
              <a:t>D - </a:t>
            </a:r>
            <a:r>
              <a:rPr lang="en-US" altLang="en-US" sz="2400">
                <a:latin typeface="PT Sans" panose="020B0503020203020204" charset="0"/>
                <a:cs typeface="PT Sans" panose="020B0503020203020204" charset="0"/>
              </a:rPr>
              <a:t>no TCP connection</a:t>
            </a:r>
            <a:endParaRPr lang="en-US" altLang="en-US" sz="2400">
              <a:latin typeface="PT Sans" panose="020B0503020203020204" charset="0"/>
              <a:cs typeface="PT Sans" panose="020B0503020203020204" charset="0"/>
            </a:endParaRPr>
          </a:p>
          <a:p>
            <a:pPr marL="0" indent="457200">
              <a:buFont typeface="Wingdings" panose="05000000000000000000" charset="0"/>
              <a:buNone/>
            </a:pPr>
            <a:r>
              <a:rPr lang="en-US" altLang="en-US" sz="2400">
                <a:latin typeface="PT Sans" panose="020B0503020203020204" charset="0"/>
                <a:cs typeface="PT Sans" panose="020B0503020203020204" charset="0"/>
              </a:rPr>
              <a:t>CONNECTED</a:t>
            </a:r>
            <a:r>
              <a:rPr lang="de-DE" altLang="en-US" sz="2400">
                <a:latin typeface="PT Sans" panose="020B0503020203020204" charset="0"/>
                <a:cs typeface="PT Sans" panose="020B0503020203020204" charset="0"/>
              </a:rPr>
              <a:t> - </a:t>
            </a:r>
            <a:r>
              <a:rPr lang="en-US" altLang="en-US" sz="2400">
                <a:latin typeface="PT Sans" panose="020B0503020203020204" charset="0"/>
                <a:cs typeface="PT Sans" panose="020B0503020203020204" charset="0"/>
              </a:rPr>
              <a:t>socket established</a:t>
            </a:r>
            <a:endParaRPr lang="en-US" altLang="en-US" sz="2400">
              <a:latin typeface="PT Sans" panose="020B0503020203020204" charset="0"/>
              <a:cs typeface="PT Sans" panose="020B0503020203020204" charset="0"/>
            </a:endParaRPr>
          </a:p>
          <a:p>
            <a:pPr marL="0" indent="457200">
              <a:buFont typeface="Wingdings" panose="05000000000000000000" charset="0"/>
              <a:buNone/>
            </a:pPr>
            <a:r>
              <a:rPr lang="en-US" altLang="en-US" sz="2400">
                <a:latin typeface="PT Sans" panose="020B0503020203020204" charset="0"/>
                <a:cs typeface="PT Sans" panose="020B0503020203020204" charset="0"/>
              </a:rPr>
              <a:t>RUNNING</a:t>
            </a:r>
            <a:r>
              <a:rPr lang="de-DE" altLang="en-US" sz="2400">
                <a:latin typeface="PT Sans" panose="020B0503020203020204" charset="0"/>
                <a:cs typeface="PT Sans" panose="020B0503020203020204" charset="0"/>
              </a:rPr>
              <a:t> - </a:t>
            </a:r>
            <a:r>
              <a:rPr lang="en-US" altLang="en-US" sz="2400">
                <a:latin typeface="PT Sans" panose="020B0503020203020204" charset="0"/>
                <a:cs typeface="PT Sans" panose="020B0503020203020204" charset="0"/>
              </a:rPr>
              <a:t>streaming active</a:t>
            </a:r>
            <a:endParaRPr lang="en-US" altLang="en-US" sz="2400">
              <a:latin typeface="PT Sans" panose="020B0503020203020204" charset="0"/>
              <a:cs typeface="PT Sans" panose="020B0503020203020204" charset="0"/>
            </a:endParaRPr>
          </a:p>
          <a:p>
            <a:pPr marL="0" indent="457200">
              <a:buFont typeface="Wingdings" panose="05000000000000000000" charset="0"/>
              <a:buNone/>
            </a:pPr>
            <a:endParaRPr lang="en-US" altLang="en-US" sz="2800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endParaRPr lang="en-US" altLang="en-US" sz="2800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r>
              <a:rPr lang="en-US" altLang="en-US" sz="2800">
                <a:latin typeface="PT Sans" panose="020B0503020203020204" charset="0"/>
                <a:cs typeface="PT Sans" panose="020B0503020203020204" charset="0"/>
              </a:rPr>
              <a:t>Sensor data arrives as length-prefixed packets.</a:t>
            </a:r>
            <a:endParaRPr lang="en-US" altLang="en-US" sz="2800">
              <a:latin typeface="PT Sans" panose="020B0503020203020204" charset="0"/>
              <a:cs typeface="PT Sans" panose="020B050302020302020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  <p:pic>
        <p:nvPicPr>
          <p:cNvPr id="6" name="Picture 5" descr="Screenshot 2026-03-16 at 09.01.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3615" y="5080000"/>
            <a:ext cx="4636770" cy="977900"/>
          </a:xfrm>
          <a:prstGeom prst="rect">
            <a:avLst/>
          </a:prstGeom>
        </p:spPr>
      </p:pic>
      <p:pic>
        <p:nvPicPr>
          <p:cNvPr id="11" name="Picture 11" descr="Screenshot 2026-02-24 at 17.27.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600" y="3656965"/>
            <a:ext cx="6654165" cy="57531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>
                <a:latin typeface="PT Sans" panose="020B0503020203020204" charset="0"/>
                <a:cs typeface="PT Sans" panose="020B0503020203020204" charset="0"/>
              </a:rPr>
              <a:t>Thread-Safe GUI Updates</a:t>
            </a:r>
            <a:endParaRPr lang="en-US" altLang="en-US" b="1">
              <a:latin typeface="PT Sans" panose="020B0503020203020204" charset="0"/>
              <a:cs typeface="PT Sans" panose="020B050302020302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"/>
            </a:pPr>
            <a:r>
              <a:rPr lang="en-US" altLang="en-US">
                <a:latin typeface="PT Sans" panose="020B0503020203020204" charset="0"/>
                <a:cs typeface="PT Sans" panose="020B0503020203020204" charset="0"/>
              </a:rPr>
              <a:t>Network thread never accesses GTK widgets directly</a:t>
            </a:r>
            <a:r>
              <a:rPr lang="de-DE" altLang="en-US">
                <a:latin typeface="PT Sans" panose="020B0503020203020204" charset="0"/>
                <a:cs typeface="PT Sans" panose="020B0503020203020204" charset="0"/>
              </a:rPr>
              <a:t>, i</a:t>
            </a:r>
            <a:r>
              <a:rPr lang="en-US" altLang="en-US">
                <a:latin typeface="PT Sans" panose="020B0503020203020204" charset="0"/>
                <a:cs typeface="PT Sans" panose="020B0503020203020204" charset="0"/>
              </a:rPr>
              <a:t>nstead it schedules</a:t>
            </a:r>
            <a:r>
              <a:rPr lang="de-DE" altLang="en-US">
                <a:latin typeface="PT Sans" panose="020B0503020203020204" charset="0"/>
                <a:cs typeface="PT Sans" panose="020B0503020203020204" charset="0"/>
              </a:rPr>
              <a:t> </a:t>
            </a:r>
            <a:r>
              <a:rPr lang="en-US" altLang="en-US">
                <a:latin typeface="PT Sans" panose="020B0503020203020204" charset="0"/>
                <a:cs typeface="PT Sans" panose="020B0503020203020204" charset="0"/>
              </a:rPr>
              <a:t>updates</a:t>
            </a:r>
            <a:r>
              <a:rPr lang="de-DE" altLang="en-US">
                <a:latin typeface="PT Sans" panose="020B0503020203020204" charset="0"/>
                <a:cs typeface="PT Sans" panose="020B0503020203020204" charset="0"/>
              </a:rPr>
              <a:t>.</a:t>
            </a:r>
            <a:endParaRPr lang="de-DE" altLang="en-US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endParaRPr lang="de-DE" altLang="en-US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endParaRPr lang="de-DE" altLang="en-US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r>
              <a:rPr lang="de-DE" altLang="en-US">
                <a:latin typeface="PT Sans" panose="020B0503020203020204" charset="0"/>
                <a:cs typeface="PT Sans" panose="020B0503020203020204" charset="0"/>
              </a:rPr>
              <a:t>This </a:t>
            </a:r>
            <a:r>
              <a:rPr lang="en-US" altLang="en-US">
                <a:latin typeface="PT Sans" panose="020B0503020203020204" charset="0"/>
                <a:cs typeface="PT Sans" panose="020B0503020203020204" charset="0"/>
              </a:rPr>
              <a:t>prevents race conditions</a:t>
            </a:r>
            <a:r>
              <a:rPr lang="de-DE" altLang="en-US">
                <a:latin typeface="PT Sans" panose="020B0503020203020204" charset="0"/>
                <a:cs typeface="PT Sans" panose="020B0503020203020204" charset="0"/>
              </a:rPr>
              <a:t>, </a:t>
            </a:r>
            <a:r>
              <a:rPr lang="en-US" altLang="en-US">
                <a:latin typeface="PT Sans" panose="020B0503020203020204" charset="0"/>
                <a:cs typeface="PT Sans" panose="020B0503020203020204" charset="0"/>
              </a:rPr>
              <a:t>ensures GTK thread safe</a:t>
            </a:r>
            <a:r>
              <a:rPr lang="de-DE" altLang="en-US">
                <a:latin typeface="PT Sans" panose="020B0503020203020204" charset="0"/>
                <a:cs typeface="PT Sans" panose="020B0503020203020204" charset="0"/>
              </a:rPr>
              <a:t> and </a:t>
            </a:r>
            <a:r>
              <a:rPr lang="en-US" altLang="en-US">
                <a:latin typeface="PT Sans" panose="020B0503020203020204" charset="0"/>
                <a:cs typeface="PT Sans" panose="020B0503020203020204" charset="0"/>
              </a:rPr>
              <a:t>keeps GUI responsive</a:t>
            </a:r>
            <a:r>
              <a:rPr lang="de-DE" altLang="en-US">
                <a:latin typeface="PT Sans" panose="020B0503020203020204" charset="0"/>
                <a:cs typeface="PT Sans" panose="020B0503020203020204" charset="0"/>
              </a:rPr>
              <a:t>.</a:t>
            </a:r>
            <a:endParaRPr lang="de-DE" altLang="en-US">
              <a:latin typeface="PT Sans" panose="020B0503020203020204" charset="0"/>
              <a:cs typeface="PT Sans" panose="020B050302020302020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  <p:pic>
        <p:nvPicPr>
          <p:cNvPr id="6" name="Picture 5" descr="Screenshot 2026-03-16 at 09.04.0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8400" y="2792095"/>
            <a:ext cx="4267200" cy="1016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de-DE" altLang="en-US" b="1">
                <a:latin typeface="PT Sans" panose="020B0503020203020204" charset="0"/>
                <a:cs typeface="PT Sans" panose="020B0503020203020204" charset="0"/>
              </a:rPr>
              <a:t>Conclusion</a:t>
            </a:r>
            <a:endParaRPr lang="de-DE" altLang="en-US" b="1">
              <a:latin typeface="PT Sans" panose="020B0503020203020204" charset="0"/>
              <a:cs typeface="PT Sans" panose="020B050302020302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>
              <a:buFont typeface="Wingdings" panose="05000000000000000000" charset="0"/>
              <a:buChar char=""/>
            </a:pPr>
            <a:r>
              <a:rPr lang="en-US" altLang="en-US" sz="1800">
                <a:latin typeface="PT Sans" panose="020B0503020203020204" charset="0"/>
                <a:cs typeface="PT Sans" panose="020B0503020203020204" charset="0"/>
              </a:rPr>
              <a:t>Implemented a deterministic sensor acquisition framework in Linux user space</a:t>
            </a:r>
            <a:r>
              <a:rPr lang="de-DE" altLang="en-US" sz="1800">
                <a:latin typeface="PT Sans" panose="020B0503020203020204" charset="0"/>
                <a:cs typeface="PT Sans" panose="020B0503020203020204" charset="0"/>
              </a:rPr>
              <a:t>.</a:t>
            </a:r>
            <a:endParaRPr lang="en-US" altLang="en-US" sz="1800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endParaRPr lang="en-US" altLang="en-US" sz="1800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r>
              <a:rPr lang="en-US" altLang="en-US" sz="1800">
                <a:latin typeface="PT Sans" panose="020B0503020203020204" charset="0"/>
                <a:cs typeface="PT Sans" panose="020B0503020203020204" charset="0"/>
              </a:rPr>
              <a:t>Deadline</a:t>
            </a:r>
            <a:r>
              <a:rPr lang="de-DE" altLang="en-US" sz="1800">
                <a:latin typeface="PT Sans" panose="020B0503020203020204" charset="0"/>
                <a:cs typeface="PT Sans" panose="020B0503020203020204" charset="0"/>
              </a:rPr>
              <a:t> </a:t>
            </a:r>
            <a:r>
              <a:rPr lang="en-US" altLang="en-US" sz="1800">
                <a:latin typeface="PT Sans" panose="020B0503020203020204" charset="0"/>
                <a:cs typeface="PT Sans" panose="020B0503020203020204" charset="0"/>
              </a:rPr>
              <a:t>based scheduling with monotonic timestamps ensures predictable sampling</a:t>
            </a:r>
            <a:r>
              <a:rPr lang="de-DE" altLang="en-US" sz="1800">
                <a:latin typeface="PT Sans" panose="020B0503020203020204" charset="0"/>
                <a:cs typeface="PT Sans" panose="020B0503020203020204" charset="0"/>
              </a:rPr>
              <a:t>.</a:t>
            </a:r>
            <a:endParaRPr lang="en-US" altLang="en-US" sz="1800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endParaRPr lang="en-US" altLang="en-US" sz="1800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r>
              <a:rPr lang="en-US" altLang="en-US" sz="1800">
                <a:latin typeface="PT Sans" panose="020B0503020203020204" charset="0"/>
                <a:cs typeface="PT Sans" panose="020B0503020203020204" charset="0"/>
              </a:rPr>
              <a:t>Hardware abstraction via utility layer and register</a:t>
            </a:r>
            <a:r>
              <a:rPr lang="de-DE" altLang="en-US" sz="1800">
                <a:latin typeface="PT Sans" panose="020B0503020203020204" charset="0"/>
                <a:cs typeface="PT Sans" panose="020B0503020203020204" charset="0"/>
              </a:rPr>
              <a:t> </a:t>
            </a:r>
            <a:r>
              <a:rPr lang="en-US" altLang="en-US" sz="1800">
                <a:latin typeface="PT Sans" panose="020B0503020203020204" charset="0"/>
                <a:cs typeface="PT Sans" panose="020B0503020203020204" charset="0"/>
              </a:rPr>
              <a:t>based device interface</a:t>
            </a:r>
            <a:r>
              <a:rPr lang="de-DE" altLang="en-US" sz="1800">
                <a:latin typeface="PT Sans" panose="020B0503020203020204" charset="0"/>
                <a:cs typeface="PT Sans" panose="020B0503020203020204" charset="0"/>
              </a:rPr>
              <a:t>.</a:t>
            </a:r>
            <a:endParaRPr lang="en-US" altLang="en-US" sz="1800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endParaRPr lang="en-US" altLang="en-US" sz="1800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r>
              <a:rPr lang="en-US" altLang="en-US" sz="1800">
                <a:latin typeface="PT Sans" panose="020B0503020203020204" charset="0"/>
                <a:cs typeface="PT Sans" panose="020B0503020203020204" charset="0"/>
              </a:rPr>
              <a:t>Robust acquisition pipeline for ADC channels and digital switches</a:t>
            </a:r>
            <a:r>
              <a:rPr lang="de-DE" altLang="en-US" sz="1800">
                <a:latin typeface="PT Sans" panose="020B0503020203020204" charset="0"/>
                <a:cs typeface="PT Sans" panose="020B0503020203020204" charset="0"/>
              </a:rPr>
              <a:t>.</a:t>
            </a:r>
            <a:endParaRPr lang="de-DE" altLang="en-US" sz="1800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endParaRPr lang="de-DE" altLang="en-US" sz="1800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r>
              <a:rPr lang="en-US" altLang="en-US" sz="1800">
                <a:latin typeface="PT Sans" panose="020B0503020203020204" charset="0"/>
                <a:cs typeface="PT Sans" panose="020B0503020203020204" charset="0"/>
              </a:rPr>
              <a:t>Provides real-time monitoring and control interface</a:t>
            </a:r>
            <a:r>
              <a:rPr lang="de-DE" altLang="en-US" sz="1800">
                <a:latin typeface="PT Sans" panose="020B0503020203020204" charset="0"/>
                <a:cs typeface="PT Sans" panose="020B0503020203020204" charset="0"/>
              </a:rPr>
              <a:t>.</a:t>
            </a:r>
            <a:endParaRPr lang="de-DE" altLang="en-US" sz="1800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endParaRPr lang="en-US" altLang="en-US" sz="1800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r>
              <a:rPr lang="en-US" altLang="en-US" sz="1800">
                <a:latin typeface="PT Sans" panose="020B0503020203020204" charset="0"/>
                <a:cs typeface="PT Sans" panose="020B0503020203020204" charset="0"/>
              </a:rPr>
              <a:t>Uses thread-safe architecture separating GTK UI and network communication</a:t>
            </a:r>
            <a:r>
              <a:rPr lang="de-DE" altLang="en-US" sz="1800">
                <a:latin typeface="PT Sans" panose="020B0503020203020204" charset="0"/>
                <a:cs typeface="PT Sans" panose="020B0503020203020204" charset="0"/>
              </a:rPr>
              <a:t>.</a:t>
            </a:r>
            <a:endParaRPr lang="de-DE" altLang="en-US" sz="1800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endParaRPr lang="en-US" altLang="en-US" sz="1800">
              <a:latin typeface="PT Sans" panose="020B0503020203020204" charset="0"/>
              <a:cs typeface="PT Sans" panose="020B0503020203020204" charset="0"/>
            </a:endParaRPr>
          </a:p>
          <a:p>
            <a:pPr>
              <a:buFont typeface="Wingdings" panose="05000000000000000000" charset="0"/>
              <a:buChar char=""/>
            </a:pPr>
            <a:r>
              <a:rPr lang="en-US" altLang="en-US" sz="1800">
                <a:latin typeface="PT Sans" panose="020B0503020203020204" charset="0"/>
                <a:cs typeface="PT Sans" panose="020B0503020203020204" charset="0"/>
              </a:rPr>
              <a:t>Client-side state machine and input validation ensure</a:t>
            </a:r>
            <a:r>
              <a:rPr lang="de-DE" altLang="en-US" sz="1800">
                <a:latin typeface="PT Sans" panose="020B0503020203020204" charset="0"/>
                <a:cs typeface="PT Sans" panose="020B0503020203020204" charset="0"/>
              </a:rPr>
              <a:t>s</a:t>
            </a:r>
            <a:r>
              <a:rPr lang="en-US" altLang="en-US" sz="1800">
                <a:latin typeface="PT Sans" panose="020B0503020203020204" charset="0"/>
                <a:cs typeface="PT Sans" panose="020B0503020203020204" charset="0"/>
              </a:rPr>
              <a:t> safe operation</a:t>
            </a:r>
            <a:r>
              <a:rPr lang="de-DE" altLang="en-US" sz="1800">
                <a:latin typeface="PT Sans" panose="020B0503020203020204" charset="0"/>
                <a:cs typeface="PT Sans" panose="020B0503020203020204" charset="0"/>
              </a:rPr>
              <a:t>.</a:t>
            </a:r>
            <a:endParaRPr lang="de-DE" altLang="en-US" sz="1800">
              <a:latin typeface="PT Sans" panose="020B0503020203020204" charset="0"/>
              <a:cs typeface="PT Sans" panose="020B050302020302020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6984</Words>
  <Application>WPS Writer</Application>
  <PresentationFormat>On-screen Show (4:3)</PresentationFormat>
  <Paragraphs>353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44" baseType="lpstr">
      <vt:lpstr>Arial</vt:lpstr>
      <vt:lpstr>SimSun</vt:lpstr>
      <vt:lpstr>Wingdings</vt:lpstr>
      <vt:lpstr>PT Sans</vt:lpstr>
      <vt:lpstr>Arial</vt:lpstr>
      <vt:lpstr>Calibri</vt:lpstr>
      <vt:lpstr>Wingdings</vt:lpstr>
      <vt:lpstr>Helvetica Neue</vt:lpstr>
      <vt:lpstr>Microsoft YaHei</vt:lpstr>
      <vt:lpstr>汉仪旗黑</vt:lpstr>
      <vt:lpstr>Arial Unicode MS</vt:lpstr>
      <vt:lpstr>宋体-简</vt:lpstr>
      <vt:lpstr>Times New Roman Bold</vt:lpstr>
      <vt:lpstr>等线</vt:lpstr>
      <vt:lpstr>Times New Roman</vt:lpstr>
      <vt:lpstr>Times New Roman</vt:lpstr>
      <vt:lpstr>Times New Roman Bold</vt:lpstr>
      <vt:lpstr>等线</vt:lpstr>
      <vt:lpstr>Office Theme</vt:lpstr>
      <vt:lpstr>Measurement Network Gateway Server Acquisition &amp; GUI Client</vt:lpstr>
      <vt:lpstr>Scope of the Section</vt:lpstr>
      <vt:lpstr>Sensor Thread</vt:lpstr>
      <vt:lpstr>Sensor Thread Lifecycle</vt:lpstr>
      <vt:lpstr>Sensor Configuration Model</vt:lpstr>
      <vt:lpstr>Execution Loop</vt:lpstr>
      <vt:lpstr>Local Sensor State</vt:lpstr>
      <vt:lpstr>Shared Resources</vt:lpstr>
      <vt:lpstr>Sampling Rate Control</vt:lpstr>
      <vt:lpstr>Thread Shutdown</vt:lpstr>
      <vt:lpstr>ADC Acquisition</vt:lpstr>
      <vt:lpstr>ADC Handling</vt:lpstr>
      <vt:lpstr>Simulation Mode</vt:lpstr>
      <vt:lpstr>Measurement Device Interface</vt:lpstr>
      <vt:lpstr>Conversion and Extraction</vt:lpstr>
      <vt:lpstr>Switch Inputs</vt:lpstr>
      <vt:lpstr>Encoding &amp; Data Flow</vt:lpstr>
      <vt:lpstr>Utility Layer</vt:lpstr>
      <vt:lpstr>Deterministic Timing</vt:lpstr>
      <vt:lpstr>Design Alternatives &amp; Testing</vt:lpstr>
      <vt:lpstr>GUI Client Architecture</vt:lpstr>
      <vt:lpstr>TCP Connection</vt:lpstr>
      <vt:lpstr>State Machine &amp; Data Reception</vt:lpstr>
      <vt:lpstr>Thread-Safe GUI Updates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Ameer Muhammed</cp:lastModifiedBy>
  <cp:revision>154</cp:revision>
  <dcterms:created xsi:type="dcterms:W3CDTF">2026-03-17T08:35:00Z</dcterms:created>
  <dcterms:modified xsi:type="dcterms:W3CDTF">2026-03-17T08:35:00Z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783DD8814E8D9DA7CF80B669785E2234_43</vt:lpwstr>
  </property>
  <property fmtid="{D5CDD505-2E9C-101B-9397-08002B2CF9AE}" pid="3" name="KSOProductBuildVer">
    <vt:lpwstr>1033-12.1.23152.23152</vt:lpwstr>
  </property>
</Properties>
</file>