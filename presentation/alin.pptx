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947" r:id="rId2"/>
  </p:sldMasterIdLst>
  <p:notesMasterIdLst>
    <p:notesMasterId r:id="rId29"/>
  </p:notesMasterIdLst>
  <p:sldIdLst>
    <p:sldId id="444" r:id="rId3"/>
    <p:sldId id="405" r:id="rId4"/>
    <p:sldId id="443" r:id="rId5"/>
    <p:sldId id="413" r:id="rId6"/>
    <p:sldId id="436" r:id="rId7"/>
    <p:sldId id="437" r:id="rId8"/>
    <p:sldId id="441" r:id="rId9"/>
    <p:sldId id="299" r:id="rId10"/>
    <p:sldId id="300" r:id="rId11"/>
    <p:sldId id="301" r:id="rId12"/>
    <p:sldId id="302" r:id="rId13"/>
    <p:sldId id="303" r:id="rId14"/>
    <p:sldId id="304" r:id="rId15"/>
    <p:sldId id="305" r:id="rId16"/>
    <p:sldId id="306" r:id="rId17"/>
    <p:sldId id="307" r:id="rId18"/>
    <p:sldId id="308" r:id="rId19"/>
    <p:sldId id="309" r:id="rId20"/>
    <p:sldId id="310" r:id="rId21"/>
    <p:sldId id="418" r:id="rId22"/>
    <p:sldId id="420" r:id="rId23"/>
    <p:sldId id="426" r:id="rId24"/>
    <p:sldId id="427" r:id="rId25"/>
    <p:sldId id="428" r:id="rId26"/>
    <p:sldId id="446" r:id="rId27"/>
    <p:sldId id="433"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045" autoAdjust="0"/>
    <p:restoredTop sz="68456" autoAdjust="0"/>
  </p:normalViewPr>
  <p:slideViewPr>
    <p:cSldViewPr snapToGrid="0">
      <p:cViewPr varScale="1">
        <p:scale>
          <a:sx n="81" d="100"/>
          <a:sy n="81" d="100"/>
        </p:scale>
        <p:origin x="60" y="3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AD15DD-AD60-4402-A6F7-71C91166DAE3}" type="datetimeFigureOut">
              <a:rPr lang="en-DE" smtClean="0"/>
              <a:t>17/03/2026</a:t>
            </a:fld>
            <a:endParaRPr lang="en-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81FB0A-777E-48B1-91DF-5D775E3367AC}" type="slidenum">
              <a:rPr lang="en-DE" smtClean="0"/>
              <a:t>‹#›</a:t>
            </a:fld>
            <a:endParaRPr lang="en-DE"/>
          </a:p>
        </p:txBody>
      </p:sp>
    </p:spTree>
    <p:extLst>
      <p:ext uri="{BB962C8B-B14F-4D97-AF65-F5344CB8AC3E}">
        <p14:creationId xmlns:p14="http://schemas.microsoft.com/office/powerpoint/2010/main" val="4096586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Let's start with an introduction. The MAX31865 is a high-performance RTD-to-digital converter purpose-built for precision temperature sensing. At its core is a 15-bit delta-sigma ADC that digitises the ratio of RTD resistance to a reference resistance. This ratiometric approach is key — it means that any drift in the excitation current source cancels out, giving us inherently stable measurements.
The device's signal conditioning circuitry is specifically engineered for PT100 to PT1000 platinum RTD sensors. Platinum is the material of choice for precision temperature measurement because of its excellent linearity and long-term stability.
What makes the MAX31865 especially convenient for embedded designers is its integration. It packs input protection, a digital controller, and a full SPI-compatible interface into a single chip. This drastically reduces the external component count and simplifies the design process — you don't need to build a discrete amplifier chain or worry about noise filtering at the analogue level.</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Now let's dive into the internal register architecture of the MAX31865. The device integrates a precision bias current source, 15-bit sigma-delta ADC, fault detection circuitry, and digital filtering — all accessible through a set of internal registers.
These registers are accessed via SPI using a straightforward addressing scheme: read addresses use the 0X-hex prefix, while write addresses use the 8X-hex prefix. All data is transferred MSB first. As you can see in the register map image, the device has registers for configuration at address 00h, RTD resistance data at 01h-02h, fault threshold limits at 03h-06h, and fault status at 07h.
This is a well-designed, compact register set that gives you complete control over the measurement process, fault detection, and noise filtering — all through simple SPI transactions. Let me walk through the most important registers individually, starting with the configuration register.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B07C3-CDA8-E12D-8210-224987CDFA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76015C-D525-20EB-751A-DDE8B82178F5}"/>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B8E80134-D919-9DE5-7003-361AE28388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1F6AC4-581E-861E-EC9E-4E4BED856C7A}"/>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9432805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5DFC8-1DBB-D299-88A9-7B43F6800E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6E7104-E6CD-B20A-82F4-6BCA76C22B6A}"/>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97F58E88-12D6-FE9E-FE27-F1B28C4DA4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FF5019-A6EF-BE01-023C-AFDC0D938CFF}"/>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9213466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shows the SPI write timing diagram visually. You can see how the chip select line goes low, the clock toggles, and the 16-bit frame is shifted out on the data line — first the 8-bit write address, then the 8-bit data value. This is a standard SPI Mode 1 or Mode 3 transaction that any microcontroller or FPGA SPI peripheral can generate. Take a moment to study this diagram as it clarifies exactly what happens on the wire during a write operation.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shows the SPI read timing diagram. You can see the two-phase nature of the read — first the register address is clocked out on the SDI line, then on the very next set of clock cycles, the device responds with the register data on the SDO line. Again, this is standard SPI protocol behaviour. The chip select remains low throughout the entire transaction to keep the device selected.</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Now let's shift to the hardware button interface. Our system uses five momentary push buttons arranged in a cross pattern for directional navigation — similar to a D-pad on a game controller. BTNC at bit 0 is the centre or OK button. BTND at bit 1 is down or decrease. BTNL at bit 2 is left or previous. BTNR at bit 3 is right or next. And BTNU at bit 4 is up or increase.
These five buttons are encoded as a 5-bit value, giving us a range from 0x00 to 0x1F — that's 0 to 31 in decimal. As shown in the diagram on the right, the cross-shaped layout makes the button functions intuitive for the user. This encoding scheme allows us to detect multiple simultaneous button presses, which I'll explain on the next slide.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Here's the button state encoding system in detail. Each button maps to a specific bit position in a 5-bit value. Bit 4 is BTNU, bit 3 is BTNR, bit 2 is BTNL, bit 1 is BTND, and bit 0 is BTNC. The beauty of this approach is that multiple simultaneous presses are naturally represented.
For example, no buttons pressed gives us binary 00000 or 0x00. BTNC alone is 00001 or 0x01. BTNU alone is 10000 or 0x10 which is decimal 16. If both BTNC and BTNU are pressed simultaneously, we get 10001 or 0x11 — decimal 17. And if all five buttons are pressed, that's 11111 or 0x1F — decimal 31.
To extract individual button states in code, we use simple bitwise operations. For the centre button: right-shift the value by 0 and AND with 0x01. For the up button: right-shift by 4 and AND with 0x01. This isolates each bit cleanly. This is a very efficient encoding that requires no lookup tables or complex parsing — just shift and mask.</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readButtons function shows how we actually communicate with the FPGA hardware to read the current state of all five buttons. The process goes through our kernel module, just like the SPI operations.
First, we prepare the request: set rnum to REGNUM_ID — that's 0x0FF — and rvalue to 7, which is the button selector code. The value 7 specifically tells the kernel module we want to read buttons rather than switches, which use rvalue 0.
Next, we send this request to the kernel module using the standard write system call — this crosses the user-kernel boundary. Then we read the response using the read system call, which retrieves the GPIO register data from the FPGA.
Finally, we mask the result to 5 bits using AND 0x1F, which keeps only bits 0 through 4 — our five button states. The return value ranges from 0x00 for no buttons pressed to 0x1F for all five pressed simultaneously.
A key point: the typical execution time is just 5 to 8 microseconds per read, making this fast enough for responsive user interaction even at high polling rates.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And finally, here are the references that informed this presentation. The primary source is the MAX31865 datasheet from Analog Devices, which provides the complete register specifications, timing diagrams, and application circuit recommendations. We also referenced the MAX31865PMB1 peripheral module documentation for the evaluation board design. And the Makerguides tutorial provided useful practical guidance for Arduino-based implementations.
To summarise what we've covered today: we started with the fundamentals of the MAX31865 — what it is, its specifications, and where it's used. We explored the three RTD wiring configurations and the temperature conversion mathematics. Then we dived deep into the register architecture, SPI read and write operations, and the kernel module interface. We covered the complete temperature measurement process and flow, the shutdown procedures, the hardware button interface, and finally the GUI client commands.
Thank you for your attention. I'm happy to take any questions you might have about the MAX31865, the system architecture, or any specific implementation details.</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5.xml"/><Relationship Id="rId7" Type="http://schemas.openxmlformats.org/officeDocument/2006/relationships/image" Target="../media/image3.jpe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ImageColumns">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D3F9BDAF-97BD-B7E8-E596-FA7F78EF37EB}"/>
              </a:ext>
            </a:extLst>
          </p:cNvPr>
          <p:cNvSpPr/>
          <p:nvPr userDrawn="1"/>
        </p:nvSpPr>
        <p:spPr>
          <a:xfrm>
            <a:off x="10082990" y="0"/>
            <a:ext cx="2109010" cy="2109010"/>
          </a:xfrm>
          <a:custGeom>
            <a:avLst/>
            <a:gdLst>
              <a:gd name="connsiteX0" fmla="*/ 0 w 2109010"/>
              <a:gd name="connsiteY0" fmla="*/ 0 h 2109010"/>
              <a:gd name="connsiteX1" fmla="*/ 765781 w 2109010"/>
              <a:gd name="connsiteY1" fmla="*/ 0 h 2109010"/>
              <a:gd name="connsiteX2" fmla="*/ 2109009 w 2109010"/>
              <a:gd name="connsiteY2" fmla="*/ 1343228 h 2109010"/>
              <a:gd name="connsiteX3" fmla="*/ 2109010 w 2109010"/>
              <a:gd name="connsiteY3" fmla="*/ 1343228 h 2109010"/>
              <a:gd name="connsiteX4" fmla="*/ 2109010 w 2109010"/>
              <a:gd name="connsiteY4" fmla="*/ 2109010 h 2109010"/>
              <a:gd name="connsiteX5" fmla="*/ 0 w 2109010"/>
              <a:gd name="connsiteY5" fmla="*/ 0 h 210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9010" h="2109010">
                <a:moveTo>
                  <a:pt x="0" y="0"/>
                </a:moveTo>
                <a:lnTo>
                  <a:pt x="765781" y="0"/>
                </a:lnTo>
                <a:cubicBezTo>
                  <a:pt x="765781" y="741844"/>
                  <a:pt x="1367165" y="1343228"/>
                  <a:pt x="2109009" y="1343228"/>
                </a:cubicBezTo>
                <a:lnTo>
                  <a:pt x="2109010" y="1343228"/>
                </a:lnTo>
                <a:lnTo>
                  <a:pt x="2109010" y="2109010"/>
                </a:lnTo>
                <a:cubicBezTo>
                  <a:pt x="944236" y="2109010"/>
                  <a:pt x="0" y="1164774"/>
                  <a:pt x="0" y="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3" name="Text Placeholder">
            <a:extLst>
              <a:ext uri="{FF2B5EF4-FFF2-40B4-BE49-F238E27FC236}">
                <a16:creationId xmlns:a16="http://schemas.microsoft.com/office/drawing/2014/main" id="{DF736408-7033-3DEF-7582-9C6C1B69B271}"/>
              </a:ext>
            </a:extLst>
          </p:cNvPr>
          <p:cNvSpPr>
            <a:spLocks noGrp="1"/>
          </p:cNvSpPr>
          <p:nvPr>
            <p:ph type="body" idx="26"/>
            <p:custDataLst>
              <p:tags r:id="rId1"/>
            </p:custDataLst>
          </p:nvPr>
        </p:nvSpPr>
        <p:spPr>
          <a:xfrm>
            <a:off x="588000" y="5858302"/>
            <a:ext cx="11016000" cy="415498"/>
          </a:xfrm>
        </p:spPr>
        <p:txBody>
          <a:bodyPr lIns="0" tIns="0" rIns="0" bIns="0" anchor="b" anchorCtr="0">
            <a:noAutofit/>
          </a:bodyPr>
          <a:lstStyle>
            <a:lvl1pPr marL="0" indent="0" algn="ctr">
              <a:lnSpc>
                <a:spcPct val="120000"/>
              </a:lnSpc>
              <a:spcBef>
                <a:spcPts val="0"/>
              </a:spcBef>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5" name="Subtitle Placeholder">
            <a:extLst>
              <a:ext uri="{FF2B5EF4-FFF2-40B4-BE49-F238E27FC236}">
                <a16:creationId xmlns:a16="http://schemas.microsoft.com/office/drawing/2014/main" id="{7C98F59F-A6C9-2B50-6862-5346466525A4}"/>
              </a:ext>
            </a:extLst>
          </p:cNvPr>
          <p:cNvSpPr>
            <a:spLocks noGrp="1"/>
          </p:cNvSpPr>
          <p:nvPr>
            <p:ph type="title" hasCustomPrompt="1"/>
            <p:custDataLst>
              <p:tags r:id="rId2"/>
            </p:custDataLst>
          </p:nvPr>
        </p:nvSpPr>
        <p:spPr>
          <a:xfrm>
            <a:off x="597207" y="1309407"/>
            <a:ext cx="11007418" cy="276999"/>
          </a:xfrm>
          <a:prstGeom prst="rect">
            <a:avLst/>
          </a:prstGeom>
        </p:spPr>
        <p:txBody>
          <a:bodyPr vert="horz" wrap="square" lIns="0" tIns="0" rIns="0" bIns="0" rtlCol="0" anchor="t" anchorCtr="0">
            <a:noAutofit/>
          </a:bodyPr>
          <a:lstStyle>
            <a:lvl1pPr>
              <a:defRPr sz="2000" spc="0">
                <a:latin typeface="+mj-lt"/>
              </a:defRPr>
            </a:lvl1pPr>
          </a:lstStyle>
          <a:p>
            <a:pPr lvl="0"/>
            <a:r>
              <a:rPr lang="en-US" dirty="0"/>
              <a:t>CLICK TO EDIT MASTER TEXT STYLES</a:t>
            </a:r>
            <a:endParaRPr lang="ru-RU" dirty="0"/>
          </a:p>
        </p:txBody>
      </p:sp>
      <p:sp>
        <p:nvSpPr>
          <p:cNvPr id="12" name="Picture Placeholder 11">
            <a:extLst>
              <a:ext uri="{FF2B5EF4-FFF2-40B4-BE49-F238E27FC236}">
                <a16:creationId xmlns:a16="http://schemas.microsoft.com/office/drawing/2014/main" id="{779F6F6C-B0C0-FD55-BA23-AAC3C485E665}"/>
              </a:ext>
            </a:extLst>
          </p:cNvPr>
          <p:cNvSpPr>
            <a:spLocks noGrp="1"/>
          </p:cNvSpPr>
          <p:nvPr>
            <p:ph type="pic" sz="quarter" idx="27"/>
          </p:nvPr>
        </p:nvSpPr>
        <p:spPr>
          <a:xfrm>
            <a:off x="587375" y="1802406"/>
            <a:ext cx="11017250" cy="3839898"/>
          </a:xfrm>
          <a:prstGeom prst="round2SameRect">
            <a:avLst>
              <a:gd name="adj1" fmla="val 11543"/>
              <a:gd name="adj2" fmla="val 0"/>
            </a:avLst>
          </a:prstGeom>
        </p:spPr>
        <p:txBody>
          <a:bodyPr/>
          <a:lstStyle/>
          <a:p>
            <a:endParaRPr lang="ru-RU"/>
          </a:p>
        </p:txBody>
      </p:sp>
      <p:pic>
        <p:nvPicPr>
          <p:cNvPr id="2" name="Graphic" descr="Портфель со сплошной заливкой">
            <a:extLst>
              <a:ext uri="{FF2B5EF4-FFF2-40B4-BE49-F238E27FC236}">
                <a16:creationId xmlns:a16="http://schemas.microsoft.com/office/drawing/2014/main" id="{989A2208-4E6D-1AD6-32D2-AB05C3649BD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554328" y="480357"/>
            <a:ext cx="360000" cy="360000"/>
          </a:xfrm>
          <a:prstGeom prst="rect">
            <a:avLst/>
          </a:prstGeom>
        </p:spPr>
      </p:pic>
      <p:sp>
        <p:nvSpPr>
          <p:cNvPr id="4" name="Footer Placeholder">
            <a:extLst>
              <a:ext uri="{FF2B5EF4-FFF2-40B4-BE49-F238E27FC236}">
                <a16:creationId xmlns:a16="http://schemas.microsoft.com/office/drawing/2014/main" id="{1D2D3368-569E-CC8A-A8A7-FA642F931BBB}"/>
              </a:ext>
            </a:extLst>
          </p:cNvPr>
          <p:cNvSpPr>
            <a:spLocks noGrp="1"/>
          </p:cNvSpPr>
          <p:nvPr>
            <p:ph type="body" sz="quarter" idx="22" hasCustomPrompt="1"/>
            <p:custDataLst>
              <p:tags r:id="rId3"/>
            </p:custDataLst>
          </p:nvPr>
        </p:nvSpPr>
        <p:spPr>
          <a:xfrm>
            <a:off x="1087588" y="572328"/>
            <a:ext cx="4900462"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35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pic>
        <p:nvPicPr>
          <p:cNvPr id="8" name="Free Badge"/>
          <p:cNvPicPr>
            <a:picLocks noChangeAspect="1"/>
          </p:cNvPicPr>
          <p:nvPr userDrawn="1"/>
        </p:nvPicPr>
        <p:blipFill>
          <a:blip r:embed="rId7"/>
          <a:stretch>
            <a:fillRect/>
          </a:stretch>
        </p:blipFill>
        <p:spPr>
          <a:xfrm>
            <a:off x="10526400" y="6429600"/>
            <a:ext cx="1134000" cy="273600"/>
          </a:xfrm>
          <a:prstGeom prst="rect">
            <a:avLst/>
          </a:prstGeom>
        </p:spPr>
      </p:pic>
    </p:spTree>
    <p:extLst>
      <p:ext uri="{BB962C8B-B14F-4D97-AF65-F5344CB8AC3E}">
        <p14:creationId xmlns:p14="http://schemas.microsoft.com/office/powerpoint/2010/main" val="1588019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2"/>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B49AF0BE-EA0C-C2AF-FCBA-EAA6664E50DD}"/>
              </a:ext>
            </a:extLst>
          </p:cNvPr>
          <p:cNvSpPr/>
          <p:nvPr userDrawn="1"/>
        </p:nvSpPr>
        <p:spPr>
          <a:xfrm>
            <a:off x="10082990" y="0"/>
            <a:ext cx="2109010" cy="2109010"/>
          </a:xfrm>
          <a:custGeom>
            <a:avLst/>
            <a:gdLst>
              <a:gd name="connsiteX0" fmla="*/ 0 w 2109010"/>
              <a:gd name="connsiteY0" fmla="*/ 0 h 2109010"/>
              <a:gd name="connsiteX1" fmla="*/ 765781 w 2109010"/>
              <a:gd name="connsiteY1" fmla="*/ 0 h 2109010"/>
              <a:gd name="connsiteX2" fmla="*/ 2109009 w 2109010"/>
              <a:gd name="connsiteY2" fmla="*/ 1343228 h 2109010"/>
              <a:gd name="connsiteX3" fmla="*/ 2109010 w 2109010"/>
              <a:gd name="connsiteY3" fmla="*/ 1343228 h 2109010"/>
              <a:gd name="connsiteX4" fmla="*/ 2109010 w 2109010"/>
              <a:gd name="connsiteY4" fmla="*/ 2109010 h 2109010"/>
              <a:gd name="connsiteX5" fmla="*/ 0 w 2109010"/>
              <a:gd name="connsiteY5" fmla="*/ 0 h 210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9010" h="2109010">
                <a:moveTo>
                  <a:pt x="0" y="0"/>
                </a:moveTo>
                <a:lnTo>
                  <a:pt x="765781" y="0"/>
                </a:lnTo>
                <a:cubicBezTo>
                  <a:pt x="765781" y="741844"/>
                  <a:pt x="1367165" y="1343228"/>
                  <a:pt x="2109009" y="1343228"/>
                </a:cubicBezTo>
                <a:lnTo>
                  <a:pt x="2109010" y="1343228"/>
                </a:lnTo>
                <a:lnTo>
                  <a:pt x="2109010" y="2109010"/>
                </a:lnTo>
                <a:cubicBezTo>
                  <a:pt x="944236" y="2109010"/>
                  <a:pt x="0" y="1164774"/>
                  <a:pt x="0" y="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pic>
        <p:nvPicPr>
          <p:cNvPr id="6" name="Graphic" descr="Портфель со сплошной заливкой">
            <a:extLst>
              <a:ext uri="{FF2B5EF4-FFF2-40B4-BE49-F238E27FC236}">
                <a16:creationId xmlns:a16="http://schemas.microsoft.com/office/drawing/2014/main" id="{1D2A880B-8363-6BB1-EDBC-9D9AC3A0FD4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54328" y="480357"/>
            <a:ext cx="360000" cy="360000"/>
          </a:xfrm>
          <a:prstGeom prst="rect">
            <a:avLst/>
          </a:prstGeom>
        </p:spPr>
      </p:pic>
      <p:sp>
        <p:nvSpPr>
          <p:cNvPr id="4" name="Subtitle Placeholder">
            <a:extLst>
              <a:ext uri="{FF2B5EF4-FFF2-40B4-BE49-F238E27FC236}">
                <a16:creationId xmlns:a16="http://schemas.microsoft.com/office/drawing/2014/main" id="{4B9E17C6-8EFF-03D0-72BA-CAC2B146B711}"/>
              </a:ext>
            </a:extLst>
          </p:cNvPr>
          <p:cNvSpPr>
            <a:spLocks noGrp="1"/>
          </p:cNvSpPr>
          <p:nvPr>
            <p:ph type="body" idx="26" hasCustomPrompt="1"/>
            <p:custDataLst>
              <p:tags r:id="rId1"/>
            </p:custDataLst>
          </p:nvPr>
        </p:nvSpPr>
        <p:spPr>
          <a:xfrm>
            <a:off x="561811" y="1065937"/>
            <a:ext cx="11007418" cy="525886"/>
          </a:xfrm>
        </p:spPr>
        <p:txBody>
          <a:bodyPr wrap="square" lIns="36000" tIns="0" rIns="0" bIns="216000" anchor="t" anchorCtr="0">
            <a:spAutoFit/>
          </a:bodyPr>
          <a:lstStyle>
            <a:lvl1pPr marL="0" indent="0" algn="l">
              <a:spcBef>
                <a:spcPts val="600"/>
              </a:spcBef>
              <a:buNone/>
              <a:defRPr sz="2000" spc="0" baseline="0">
                <a:solidFill>
                  <a:schemeClr val="tx1"/>
                </a:solidFill>
                <a:latin typeface="Bahnschrift" panose="020B0502040204020203" pitchFamily="34"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2" name="Name Date Placeholder">
            <a:extLst>
              <a:ext uri="{FF2B5EF4-FFF2-40B4-BE49-F238E27FC236}">
                <a16:creationId xmlns:a16="http://schemas.microsoft.com/office/drawing/2014/main" id="{C28C2C46-CCA7-9BC1-5A92-7E912F07EDAD}"/>
              </a:ext>
            </a:extLst>
          </p:cNvPr>
          <p:cNvSpPr>
            <a:spLocks noGrp="1"/>
          </p:cNvSpPr>
          <p:nvPr>
            <p:ph type="body" sz="quarter" idx="22"/>
          </p:nvPr>
        </p:nvSpPr>
        <p:spPr>
          <a:xfrm>
            <a:off x="1087588" y="572328"/>
            <a:ext cx="7708750"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35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edit Master text styles</a:t>
            </a:r>
            <a:endParaRPr lang="ru-RU" dirty="0"/>
          </a:p>
        </p:txBody>
      </p:sp>
      <p:sp>
        <p:nvSpPr>
          <p:cNvPr id="5" name="Picture 19">
            <a:extLst>
              <a:ext uri="{FF2B5EF4-FFF2-40B4-BE49-F238E27FC236}">
                <a16:creationId xmlns:a16="http://schemas.microsoft.com/office/drawing/2014/main" id="{3133F166-DAE8-2B28-90E9-242BCBB4093C}"/>
              </a:ext>
            </a:extLst>
          </p:cNvPr>
          <p:cNvSpPr>
            <a:spLocks noGrp="1"/>
          </p:cNvSpPr>
          <p:nvPr>
            <p:ph type="pic" sz="quarter" idx="12"/>
          </p:nvPr>
        </p:nvSpPr>
        <p:spPr>
          <a:xfrm>
            <a:off x="587375" y="3077439"/>
            <a:ext cx="11017250" cy="3780560"/>
          </a:xfrm>
          <a:prstGeom prst="round2SameRect">
            <a:avLst>
              <a:gd name="adj1" fmla="val 13573"/>
              <a:gd name="adj2" fmla="val 0"/>
            </a:avLst>
          </a:prstGeom>
        </p:spPr>
        <p:txBody>
          <a:bodyPr/>
          <a:lstStyle/>
          <a:p>
            <a:endParaRPr lang="ru-RU"/>
          </a:p>
        </p:txBody>
      </p:sp>
      <p:sp>
        <p:nvSpPr>
          <p:cNvPr id="8" name="Title Placeholder">
            <a:extLst>
              <a:ext uri="{FF2B5EF4-FFF2-40B4-BE49-F238E27FC236}">
                <a16:creationId xmlns:a16="http://schemas.microsoft.com/office/drawing/2014/main" id="{381312CE-2C3B-2F5A-EA24-F624616A4902}"/>
              </a:ext>
            </a:extLst>
          </p:cNvPr>
          <p:cNvSpPr>
            <a:spLocks noGrp="1"/>
          </p:cNvSpPr>
          <p:nvPr>
            <p:ph type="title" hasCustomPrompt="1"/>
            <p:custDataLst>
              <p:tags r:id="rId2"/>
            </p:custDataLst>
          </p:nvPr>
        </p:nvSpPr>
        <p:spPr>
          <a:xfrm>
            <a:off x="561811" y="1605712"/>
            <a:ext cx="11007418" cy="1255728"/>
          </a:xfrm>
          <a:prstGeom prst="rect">
            <a:avLst/>
          </a:prstGeom>
        </p:spPr>
        <p:txBody>
          <a:bodyPr vert="horz" wrap="square" lIns="0" tIns="0" rIns="0" bIns="0" rtlCol="0" anchor="ctr" anchorCtr="0">
            <a:noAutofit/>
          </a:bodyPr>
          <a:lstStyle>
            <a:lvl1pPr algn="l">
              <a:lnSpc>
                <a:spcPct val="85000"/>
              </a:lnSpc>
              <a:defRPr sz="4800" b="1" spc="0">
                <a:solidFill>
                  <a:schemeClr val="tx1"/>
                </a:solidFill>
                <a:latin typeface="Bahnschrift" panose="020B0502040204020203" pitchFamily="34" charset="0"/>
              </a:defRPr>
            </a:lvl1pPr>
          </a:lstStyle>
          <a:p>
            <a:pPr lvl="0"/>
            <a:r>
              <a:rPr lang="en-US" dirty="0"/>
              <a:t>CLICK TO EDIT MASTER TEXT</a:t>
            </a:r>
            <a:r>
              <a:rPr lang="ru-RU" dirty="0"/>
              <a:t> </a:t>
            </a:r>
            <a:r>
              <a:rPr lang="en-US" dirty="0"/>
              <a:t>STYLES</a:t>
            </a:r>
            <a:endParaRPr lang="ru-RU" dirty="0"/>
          </a:p>
        </p:txBody>
      </p:sp>
    </p:spTree>
    <p:extLst>
      <p:ext uri="{BB962C8B-B14F-4D97-AF65-F5344CB8AC3E}">
        <p14:creationId xmlns:p14="http://schemas.microsoft.com/office/powerpoint/2010/main" val="42096574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3/17/2026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5835032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3/17/2026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497398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3/17/2026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68329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3/17/2026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373138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3/17/2026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195795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3/17/2026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088137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3/17/2026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80941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3/17/2026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222375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3/17/2026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0775108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3/17/2026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8984387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3/17/2026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7822155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165330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ags" Target="../tags/tag2.xml"/><Relationship Id="rId4" Type="http://schemas.openxmlformats.org/officeDocument/2006/relationships/tags" Target="../tags/tag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DBC626-9493-4173-4785-B4E4251F3E76}"/>
              </a:ext>
            </a:extLst>
          </p:cNvPr>
          <p:cNvSpPr>
            <a:spLocks noGrp="1"/>
          </p:cNvSpPr>
          <p:nvPr>
            <p:ph type="title"/>
            <p:custDataLst>
              <p:tags r:id="rId4"/>
            </p:custDataLst>
          </p:nvPr>
        </p:nvSpPr>
        <p:spPr>
          <a:xfrm>
            <a:off x="597207" y="566333"/>
            <a:ext cx="11007418" cy="757130"/>
          </a:xfrm>
          <a:prstGeom prst="rect">
            <a:avLst/>
          </a:prstGeom>
        </p:spPr>
        <p:txBody>
          <a:bodyPr vert="horz" wrap="square" lIns="91440" tIns="45720" rIns="91440" bIns="45720" rtlCol="0" anchor="ctr">
            <a:spAutoFit/>
          </a:bodyPr>
          <a:lstStyle/>
          <a:p>
            <a:r>
              <a:rPr lang="ru-RU" dirty="0"/>
              <a:t>Образец заголовка</a:t>
            </a:r>
          </a:p>
        </p:txBody>
      </p:sp>
      <p:sp>
        <p:nvSpPr>
          <p:cNvPr id="3" name="Text Placeholder 2">
            <a:extLst>
              <a:ext uri="{FF2B5EF4-FFF2-40B4-BE49-F238E27FC236}">
                <a16:creationId xmlns:a16="http://schemas.microsoft.com/office/drawing/2014/main" id="{32DC0C7E-C392-88D5-6F37-5427AF82E737}"/>
              </a:ext>
            </a:extLst>
          </p:cNvPr>
          <p:cNvSpPr>
            <a:spLocks noGrp="1"/>
          </p:cNvSpPr>
          <p:nvPr>
            <p:ph type="body" idx="1"/>
            <p:custDataLst>
              <p:tags r:id="rId5"/>
            </p:custDataLst>
          </p:nvPr>
        </p:nvSpPr>
        <p:spPr>
          <a:xfrm>
            <a:off x="597207" y="1825625"/>
            <a:ext cx="11007418" cy="4351338"/>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Slide Number Placeholder">
            <a:extLst>
              <a:ext uri="{FF2B5EF4-FFF2-40B4-BE49-F238E27FC236}">
                <a16:creationId xmlns:a16="http://schemas.microsoft.com/office/drawing/2014/main" id="{E09F05A8-3E39-B0B1-3CD9-3F55B5F2E712}"/>
              </a:ext>
            </a:extLst>
          </p:cNvPr>
          <p:cNvSpPr txBox="1">
            <a:spLocks/>
          </p:cNvSpPr>
          <p:nvPr userDrawn="1"/>
        </p:nvSpPr>
        <p:spPr>
          <a:xfrm>
            <a:off x="11000187" y="572328"/>
            <a:ext cx="594606" cy="200055"/>
          </a:xfrm>
          <a:prstGeom prst="rect">
            <a:avLst/>
          </a:prstGeom>
        </p:spPr>
        <p:txBody>
          <a:bodyPr wrap="square" lIns="0" tIns="0" rIns="0" bIns="0">
            <a:noAutofit/>
          </a:bodyPr>
          <a:lstStyle>
            <a:lvl1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kern="1200">
                <a:solidFill>
                  <a:schemeClr val="accent2"/>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CF6F24BE-8BEB-403A-BDCC-38E201D0662D}" type="slidenum">
              <a:rPr lang="en-ID" smtClean="0">
                <a:solidFill>
                  <a:schemeClr val="tx1">
                    <a:alpha val="35000"/>
                  </a:schemeClr>
                </a:solidFill>
              </a:rPr>
              <a:pPr/>
              <a:t>‹#›</a:t>
            </a:fld>
            <a:endParaRPr lang="en-ID" dirty="0">
              <a:solidFill>
                <a:schemeClr val="tx1">
                  <a:alpha val="35000"/>
                </a:schemeClr>
              </a:solidFill>
            </a:endParaRPr>
          </a:p>
        </p:txBody>
      </p:sp>
    </p:spTree>
    <p:extLst>
      <p:ext uri="{BB962C8B-B14F-4D97-AF65-F5344CB8AC3E}">
        <p14:creationId xmlns:p14="http://schemas.microsoft.com/office/powerpoint/2010/main" val="2145507585"/>
      </p:ext>
    </p:extLst>
  </p:cSld>
  <p:clrMap bg1="lt1" tx1="dk1" bg2="lt2" tx2="dk2" accent1="accent1" accent2="accent2" accent3="accent3" accent4="accent4" accent5="accent5" accent6="accent6" hlink="hlink" folHlink="folHlink"/>
  <p:sldLayoutIdLst>
    <p:sldLayoutId id="2147483946" r:id="rId1"/>
    <p:sldLayoutId id="2147483871" r:id="rId2"/>
  </p:sldLayoutIdLst>
  <p:hf hdr="0" ftr="0" dt="0"/>
  <p:txStyles>
    <p:titleStyle>
      <a:lvl1pPr algn="l" defTabSz="914400" rtl="0" eaLnBrk="1" latinLnBrk="0" hangingPunct="1">
        <a:lnSpc>
          <a:spcPct val="90000"/>
        </a:lnSpc>
        <a:spcBef>
          <a:spcPct val="0"/>
        </a:spcBef>
        <a:buNone/>
        <a:defRPr sz="4800" kern="1200" spc="-80" baseline="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70" userDrawn="1">
          <p15:clr>
            <a:srgbClr val="F26B43"/>
          </p15:clr>
        </p15:guide>
        <p15:guide id="4" pos="7310" userDrawn="1">
          <p15:clr>
            <a:srgbClr val="F26B43"/>
          </p15:clr>
        </p15:guide>
        <p15:guide id="5" orient="horz" pos="368" userDrawn="1">
          <p15:clr>
            <a:srgbClr val="F26B43"/>
          </p15:clr>
        </p15:guide>
        <p15:guide id="6" orient="horz" pos="3952" userDrawn="1">
          <p15:clr>
            <a:srgbClr val="F26B43"/>
          </p15:clr>
        </p15:guide>
        <p15:guide id="12" pos="2003" userDrawn="1">
          <p15:clr>
            <a:srgbClr val="A4A3A4"/>
          </p15:clr>
        </p15:guide>
        <p15:guide id="13" pos="2139" userDrawn="1">
          <p15:clr>
            <a:srgbClr val="A4A3A4"/>
          </p15:clr>
        </p15:guide>
        <p15:guide id="14" pos="5541" userDrawn="1">
          <p15:clr>
            <a:srgbClr val="A4A3A4"/>
          </p15:clr>
        </p15:guide>
        <p15:guide id="15" pos="5677" userDrawn="1">
          <p15:clr>
            <a:srgbClr val="A4A3A4"/>
          </p15:clr>
        </p15:guide>
        <p15:guide id="16" pos="3772" userDrawn="1">
          <p15:clr>
            <a:srgbClr val="A4A3A4"/>
          </p15:clr>
        </p15:guide>
        <p15:guide id="17" pos="3908" userDrawn="1">
          <p15:clr>
            <a:srgbClr val="A4A3A4"/>
          </p15:clr>
        </p15:guide>
        <p15:guide id="18" pos="2593" userDrawn="1">
          <p15:clr>
            <a:srgbClr val="9FCC3B"/>
          </p15:clr>
        </p15:guide>
        <p15:guide id="19" pos="2729" userDrawn="1">
          <p15:clr>
            <a:srgbClr val="9FCC3B"/>
          </p15:clr>
        </p15:guide>
        <p15:guide id="20" pos="4951" userDrawn="1">
          <p15:clr>
            <a:srgbClr val="9FCC3B"/>
          </p15:clr>
        </p15:guide>
        <p15:guide id="21" pos="5087" userDrawn="1">
          <p15:clr>
            <a:srgbClr val="9FCC3B"/>
          </p15:clr>
        </p15:guide>
        <p15:guide id="22" orient="horz" pos="82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3/17/2026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01" name="TopAccentBar"/>
          <p:cNvSpPr/>
          <p:nvPr userDrawn="1"/>
        </p:nvSpPr>
        <p:spPr>
          <a:xfrm>
            <a:off x="0" y="0"/>
            <a:ext cx="12192000" cy="146050"/>
          </a:xfrm>
          <a:prstGeom prst="rect">
            <a:avLst/>
          </a:prstGeom>
          <a:gradFill>
            <a:gsLst>
              <a:gs pos="0">
                <a:srgbClr val="1B2A4A"/>
              </a:gs>
              <a:gs pos="50000">
                <a:srgbClr val="1B5E8A"/>
              </a:gs>
              <a:gs pos="100000">
                <a:srgbClr val="2C3E6B"/>
              </a:gs>
            </a:gsLst>
            <a:lin ang="0" scaled="1"/>
          </a:gradFill>
          <a:ln>
            <a:noFill/>
          </a:ln>
        </p:spPr>
        <p:txBody>
          <a:bodyPr/>
          <a:lstStyle/>
          <a:p>
            <a:endParaRPr lang="en-US"/>
          </a:p>
        </p:txBody>
      </p:sp>
      <p:sp>
        <p:nvSpPr>
          <p:cNvPr id="1002" name="BottomAccentLine"/>
          <p:cNvSpPr/>
          <p:nvPr userDrawn="1"/>
        </p:nvSpPr>
        <p:spPr>
          <a:xfrm>
            <a:off x="457200" y="6400800"/>
            <a:ext cx="11277600" cy="28575"/>
          </a:xfrm>
          <a:prstGeom prst="rect">
            <a:avLst/>
          </a:prstGeom>
          <a:solidFill>
            <a:srgbClr val="E8792F"/>
          </a:solidFill>
          <a:ln>
            <a:noFill/>
          </a:ln>
        </p:spPr>
        <p:txBody>
          <a:bodyPr/>
          <a:lstStyle/>
          <a:p>
            <a:endParaRPr lang="en-US"/>
          </a:p>
        </p:txBody>
      </p:sp>
      <p:sp>
        <p:nvSpPr>
          <p:cNvPr id="1003" name="LeftAccentStrip"/>
          <p:cNvSpPr/>
          <p:nvPr userDrawn="1"/>
        </p:nvSpPr>
        <p:spPr>
          <a:xfrm>
            <a:off x="0" y="146050"/>
            <a:ext cx="57150" cy="6711950"/>
          </a:xfrm>
          <a:prstGeom prst="rect">
            <a:avLst/>
          </a:prstGeom>
          <a:gradFill>
            <a:gsLst>
              <a:gs pos="0">
                <a:srgbClr val="1B5E8A"/>
              </a:gs>
              <a:gs pos="100000">
                <a:srgbClr val="1B5E8A">
                  <a:alpha val="15000"/>
                </a:srgbClr>
              </a:gs>
            </a:gsLst>
            <a:lin ang="5400000" scaled="1"/>
          </a:gradFill>
          <a:ln>
            <a:noFill/>
          </a:ln>
        </p:spPr>
        <p:txBody>
          <a:bodyPr/>
          <a:lstStyle/>
          <a:p>
            <a:endParaRPr lang="en-US"/>
          </a:p>
        </p:txBody>
      </p:sp>
    </p:spTree>
    <p:extLst>
      <p:ext uri="{BB962C8B-B14F-4D97-AF65-F5344CB8AC3E}">
        <p14:creationId xmlns:p14="http://schemas.microsoft.com/office/powerpoint/2010/main" val="2819189341"/>
      </p:ext>
    </p:extLst>
  </p:cSld>
  <p:clrMap bg1="lt1" tx1="dk1" bg2="lt2" tx2="dk2" accent1="accent1" accent2="accent2" accent3="accent3" accent4="accent4" accent5="accent5" accent6="accent6" hlink="hlink" folHlink="folHlink"/>
  <p:sldLayoutIdLst>
    <p:sldLayoutId id="2147483948" r:id="rId1"/>
    <p:sldLayoutId id="2147483949" r:id="rId2"/>
    <p:sldLayoutId id="2147483950" r:id="rId3"/>
    <p:sldLayoutId id="2147483951" r:id="rId4"/>
    <p:sldLayoutId id="2147483952" r:id="rId5"/>
    <p:sldLayoutId id="2147483953" r:id="rId6"/>
    <p:sldLayoutId id="2147483954" r:id="rId7"/>
    <p:sldLayoutId id="2147483955" r:id="rId8"/>
    <p:sldLayoutId id="2147483956" r:id="rId9"/>
    <p:sldLayoutId id="2147483957" r:id="rId10"/>
    <p:sldLayoutId id="2147483958" r:id="rId11"/>
    <p:sldLayoutId id="2147483959" r:id="rId12"/>
  </p:sldLayoutIdLst>
  <p:hf sldNum="0" hdr="0" ftr="0" dt="0"/>
  <p:txStyles>
    <p:titleStyle>
      <a:lvl1pPr algn="l" defTabSz="914400" rtl="0" eaLnBrk="1" latinLnBrk="0" hangingPunct="1">
        <a:lnSpc>
          <a:spcPct val="100000"/>
        </a:lnSpc>
        <a:spcBef>
          <a:spcPct val="0"/>
        </a:spcBef>
        <a:buNone/>
        <a:defRPr sz="4000" kern="1200" cap="all" spc="30" baseline="0">
          <a:solidFill>
            <a:srgbClr val="1B2A4A"/>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rgbClr val="2C3E6B"/>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rgbClr val="1B2A4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5.svg"/></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5.svg"/></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15.svg"/></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8D57538-CB6A-3AB8-1187-0BFBFC1B34A4}"/>
              </a:ext>
            </a:extLst>
          </p:cNvPr>
          <p:cNvPicPr>
            <a:picLocks noChangeAspect="1"/>
          </p:cNvPicPr>
          <p:nvPr/>
        </p:nvPicPr>
        <p:blipFill>
          <a:blip r:embed="rId2">
            <a:extLst>
              <a:ext uri="{28A0092B-C50C-407E-A947-70E740481C1C}">
                <a14:useLocalDpi xmlns:a14="http://schemas.microsoft.com/office/drawing/2010/main" val="0"/>
              </a:ext>
            </a:extLst>
          </a:blip>
          <a:srcRect t="17606" b="40207"/>
          <a:stretch>
            <a:fillRect/>
          </a:stretch>
        </p:blipFill>
        <p:spPr>
          <a:xfrm>
            <a:off x="20" y="-7150"/>
            <a:ext cx="12191980" cy="6857990"/>
          </a:xfrm>
          <a:prstGeom prst="rect">
            <a:avLst/>
          </a:prstGeom>
        </p:spPr>
      </p:pic>
      <p:sp>
        <p:nvSpPr>
          <p:cNvPr id="12" name="Rectangle 11">
            <a:extLst>
              <a:ext uri="{FF2B5EF4-FFF2-40B4-BE49-F238E27FC236}">
                <a16:creationId xmlns:a16="http://schemas.microsoft.com/office/drawing/2014/main" id="{6BB6B482-ACCA-4938-8AEA-49D525C17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6905" y="46904"/>
            <a:ext cx="6865150" cy="6771342"/>
          </a:xfrm>
          <a:prstGeom prst="rect">
            <a:avLst/>
          </a:prstGeom>
          <a:gradFill>
            <a:gsLst>
              <a:gs pos="42000">
                <a:srgbClr val="000000">
                  <a:alpha val="18000"/>
                </a:srgbClr>
              </a:gs>
              <a:gs pos="0">
                <a:srgbClr val="000000">
                  <a:alpha val="0"/>
                </a:srgbClr>
              </a:gs>
              <a:gs pos="100000">
                <a:srgbClr val="000000">
                  <a:alpha val="3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725FF67-249F-DBB1-7D21-AC01023F536E}"/>
              </a:ext>
            </a:extLst>
          </p:cNvPr>
          <p:cNvSpPr>
            <a:spLocks noGrp="1"/>
          </p:cNvSpPr>
          <p:nvPr>
            <p:ph type="ctrTitle"/>
          </p:nvPr>
        </p:nvSpPr>
        <p:spPr>
          <a:xfrm>
            <a:off x="94488" y="0"/>
            <a:ext cx="8655502" cy="3497042"/>
          </a:xfrm>
        </p:spPr>
        <p:txBody>
          <a:bodyPr anchor="t">
            <a:normAutofit/>
          </a:bodyPr>
          <a:lstStyle/>
          <a:p>
            <a:pPr>
              <a:lnSpc>
                <a:spcPct val="90000"/>
              </a:lnSpc>
            </a:pPr>
            <a:br>
              <a:rPr lang="en-GB" sz="3800" b="1" dirty="0">
                <a:solidFill>
                  <a:srgbClr val="FFFFFF"/>
                </a:solidFill>
              </a:rPr>
            </a:br>
            <a:br>
              <a:rPr lang="en-GB" sz="3800" b="1" dirty="0">
                <a:solidFill>
                  <a:srgbClr val="FFFFFF"/>
                </a:solidFill>
              </a:rPr>
            </a:br>
            <a:r>
              <a:rPr lang="en-GB" sz="3800" b="1" dirty="0">
                <a:solidFill>
                  <a:schemeClr val="tx1"/>
                </a:solidFill>
              </a:rPr>
              <a:t>Measurement Network Gateway</a:t>
            </a:r>
            <a:br>
              <a:rPr lang="en-GB" sz="3800" b="1" dirty="0">
                <a:solidFill>
                  <a:srgbClr val="FFFFFF"/>
                </a:solidFill>
              </a:rPr>
            </a:br>
            <a:endParaRPr lang="en-DE" sz="3800" b="1" dirty="0">
              <a:solidFill>
                <a:srgbClr val="FFFFFF"/>
              </a:solidFill>
            </a:endParaRPr>
          </a:p>
        </p:txBody>
      </p:sp>
      <p:sp>
        <p:nvSpPr>
          <p:cNvPr id="3" name="Subtitle 2">
            <a:extLst>
              <a:ext uri="{FF2B5EF4-FFF2-40B4-BE49-F238E27FC236}">
                <a16:creationId xmlns:a16="http://schemas.microsoft.com/office/drawing/2014/main" id="{93E3B1D3-00F5-18B0-DD43-82A78776CAC3}"/>
              </a:ext>
            </a:extLst>
          </p:cNvPr>
          <p:cNvSpPr>
            <a:spLocks noGrp="1"/>
          </p:cNvSpPr>
          <p:nvPr>
            <p:ph type="subTitle" idx="1"/>
          </p:nvPr>
        </p:nvSpPr>
        <p:spPr>
          <a:xfrm>
            <a:off x="704088" y="5157694"/>
            <a:ext cx="5019676" cy="976406"/>
          </a:xfrm>
        </p:spPr>
        <p:txBody>
          <a:bodyPr anchor="t">
            <a:normAutofit/>
          </a:bodyPr>
          <a:lstStyle/>
          <a:p>
            <a:r>
              <a:rPr lang="en-GB" dirty="0">
                <a:solidFill>
                  <a:schemeClr val="tx1"/>
                </a:solidFill>
              </a:rPr>
              <a:t>ALIN RAJ RAJAGOPALAN NAIR</a:t>
            </a:r>
          </a:p>
          <a:p>
            <a:r>
              <a:rPr lang="en-GB" dirty="0">
                <a:solidFill>
                  <a:schemeClr val="tx1"/>
                </a:solidFill>
              </a:rPr>
              <a:t>Matr No: 41520</a:t>
            </a:r>
            <a:endParaRPr lang="en-DE" dirty="0">
              <a:solidFill>
                <a:schemeClr val="tx1"/>
              </a:solidFill>
            </a:endParaRPr>
          </a:p>
        </p:txBody>
      </p:sp>
      <p:cxnSp>
        <p:nvCxnSpPr>
          <p:cNvPr id="14" name="Straight Connector 13">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rgbClr val="FFFFFF"/>
            </a:solidFill>
          </a:ln>
          <a:effectLst>
            <a:outerShdw blurRad="50800" dist="38100" dir="2700000" algn="tl" rotWithShape="0">
              <a:prstClr val="black">
                <a:alpha val="13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7849171"/>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E91AE-BB35-B7E5-282B-D0840B242E54}"/>
              </a:ext>
            </a:extLst>
          </p:cNvPr>
          <p:cNvSpPr>
            <a:spLocks noGrp="1"/>
          </p:cNvSpPr>
          <p:nvPr>
            <p:ph type="title"/>
          </p:nvPr>
        </p:nvSpPr>
        <p:spPr>
          <a:xfrm>
            <a:off x="700635" y="914400"/>
            <a:ext cx="10691265" cy="698500"/>
          </a:xfrm>
        </p:spPr>
        <p:txBody>
          <a:bodyPr>
            <a:normAutofit fontScale="90000"/>
          </a:bodyPr>
          <a:lstStyle/>
          <a:p>
            <a:pPr algn="l"/>
            <a:r>
              <a:rPr lang="en-GB" b="1" dirty="0">
                <a:solidFill>
                  <a:srgbClr val="1B2A4A"/>
                </a:solidFill>
                <a:latin typeface="Segoe UI Semibold"/>
              </a:rPr>
              <a:t>Introduction to MAX31865</a:t>
            </a:r>
          </a:p>
        </p:txBody>
      </p:sp>
      <p:pic>
        <p:nvPicPr>
          <p:cNvPr id="1026" name="Picture 2">
            <a:extLst>
              <a:ext uri="{FF2B5EF4-FFF2-40B4-BE49-F238E27FC236}">
                <a16:creationId xmlns:a16="http://schemas.microsoft.com/office/drawing/2014/main" id="{21205805-0BEA-9C1F-644C-9BD165378F0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7383781" y="1612900"/>
            <a:ext cx="4739640" cy="245485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4C0A0C4-1D7F-44BE-A609-89B70B2D75CA}"/>
              </a:ext>
            </a:extLst>
          </p:cNvPr>
          <p:cNvSpPr txBox="1"/>
          <p:nvPr/>
        </p:nvSpPr>
        <p:spPr>
          <a:xfrm>
            <a:off x="618671" y="2402115"/>
            <a:ext cx="6502400" cy="3031599"/>
          </a:xfrm>
          <a:prstGeom prst="rect">
            <a:avLst/>
          </a:prstGeom>
          <a:noFill/>
        </p:spPr>
        <p:txBody>
          <a:bodyPr vertOverflow="overflow" vert="horz" wrap="square" rtlCol="0" anchor="t">
            <a:spAutoFit/>
          </a:bodyPr>
          <a:lstStyle/>
          <a:p>
            <a:pPr marL="285750" indent="-285750" algn="l">
              <a:spcAft>
                <a:spcPts val="300"/>
              </a:spcAft>
              <a:buFont typeface="Arial" panose="020B0604020202020204" pitchFamily="34" charset="0"/>
              <a:buChar char="•"/>
            </a:pPr>
            <a:r>
              <a:rPr lang="en-GB" sz="1600" dirty="0">
                <a:latin typeface="Calibri"/>
                <a:ea typeface="Calibri"/>
                <a:cs typeface="Calibri"/>
              </a:rPr>
              <a:t>Developed by Maxim Integrated, the MAX31865 is a high-performance RTD-to-digital converter purpose-built for precision temperature sensing. </a:t>
            </a:r>
          </a:p>
          <a:p>
            <a:pPr algn="l">
              <a:spcAft>
                <a:spcPts val="300"/>
              </a:spcAft>
              <a:buNone/>
            </a:pPr>
            <a:endParaRPr lang="en-GB" sz="1600" dirty="0">
              <a:latin typeface="Calibri"/>
              <a:ea typeface="Calibri"/>
              <a:cs typeface="Calibri"/>
            </a:endParaRPr>
          </a:p>
          <a:p>
            <a:pPr marL="285750" indent="-285750" algn="l">
              <a:spcAft>
                <a:spcPts val="300"/>
              </a:spcAft>
              <a:buFont typeface="Arial" panose="020B0604020202020204" pitchFamily="34" charset="0"/>
              <a:buChar char="•"/>
            </a:pPr>
            <a:r>
              <a:rPr lang="en-GB" sz="1600" dirty="0">
                <a:latin typeface="Calibri"/>
                <a:ea typeface="Calibri"/>
                <a:cs typeface="Calibri"/>
              </a:rPr>
              <a:t>It features a 15-bit delta-sigma ADC that digitizes the ratio of RTD resistance to a reference resistance with exceptional accuracy.</a:t>
            </a:r>
          </a:p>
          <a:p>
            <a:pPr algn="l">
              <a:spcAft>
                <a:spcPts val="300"/>
              </a:spcAft>
              <a:buNone/>
            </a:pPr>
            <a:endParaRPr lang="en-GB" sz="1600" dirty="0">
              <a:latin typeface="Calibri"/>
              <a:ea typeface="Calibri"/>
              <a:cs typeface="Calibri"/>
            </a:endParaRPr>
          </a:p>
          <a:p>
            <a:pPr marL="285750" indent="-285750" algn="l">
              <a:spcAft>
                <a:spcPts val="300"/>
              </a:spcAft>
              <a:buFont typeface="Arial" panose="020B0604020202020204" pitchFamily="34" charset="0"/>
              <a:buChar char="•"/>
            </a:pPr>
            <a:r>
              <a:rPr lang="en-GB" sz="1600" dirty="0">
                <a:latin typeface="Calibri"/>
                <a:ea typeface="Calibri"/>
                <a:cs typeface="Calibri"/>
              </a:rPr>
              <a:t>Its tailored signal conditioning circuitry is engineered for seamless operation with PT100 to PT1000 platinum RTD sensors, delivering reliable readings across a wide temperature range.</a:t>
            </a:r>
          </a:p>
          <a:p>
            <a:pPr algn="l">
              <a:spcAft>
                <a:spcPts val="300"/>
              </a:spcAft>
              <a:buNone/>
            </a:pPr>
            <a:endParaRPr lang="en-GB" sz="1600" dirty="0">
              <a:latin typeface="Calibri"/>
              <a:ea typeface="Calibri"/>
              <a:cs typeface="Calibri"/>
            </a:endParaRPr>
          </a:p>
          <a:p>
            <a:pPr algn="l">
              <a:spcAft>
                <a:spcPts val="300"/>
              </a:spcAft>
              <a:buNone/>
            </a:pPr>
            <a:endParaRPr lang="en-GB" sz="1600" dirty="0">
              <a:latin typeface="Calibri"/>
              <a:ea typeface="Calibri"/>
              <a:cs typeface="Calibri"/>
            </a:endParaRPr>
          </a:p>
        </p:txBody>
      </p:sp>
      <p:sp>
        <p:nvSpPr>
          <p:cNvPr id="4" name="Rectangle 3">
            <a:extLst>
              <a:ext uri="{FF2B5EF4-FFF2-40B4-BE49-F238E27FC236}">
                <a16:creationId xmlns:a16="http://schemas.microsoft.com/office/drawing/2014/main" id="{7C299162-8F4C-473D-870C-164BACCC2043}"/>
              </a:ext>
            </a:extLst>
          </p:cNvPr>
          <p:cNvSpPr/>
          <p:nvPr/>
        </p:nvSpPr>
        <p:spPr>
          <a:xfrm>
            <a:off x="698500" y="1625600"/>
            <a:ext cx="1270000" cy="38100"/>
          </a:xfrm>
          <a:prstGeom prst="rect">
            <a:avLst/>
          </a:prstGeom>
          <a:solidFill>
            <a:srgbClr val="E879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DE"/>
          </a:p>
        </p:txBody>
      </p:sp>
    </p:spTree>
    <p:extLst>
      <p:ext uri="{BB962C8B-B14F-4D97-AF65-F5344CB8AC3E}">
        <p14:creationId xmlns:p14="http://schemas.microsoft.com/office/powerpoint/2010/main" val="1088018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578EB459-3385-4BF6-A9E1-154CBA2510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76F069-D67E-4517-2A61-A4B709E7BC6D}"/>
              </a:ext>
            </a:extLst>
          </p:cNvPr>
          <p:cNvSpPr>
            <a:spLocks noGrp="1"/>
          </p:cNvSpPr>
          <p:nvPr>
            <p:ph type="title"/>
          </p:nvPr>
        </p:nvSpPr>
        <p:spPr>
          <a:xfrm>
            <a:off x="704088" y="910667"/>
            <a:ext cx="3985731" cy="1316736"/>
          </a:xfrm>
        </p:spPr>
        <p:txBody>
          <a:bodyPr>
            <a:normAutofit/>
          </a:bodyPr>
          <a:lstStyle/>
          <a:p>
            <a:pPr>
              <a:lnSpc>
                <a:spcPct val="90000"/>
              </a:lnSpc>
            </a:pPr>
            <a:r>
              <a:rPr lang="en-GB" sz="2800" dirty="0"/>
              <a:t>TYPICAL APPLICATION CIRCUITS</a:t>
            </a:r>
            <a:endParaRPr lang="en-DE" sz="2800" dirty="0"/>
          </a:p>
        </p:txBody>
      </p:sp>
      <p:cxnSp>
        <p:nvCxnSpPr>
          <p:cNvPr id="25" name="Straight Connector 24">
            <a:extLst>
              <a:ext uri="{FF2B5EF4-FFF2-40B4-BE49-F238E27FC236}">
                <a16:creationId xmlns:a16="http://schemas.microsoft.com/office/drawing/2014/main" id="{1DC20223-0542-4FF7-8F2F-136889161E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9">
            <a:extLst>
              <a:ext uri="{FF2B5EF4-FFF2-40B4-BE49-F238E27FC236}">
                <a16:creationId xmlns:a16="http://schemas.microsoft.com/office/drawing/2014/main" id="{6DD6FB50-002E-93C3-FCCF-9290F53683A0}"/>
              </a:ext>
            </a:extLst>
          </p:cNvPr>
          <p:cNvSpPr>
            <a:spLocks noGrp="1"/>
          </p:cNvSpPr>
          <p:nvPr>
            <p:ph idx="1"/>
          </p:nvPr>
        </p:nvSpPr>
        <p:spPr>
          <a:xfrm>
            <a:off x="704088" y="1851853"/>
            <a:ext cx="5391912" cy="4309648"/>
          </a:xfrm>
        </p:spPr>
        <p:txBody>
          <a:bodyPr>
            <a:normAutofit/>
          </a:bodyPr>
          <a:lstStyle/>
          <a:p>
            <a:r>
              <a:rPr lang="en-US" dirty="0"/>
              <a:t>Three types of application Circuits </a:t>
            </a:r>
          </a:p>
          <a:p>
            <a:r>
              <a:rPr lang="en-US" dirty="0"/>
              <a:t>2 wire has the largest lead resistance error.</a:t>
            </a:r>
          </a:p>
          <a:p>
            <a:r>
              <a:rPr lang="en-US" dirty="0"/>
              <a:t>4 wire is more accurate.</a:t>
            </a:r>
          </a:p>
          <a:p>
            <a:pPr marL="0" indent="0">
              <a:buNone/>
            </a:pPr>
            <a:endParaRPr lang="en-US" dirty="0"/>
          </a:p>
        </p:txBody>
      </p:sp>
      <p:pic>
        <p:nvPicPr>
          <p:cNvPr id="4" name="Content Placeholder 3" descr="A diagram of a circuit board">
            <a:extLst>
              <a:ext uri="{FF2B5EF4-FFF2-40B4-BE49-F238E27FC236}">
                <a16:creationId xmlns:a16="http://schemas.microsoft.com/office/drawing/2014/main" id="{1862AA3F-053F-F047-4CE1-DD6551F9AA7A}"/>
              </a:ext>
            </a:extLst>
          </p:cNvPr>
          <p:cNvPicPr>
            <a:picLocks noChangeAspect="1"/>
          </p:cNvPicPr>
          <p:nvPr/>
        </p:nvPicPr>
        <p:blipFill>
          <a:blip r:embed="rId2" cstate="print">
            <a:extLst>
              <a:ext uri="{28A0092B-C50C-407E-A947-70E740481C1C}">
                <a14:useLocalDpi xmlns:a14="http://schemas.microsoft.com/office/drawing/2010/main" val="0"/>
              </a:ext>
            </a:extLst>
          </a:blip>
          <a:srcRect t="4100" r="3" b="3"/>
          <a:stretch>
            <a:fillRect/>
          </a:stretch>
        </p:blipFill>
        <p:spPr bwMode="auto">
          <a:xfrm>
            <a:off x="6185000" y="406772"/>
            <a:ext cx="3231036" cy="2819390"/>
          </a:xfrm>
          <a:prstGeom prst="rect">
            <a:avLst/>
          </a:prstGeom>
          <a:noFill/>
        </p:spPr>
      </p:pic>
      <p:pic>
        <p:nvPicPr>
          <p:cNvPr id="6" name="Picture 5" descr="A diagram of a circuit board&#10;&#10;AI-generated content may be incorrect.">
            <a:extLst>
              <a:ext uri="{FF2B5EF4-FFF2-40B4-BE49-F238E27FC236}">
                <a16:creationId xmlns:a16="http://schemas.microsoft.com/office/drawing/2014/main" id="{F92AB8F6-6288-0CB5-D8DC-4CB8D76F2316}"/>
              </a:ext>
            </a:extLst>
          </p:cNvPr>
          <p:cNvPicPr>
            <a:picLocks noChangeAspect="1"/>
          </p:cNvPicPr>
          <p:nvPr/>
        </p:nvPicPr>
        <p:blipFill>
          <a:blip r:embed="rId3" cstate="print">
            <a:extLst>
              <a:ext uri="{28A0092B-C50C-407E-A947-70E740481C1C}">
                <a14:useLocalDpi xmlns:a14="http://schemas.microsoft.com/office/drawing/2010/main" val="0"/>
              </a:ext>
            </a:extLst>
          </a:blip>
          <a:srcRect l="24527" r="11752" b="-2"/>
          <a:stretch>
            <a:fillRect/>
          </a:stretch>
        </p:blipFill>
        <p:spPr bwMode="auto">
          <a:xfrm>
            <a:off x="8212470" y="3552179"/>
            <a:ext cx="3471533" cy="2819390"/>
          </a:xfrm>
          <a:prstGeom prst="rect">
            <a:avLst/>
          </a:prstGeom>
          <a:noFill/>
        </p:spPr>
      </p:pic>
      <p:pic>
        <p:nvPicPr>
          <p:cNvPr id="5" name="Picture 4" descr="A diagram of a circuit board&#10;&#10;AI-generated content may be incorrect.">
            <a:extLst>
              <a:ext uri="{FF2B5EF4-FFF2-40B4-BE49-F238E27FC236}">
                <a16:creationId xmlns:a16="http://schemas.microsoft.com/office/drawing/2014/main" id="{3B291A9E-C798-3F1D-968C-58E72460BB4E}"/>
              </a:ext>
            </a:extLst>
          </p:cNvPr>
          <p:cNvPicPr>
            <a:picLocks noChangeAspect="1"/>
          </p:cNvPicPr>
          <p:nvPr/>
        </p:nvPicPr>
        <p:blipFill>
          <a:blip r:embed="rId4" cstate="print">
            <a:extLst>
              <a:ext uri="{28A0092B-C50C-407E-A947-70E740481C1C}">
                <a14:useLocalDpi xmlns:a14="http://schemas.microsoft.com/office/drawing/2010/main" val="0"/>
              </a:ext>
            </a:extLst>
          </a:blip>
          <a:srcRect t="20378" r="2" b="4"/>
          <a:stretch>
            <a:fillRect/>
          </a:stretch>
        </p:blipFill>
        <p:spPr bwMode="auto">
          <a:xfrm>
            <a:off x="2873665" y="3632933"/>
            <a:ext cx="4584810" cy="2897954"/>
          </a:xfrm>
          <a:prstGeom prst="rect">
            <a:avLst/>
          </a:prstGeom>
          <a:noFill/>
        </p:spPr>
      </p:pic>
      <p:sp>
        <p:nvSpPr>
          <p:cNvPr id="3" name="TextBox 2">
            <a:extLst>
              <a:ext uri="{FF2B5EF4-FFF2-40B4-BE49-F238E27FC236}">
                <a16:creationId xmlns:a16="http://schemas.microsoft.com/office/drawing/2014/main" id="{C367514B-5241-5D66-0CCD-17558125738D}"/>
              </a:ext>
            </a:extLst>
          </p:cNvPr>
          <p:cNvSpPr txBox="1"/>
          <p:nvPr/>
        </p:nvSpPr>
        <p:spPr>
          <a:xfrm>
            <a:off x="3098801" y="5552559"/>
            <a:ext cx="718457" cy="307777"/>
          </a:xfrm>
          <a:prstGeom prst="rect">
            <a:avLst/>
          </a:prstGeom>
          <a:noFill/>
        </p:spPr>
        <p:txBody>
          <a:bodyPr wrap="square" rtlCol="0">
            <a:spAutoFit/>
          </a:bodyPr>
          <a:lstStyle/>
          <a:p>
            <a:r>
              <a:rPr lang="en-GB" sz="1400" b="1" dirty="0"/>
              <a:t>3-Wire</a:t>
            </a:r>
            <a:endParaRPr lang="en-DE" sz="1400" b="1" dirty="0"/>
          </a:p>
        </p:txBody>
      </p:sp>
      <p:sp>
        <p:nvSpPr>
          <p:cNvPr id="7" name="TextBox 6">
            <a:extLst>
              <a:ext uri="{FF2B5EF4-FFF2-40B4-BE49-F238E27FC236}">
                <a16:creationId xmlns:a16="http://schemas.microsoft.com/office/drawing/2014/main" id="{51ED2805-D5D0-955F-57A9-825CB115D854}"/>
              </a:ext>
            </a:extLst>
          </p:cNvPr>
          <p:cNvSpPr txBox="1"/>
          <p:nvPr/>
        </p:nvSpPr>
        <p:spPr>
          <a:xfrm>
            <a:off x="7800519" y="5552558"/>
            <a:ext cx="718457" cy="307777"/>
          </a:xfrm>
          <a:prstGeom prst="rect">
            <a:avLst/>
          </a:prstGeom>
          <a:noFill/>
        </p:spPr>
        <p:txBody>
          <a:bodyPr wrap="square" rtlCol="0">
            <a:spAutoFit/>
          </a:bodyPr>
          <a:lstStyle/>
          <a:p>
            <a:r>
              <a:rPr lang="en-GB" sz="1400" b="1" dirty="0"/>
              <a:t>4-Wire</a:t>
            </a:r>
            <a:endParaRPr lang="en-DE" sz="1400" b="1" dirty="0"/>
          </a:p>
        </p:txBody>
      </p:sp>
    </p:spTree>
    <p:extLst>
      <p:ext uri="{BB962C8B-B14F-4D97-AF65-F5344CB8AC3E}">
        <p14:creationId xmlns:p14="http://schemas.microsoft.com/office/powerpoint/2010/main" val="3772459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EA271-BB10-7BA5-89D1-270815E59C6E}"/>
              </a:ext>
            </a:extLst>
          </p:cNvPr>
          <p:cNvSpPr>
            <a:spLocks noGrp="1"/>
          </p:cNvSpPr>
          <p:nvPr>
            <p:ph type="title"/>
          </p:nvPr>
        </p:nvSpPr>
        <p:spPr>
          <a:xfrm>
            <a:off x="700635" y="914400"/>
            <a:ext cx="10691265" cy="698500"/>
          </a:xfrm>
        </p:spPr>
        <p:txBody>
          <a:bodyPr>
            <a:normAutofit fontScale="90000"/>
          </a:bodyPr>
          <a:lstStyle/>
          <a:p>
            <a:pPr algn="l"/>
            <a:r>
              <a:rPr lang="en-GB" b="1" dirty="0">
                <a:solidFill>
                  <a:srgbClr val="1B2A4A"/>
                </a:solidFill>
                <a:latin typeface="Segoe UI Semibold"/>
              </a:rPr>
              <a:t>Internal Registers Overview</a:t>
            </a:r>
          </a:p>
        </p:txBody>
      </p:sp>
      <p:sp>
        <p:nvSpPr>
          <p:cNvPr id="3" name="Content Placeholder 2">
            <a:extLst>
              <a:ext uri="{FF2B5EF4-FFF2-40B4-BE49-F238E27FC236}">
                <a16:creationId xmlns:a16="http://schemas.microsoft.com/office/drawing/2014/main" id="{865F0528-C523-24C5-45F7-754BF0F4E6BB}"/>
              </a:ext>
            </a:extLst>
          </p:cNvPr>
          <p:cNvSpPr>
            <a:spLocks noGrp="1"/>
          </p:cNvSpPr>
          <p:nvPr>
            <p:ph idx="1"/>
          </p:nvPr>
        </p:nvSpPr>
        <p:spPr>
          <a:xfrm>
            <a:off x="602167" y="1778000"/>
            <a:ext cx="10957932" cy="587469"/>
          </a:xfrm>
        </p:spPr>
        <p:txBody>
          <a:bodyPr wrap="square">
            <a:spAutoFit/>
          </a:bodyPr>
          <a:lstStyle/>
          <a:p>
            <a:pPr>
              <a:spcAft>
                <a:spcPts val="200"/>
              </a:spcAft>
              <a:buNone/>
            </a:pPr>
            <a:r>
              <a:rPr lang="en-GB" sz="1500" dirty="0">
                <a:latin typeface="Calibri"/>
              </a:rPr>
              <a:t>The MAX31865 integrates a precision bias current source, 15-bit sigma-delta ADC, fault detection circuitry, and digital filtering. Registers are accessed via SPI using 0Xh (read) and 8Xh (write) addresses, MSB first.</a:t>
            </a:r>
          </a:p>
        </p:txBody>
      </p:sp>
      <p:sp>
        <p:nvSpPr>
          <p:cNvPr id="5" name="Rectangle 4">
            <a:extLst>
              <a:ext uri="{FF2B5EF4-FFF2-40B4-BE49-F238E27FC236}">
                <a16:creationId xmlns:a16="http://schemas.microsoft.com/office/drawing/2014/main" id="{A93F3488-95D2-4523-ACFE-6FEF594A9739}"/>
              </a:ext>
            </a:extLst>
          </p:cNvPr>
          <p:cNvSpPr/>
          <p:nvPr/>
        </p:nvSpPr>
        <p:spPr>
          <a:xfrm>
            <a:off x="698500" y="1625600"/>
            <a:ext cx="1270000" cy="38100"/>
          </a:xfrm>
          <a:prstGeom prst="rect">
            <a:avLst/>
          </a:prstGeom>
          <a:solidFill>
            <a:srgbClr val="E879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DE"/>
          </a:p>
        </p:txBody>
      </p:sp>
      <p:graphicFrame>
        <p:nvGraphicFramePr>
          <p:cNvPr id="7" name="Table 6">
            <a:extLst>
              <a:ext uri="{FF2B5EF4-FFF2-40B4-BE49-F238E27FC236}">
                <a16:creationId xmlns:a16="http://schemas.microsoft.com/office/drawing/2014/main" id="{AB71BB9B-A46F-2D5F-356D-F0A074308ABD}"/>
              </a:ext>
            </a:extLst>
          </p:cNvPr>
          <p:cNvGraphicFramePr>
            <a:graphicFrameLocks noGrp="1"/>
          </p:cNvGraphicFramePr>
          <p:nvPr>
            <p:extLst>
              <p:ext uri="{D42A27DB-BD31-4B8C-83A1-F6EECF244321}">
                <p14:modId xmlns:p14="http://schemas.microsoft.com/office/powerpoint/2010/main" val="2005948872"/>
              </p:ext>
            </p:extLst>
          </p:nvPr>
        </p:nvGraphicFramePr>
        <p:xfrm>
          <a:off x="698498" y="2453265"/>
          <a:ext cx="10585728" cy="3337560"/>
        </p:xfrm>
        <a:graphic>
          <a:graphicData uri="http://schemas.openxmlformats.org/drawingml/2006/table">
            <a:tbl>
              <a:tblPr firstRow="1" bandRow="1">
                <a:tableStyleId>{5C22544A-7EE6-4342-B048-85BDC9FD1C3A}</a:tableStyleId>
              </a:tblPr>
              <a:tblGrid>
                <a:gridCol w="2646432">
                  <a:extLst>
                    <a:ext uri="{9D8B030D-6E8A-4147-A177-3AD203B41FA5}">
                      <a16:colId xmlns:a16="http://schemas.microsoft.com/office/drawing/2014/main" val="2488021126"/>
                    </a:ext>
                  </a:extLst>
                </a:gridCol>
                <a:gridCol w="1598131">
                  <a:extLst>
                    <a:ext uri="{9D8B030D-6E8A-4147-A177-3AD203B41FA5}">
                      <a16:colId xmlns:a16="http://schemas.microsoft.com/office/drawing/2014/main" val="2831057477"/>
                    </a:ext>
                  </a:extLst>
                </a:gridCol>
                <a:gridCol w="1570382">
                  <a:extLst>
                    <a:ext uri="{9D8B030D-6E8A-4147-A177-3AD203B41FA5}">
                      <a16:colId xmlns:a16="http://schemas.microsoft.com/office/drawing/2014/main" val="2221114830"/>
                    </a:ext>
                  </a:extLst>
                </a:gridCol>
                <a:gridCol w="4770783">
                  <a:extLst>
                    <a:ext uri="{9D8B030D-6E8A-4147-A177-3AD203B41FA5}">
                      <a16:colId xmlns:a16="http://schemas.microsoft.com/office/drawing/2014/main" val="2454507631"/>
                    </a:ext>
                  </a:extLst>
                </a:gridCol>
              </a:tblGrid>
              <a:tr h="370840">
                <a:tc>
                  <a:txBody>
                    <a:bodyPr/>
                    <a:lstStyle/>
                    <a:p>
                      <a:pPr algn="ctr"/>
                      <a:r>
                        <a:rPr lang="en-GB" dirty="0"/>
                        <a:t>Register Name</a:t>
                      </a:r>
                      <a:endParaRPr lang="en-DE" dirty="0"/>
                    </a:p>
                  </a:txBody>
                  <a:tcPr/>
                </a:tc>
                <a:tc>
                  <a:txBody>
                    <a:bodyPr/>
                    <a:lstStyle/>
                    <a:p>
                      <a:pPr algn="ctr"/>
                      <a:r>
                        <a:rPr lang="en-GB" dirty="0"/>
                        <a:t>Read Address</a:t>
                      </a:r>
                      <a:endParaRPr lang="en-DE" dirty="0"/>
                    </a:p>
                  </a:txBody>
                  <a:tcPr/>
                </a:tc>
                <a:tc>
                  <a:txBody>
                    <a:bodyPr/>
                    <a:lstStyle/>
                    <a:p>
                      <a:pPr algn="ctr"/>
                      <a:r>
                        <a:rPr lang="en-GB" dirty="0"/>
                        <a:t>READ/WRITE</a:t>
                      </a:r>
                      <a:endParaRPr lang="en-DE" dirty="0"/>
                    </a:p>
                  </a:txBody>
                  <a:tcPr/>
                </a:tc>
                <a:tc>
                  <a:txBody>
                    <a:bodyPr/>
                    <a:lstStyle/>
                    <a:p>
                      <a:pPr algn="ctr"/>
                      <a:r>
                        <a:rPr lang="en-GB" dirty="0"/>
                        <a:t>Purpose</a:t>
                      </a:r>
                      <a:endParaRPr lang="en-DE" dirty="0"/>
                    </a:p>
                  </a:txBody>
                  <a:tcPr/>
                </a:tc>
                <a:extLst>
                  <a:ext uri="{0D108BD9-81ED-4DB2-BD59-A6C34878D82A}">
                    <a16:rowId xmlns:a16="http://schemas.microsoft.com/office/drawing/2014/main" val="2164147741"/>
                  </a:ext>
                </a:extLst>
              </a:tr>
              <a:tr h="370840">
                <a:tc>
                  <a:txBody>
                    <a:bodyPr/>
                    <a:lstStyle/>
                    <a:p>
                      <a:pPr algn="ctr"/>
                      <a:r>
                        <a:rPr lang="en-GB" dirty="0"/>
                        <a:t>Configuration</a:t>
                      </a:r>
                      <a:endParaRPr lang="en-DE" dirty="0"/>
                    </a:p>
                  </a:txBody>
                  <a:tcPr/>
                </a:tc>
                <a:tc>
                  <a:txBody>
                    <a:bodyPr/>
                    <a:lstStyle/>
                    <a:p>
                      <a:pPr algn="ctr"/>
                      <a:r>
                        <a:rPr lang="en-GB" dirty="0"/>
                        <a:t>0x00</a:t>
                      </a:r>
                      <a:endParaRPr lang="en-DE" dirty="0"/>
                    </a:p>
                  </a:txBody>
                  <a:tcPr/>
                </a:tc>
                <a:tc>
                  <a:txBody>
                    <a:bodyPr/>
                    <a:lstStyle/>
                    <a:p>
                      <a:pPr algn="ctr"/>
                      <a:r>
                        <a:rPr lang="en-GB" dirty="0"/>
                        <a:t>R/W</a:t>
                      </a:r>
                      <a:endParaRPr lang="en-DE" dirty="0"/>
                    </a:p>
                  </a:txBody>
                  <a:tcPr/>
                </a:tc>
                <a:tc>
                  <a:txBody>
                    <a:bodyPr/>
                    <a:lstStyle/>
                    <a:p>
                      <a:pPr algn="ctr"/>
                      <a:r>
                        <a:rPr lang="en-GB" dirty="0"/>
                        <a:t>Controls how chip works</a:t>
                      </a:r>
                      <a:endParaRPr lang="en-DE" dirty="0"/>
                    </a:p>
                  </a:txBody>
                  <a:tcPr/>
                </a:tc>
                <a:extLst>
                  <a:ext uri="{0D108BD9-81ED-4DB2-BD59-A6C34878D82A}">
                    <a16:rowId xmlns:a16="http://schemas.microsoft.com/office/drawing/2014/main" val="1325321875"/>
                  </a:ext>
                </a:extLst>
              </a:tr>
              <a:tr h="370840">
                <a:tc>
                  <a:txBody>
                    <a:bodyPr/>
                    <a:lstStyle/>
                    <a:p>
                      <a:pPr algn="ctr"/>
                      <a:r>
                        <a:rPr lang="en-GB" dirty="0"/>
                        <a:t>RTD MSBs</a:t>
                      </a:r>
                      <a:endParaRPr lang="en-DE" dirty="0"/>
                    </a:p>
                  </a:txBody>
                  <a:tcPr/>
                </a:tc>
                <a:tc>
                  <a:txBody>
                    <a:bodyPr/>
                    <a:lstStyle/>
                    <a:p>
                      <a:pPr algn="ctr"/>
                      <a:r>
                        <a:rPr lang="en-GB" dirty="0"/>
                        <a:t>0x01</a:t>
                      </a:r>
                      <a:endParaRPr lang="en-DE" dirty="0"/>
                    </a:p>
                  </a:txBody>
                  <a:tcPr/>
                </a:tc>
                <a:tc>
                  <a:txBody>
                    <a:bodyPr/>
                    <a:lstStyle/>
                    <a:p>
                      <a:pPr algn="ctr"/>
                      <a:r>
                        <a:rPr lang="en-GB" dirty="0"/>
                        <a:t>R</a:t>
                      </a:r>
                      <a:endParaRPr lang="en-DE" dirty="0"/>
                    </a:p>
                  </a:txBody>
                  <a:tcPr/>
                </a:tc>
                <a:tc>
                  <a:txBody>
                    <a:bodyPr/>
                    <a:lstStyle/>
                    <a:p>
                      <a:pPr algn="ctr"/>
                      <a:r>
                        <a:rPr lang="en-GB" dirty="0"/>
                        <a:t>Upper 8 bit of measurement result</a:t>
                      </a:r>
                      <a:endParaRPr lang="en-DE" dirty="0"/>
                    </a:p>
                  </a:txBody>
                  <a:tcPr/>
                </a:tc>
                <a:extLst>
                  <a:ext uri="{0D108BD9-81ED-4DB2-BD59-A6C34878D82A}">
                    <a16:rowId xmlns:a16="http://schemas.microsoft.com/office/drawing/2014/main" val="4095098241"/>
                  </a:ext>
                </a:extLst>
              </a:tr>
              <a:tr h="370840">
                <a:tc>
                  <a:txBody>
                    <a:bodyPr/>
                    <a:lstStyle/>
                    <a:p>
                      <a:pPr algn="ctr"/>
                      <a:r>
                        <a:rPr lang="en-GB" dirty="0"/>
                        <a:t>RTD LSBs</a:t>
                      </a:r>
                      <a:endParaRPr lang="en-DE" dirty="0"/>
                    </a:p>
                  </a:txBody>
                  <a:tcPr/>
                </a:tc>
                <a:tc>
                  <a:txBody>
                    <a:bodyPr/>
                    <a:lstStyle/>
                    <a:p>
                      <a:pPr algn="ctr"/>
                      <a:r>
                        <a:rPr lang="en-GB" dirty="0"/>
                        <a:t>0x02</a:t>
                      </a:r>
                      <a:endParaRPr lang="en-DE" dirty="0"/>
                    </a:p>
                  </a:txBody>
                  <a:tcPr/>
                </a:tc>
                <a:tc>
                  <a:txBody>
                    <a:bodyPr/>
                    <a:lstStyle/>
                    <a:p>
                      <a:pPr algn="ctr"/>
                      <a:r>
                        <a:rPr lang="en-GB" dirty="0"/>
                        <a:t>R</a:t>
                      </a:r>
                      <a:endParaRPr lang="en-DE" dirty="0"/>
                    </a:p>
                  </a:txBody>
                  <a:tcPr/>
                </a:tc>
                <a:tc>
                  <a:txBody>
                    <a:bodyPr/>
                    <a:lstStyle/>
                    <a:p>
                      <a:pPr algn="ctr"/>
                      <a:r>
                        <a:rPr lang="en-GB" dirty="0"/>
                        <a:t>Lower 7 bit of measurement result + Fault flag bit</a:t>
                      </a:r>
                      <a:endParaRPr lang="en-DE" dirty="0"/>
                    </a:p>
                  </a:txBody>
                  <a:tcPr/>
                </a:tc>
                <a:extLst>
                  <a:ext uri="{0D108BD9-81ED-4DB2-BD59-A6C34878D82A}">
                    <a16:rowId xmlns:a16="http://schemas.microsoft.com/office/drawing/2014/main" val="2043728688"/>
                  </a:ext>
                </a:extLst>
              </a:tr>
              <a:tr h="370840">
                <a:tc>
                  <a:txBody>
                    <a:bodyPr/>
                    <a:lstStyle/>
                    <a:p>
                      <a:pPr algn="ctr"/>
                      <a:r>
                        <a:rPr lang="en-GB" dirty="0"/>
                        <a:t>High fault threshold MSB</a:t>
                      </a:r>
                      <a:endParaRPr lang="en-DE" dirty="0"/>
                    </a:p>
                  </a:txBody>
                  <a:tcPr/>
                </a:tc>
                <a:tc>
                  <a:txBody>
                    <a:bodyPr/>
                    <a:lstStyle/>
                    <a:p>
                      <a:pPr algn="ctr"/>
                      <a:r>
                        <a:rPr lang="en-GB" dirty="0"/>
                        <a:t>0x03</a:t>
                      </a:r>
                      <a:endParaRPr lang="en-DE"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R/W</a:t>
                      </a:r>
                      <a:endParaRPr lang="en-DE" dirty="0"/>
                    </a:p>
                  </a:txBody>
                  <a:tcPr/>
                </a:tc>
                <a:tc>
                  <a:txBody>
                    <a:bodyPr/>
                    <a:lstStyle/>
                    <a:p>
                      <a:pPr algn="ctr"/>
                      <a:r>
                        <a:rPr lang="en-GB" dirty="0"/>
                        <a:t>If resistance goes above this – Fault</a:t>
                      </a:r>
                      <a:endParaRPr lang="en-DE" dirty="0"/>
                    </a:p>
                  </a:txBody>
                  <a:tcPr/>
                </a:tc>
                <a:extLst>
                  <a:ext uri="{0D108BD9-81ED-4DB2-BD59-A6C34878D82A}">
                    <a16:rowId xmlns:a16="http://schemas.microsoft.com/office/drawing/2014/main" val="364526358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High fault threshold LSB</a:t>
                      </a:r>
                      <a:endParaRPr lang="en-DE" dirty="0"/>
                    </a:p>
                  </a:txBody>
                  <a:tcPr/>
                </a:tc>
                <a:tc>
                  <a:txBody>
                    <a:bodyPr/>
                    <a:lstStyle/>
                    <a:p>
                      <a:pPr algn="ctr"/>
                      <a:r>
                        <a:rPr lang="en-GB" dirty="0"/>
                        <a:t>0x04</a:t>
                      </a:r>
                      <a:endParaRPr lang="en-DE"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R/W</a:t>
                      </a:r>
                      <a:endParaRPr lang="en-DE" dirty="0"/>
                    </a:p>
                  </a:txBody>
                  <a:tcPr/>
                </a:tc>
                <a:tc>
                  <a:txBody>
                    <a:bodyPr/>
                    <a:lstStyle/>
                    <a:p>
                      <a:pPr algn="ctr"/>
                      <a:r>
                        <a:rPr lang="en-GB" dirty="0"/>
                        <a:t>Lower byte of high limit</a:t>
                      </a:r>
                      <a:endParaRPr lang="en-DE" dirty="0"/>
                    </a:p>
                  </a:txBody>
                  <a:tcPr/>
                </a:tc>
                <a:extLst>
                  <a:ext uri="{0D108BD9-81ED-4DB2-BD59-A6C34878D82A}">
                    <a16:rowId xmlns:a16="http://schemas.microsoft.com/office/drawing/2014/main" val="292390863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Low fault threshold MSB</a:t>
                      </a:r>
                      <a:endParaRPr lang="en-DE" dirty="0"/>
                    </a:p>
                  </a:txBody>
                  <a:tcPr/>
                </a:tc>
                <a:tc>
                  <a:txBody>
                    <a:bodyPr/>
                    <a:lstStyle/>
                    <a:p>
                      <a:pPr algn="ctr"/>
                      <a:r>
                        <a:rPr lang="en-GB" dirty="0"/>
                        <a:t>0x05</a:t>
                      </a:r>
                      <a:endParaRPr lang="en-DE"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R/W</a:t>
                      </a:r>
                      <a:endParaRPr lang="en-DE"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If resistance goes below this – Fault</a:t>
                      </a:r>
                      <a:endParaRPr lang="en-DE" dirty="0"/>
                    </a:p>
                  </a:txBody>
                  <a:tcPr/>
                </a:tc>
                <a:extLst>
                  <a:ext uri="{0D108BD9-81ED-4DB2-BD59-A6C34878D82A}">
                    <a16:rowId xmlns:a16="http://schemas.microsoft.com/office/drawing/2014/main" val="7275302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Low fault threshold LSB</a:t>
                      </a:r>
                      <a:endParaRPr lang="en-DE" dirty="0"/>
                    </a:p>
                  </a:txBody>
                  <a:tcPr/>
                </a:tc>
                <a:tc>
                  <a:txBody>
                    <a:bodyPr/>
                    <a:lstStyle/>
                    <a:p>
                      <a:pPr algn="ctr"/>
                      <a:r>
                        <a:rPr lang="en-GB" dirty="0"/>
                        <a:t>0x06</a:t>
                      </a:r>
                      <a:endParaRPr lang="en-DE"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R/W</a:t>
                      </a:r>
                      <a:endParaRPr lang="en-DE"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Lower byte of low limit</a:t>
                      </a:r>
                      <a:endParaRPr lang="en-DE" dirty="0"/>
                    </a:p>
                  </a:txBody>
                  <a:tcPr/>
                </a:tc>
                <a:extLst>
                  <a:ext uri="{0D108BD9-81ED-4DB2-BD59-A6C34878D82A}">
                    <a16:rowId xmlns:a16="http://schemas.microsoft.com/office/drawing/2014/main" val="1923856930"/>
                  </a:ext>
                </a:extLst>
              </a:tr>
              <a:tr h="370840">
                <a:tc>
                  <a:txBody>
                    <a:bodyPr/>
                    <a:lstStyle/>
                    <a:p>
                      <a:pPr algn="ctr"/>
                      <a:r>
                        <a:rPr lang="en-GB" dirty="0"/>
                        <a:t>Fault Status</a:t>
                      </a:r>
                      <a:endParaRPr lang="en-DE" dirty="0"/>
                    </a:p>
                  </a:txBody>
                  <a:tcPr/>
                </a:tc>
                <a:tc>
                  <a:txBody>
                    <a:bodyPr/>
                    <a:lstStyle/>
                    <a:p>
                      <a:pPr algn="ctr"/>
                      <a:r>
                        <a:rPr lang="en-GB" dirty="0"/>
                        <a:t>0x07</a:t>
                      </a:r>
                      <a:endParaRPr lang="en-DE" dirty="0"/>
                    </a:p>
                  </a:txBody>
                  <a:tcPr/>
                </a:tc>
                <a:tc>
                  <a:txBody>
                    <a:bodyPr/>
                    <a:lstStyle/>
                    <a:p>
                      <a:pPr algn="ctr"/>
                      <a:r>
                        <a:rPr lang="en-GB" dirty="0"/>
                        <a:t>R</a:t>
                      </a:r>
                      <a:endParaRPr lang="en-DE" dirty="0"/>
                    </a:p>
                  </a:txBody>
                  <a:tcPr/>
                </a:tc>
                <a:tc>
                  <a:txBody>
                    <a:bodyPr/>
                    <a:lstStyle/>
                    <a:p>
                      <a:pPr algn="ctr"/>
                      <a:r>
                        <a:rPr lang="en-GB" dirty="0"/>
                        <a:t>Tells us exactly what went wrong</a:t>
                      </a:r>
                      <a:endParaRPr lang="en-DE" dirty="0"/>
                    </a:p>
                  </a:txBody>
                  <a:tcPr/>
                </a:tc>
                <a:extLst>
                  <a:ext uri="{0D108BD9-81ED-4DB2-BD59-A6C34878D82A}">
                    <a16:rowId xmlns:a16="http://schemas.microsoft.com/office/drawing/2014/main" val="1382371089"/>
                  </a:ext>
                </a:extLst>
              </a:tr>
            </a:tbl>
          </a:graphicData>
        </a:graphic>
      </p:graphicFrame>
    </p:spTree>
    <p:extLst>
      <p:ext uri="{BB962C8B-B14F-4D97-AF65-F5344CB8AC3E}">
        <p14:creationId xmlns:p14="http://schemas.microsoft.com/office/powerpoint/2010/main" val="11357808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325FA-D7F1-F1BF-29EF-8A034F6A4F30}"/>
              </a:ext>
            </a:extLst>
          </p:cNvPr>
          <p:cNvSpPr>
            <a:spLocks noGrp="1"/>
          </p:cNvSpPr>
          <p:nvPr>
            <p:ph type="title"/>
          </p:nvPr>
        </p:nvSpPr>
        <p:spPr>
          <a:xfrm>
            <a:off x="700635" y="914400"/>
            <a:ext cx="10691265" cy="755374"/>
          </a:xfrm>
        </p:spPr>
        <p:txBody>
          <a:bodyPr/>
          <a:lstStyle/>
          <a:p>
            <a:r>
              <a:rPr lang="en-GB" b="1" dirty="0"/>
              <a:t>Configuration Register (0x00)</a:t>
            </a:r>
            <a:endParaRPr lang="en-DE" dirty="0"/>
          </a:p>
        </p:txBody>
      </p:sp>
      <p:graphicFrame>
        <p:nvGraphicFramePr>
          <p:cNvPr id="5" name="Content Placeholder 4">
            <a:extLst>
              <a:ext uri="{FF2B5EF4-FFF2-40B4-BE49-F238E27FC236}">
                <a16:creationId xmlns:a16="http://schemas.microsoft.com/office/drawing/2014/main" id="{943166D9-3B54-8DFA-81A2-9072F18F6168}"/>
              </a:ext>
            </a:extLst>
          </p:cNvPr>
          <p:cNvGraphicFramePr>
            <a:graphicFrameLocks noGrp="1"/>
          </p:cNvGraphicFramePr>
          <p:nvPr>
            <p:ph idx="1"/>
            <p:extLst>
              <p:ext uri="{D42A27DB-BD31-4B8C-83A1-F6EECF244321}">
                <p14:modId xmlns:p14="http://schemas.microsoft.com/office/powerpoint/2010/main" val="440369207"/>
              </p:ext>
            </p:extLst>
          </p:nvPr>
        </p:nvGraphicFramePr>
        <p:xfrm>
          <a:off x="631072" y="2458553"/>
          <a:ext cx="11325064" cy="3535678"/>
        </p:xfrm>
        <a:graphic>
          <a:graphicData uri="http://schemas.openxmlformats.org/drawingml/2006/table">
            <a:tbl>
              <a:tblPr firstRow="1" bandRow="1">
                <a:tableStyleId>{5C22544A-7EE6-4342-B048-85BDC9FD1C3A}</a:tableStyleId>
              </a:tblPr>
              <a:tblGrid>
                <a:gridCol w="1415633">
                  <a:extLst>
                    <a:ext uri="{9D8B030D-6E8A-4147-A177-3AD203B41FA5}">
                      <a16:colId xmlns:a16="http://schemas.microsoft.com/office/drawing/2014/main" val="3681503451"/>
                    </a:ext>
                  </a:extLst>
                </a:gridCol>
                <a:gridCol w="1415633">
                  <a:extLst>
                    <a:ext uri="{9D8B030D-6E8A-4147-A177-3AD203B41FA5}">
                      <a16:colId xmlns:a16="http://schemas.microsoft.com/office/drawing/2014/main" val="2432983324"/>
                    </a:ext>
                  </a:extLst>
                </a:gridCol>
                <a:gridCol w="1415633">
                  <a:extLst>
                    <a:ext uri="{9D8B030D-6E8A-4147-A177-3AD203B41FA5}">
                      <a16:colId xmlns:a16="http://schemas.microsoft.com/office/drawing/2014/main" val="1684514397"/>
                    </a:ext>
                  </a:extLst>
                </a:gridCol>
                <a:gridCol w="1415633">
                  <a:extLst>
                    <a:ext uri="{9D8B030D-6E8A-4147-A177-3AD203B41FA5}">
                      <a16:colId xmlns:a16="http://schemas.microsoft.com/office/drawing/2014/main" val="3757828804"/>
                    </a:ext>
                  </a:extLst>
                </a:gridCol>
                <a:gridCol w="1415633">
                  <a:extLst>
                    <a:ext uri="{9D8B030D-6E8A-4147-A177-3AD203B41FA5}">
                      <a16:colId xmlns:a16="http://schemas.microsoft.com/office/drawing/2014/main" val="2067736597"/>
                    </a:ext>
                  </a:extLst>
                </a:gridCol>
                <a:gridCol w="1415633">
                  <a:extLst>
                    <a:ext uri="{9D8B030D-6E8A-4147-A177-3AD203B41FA5}">
                      <a16:colId xmlns:a16="http://schemas.microsoft.com/office/drawing/2014/main" val="2241587335"/>
                    </a:ext>
                  </a:extLst>
                </a:gridCol>
                <a:gridCol w="1415633">
                  <a:extLst>
                    <a:ext uri="{9D8B030D-6E8A-4147-A177-3AD203B41FA5}">
                      <a16:colId xmlns:a16="http://schemas.microsoft.com/office/drawing/2014/main" val="1637406539"/>
                    </a:ext>
                  </a:extLst>
                </a:gridCol>
                <a:gridCol w="1415633">
                  <a:extLst>
                    <a:ext uri="{9D8B030D-6E8A-4147-A177-3AD203B41FA5}">
                      <a16:colId xmlns:a16="http://schemas.microsoft.com/office/drawing/2014/main" val="1403069940"/>
                    </a:ext>
                  </a:extLst>
                </a:gridCol>
              </a:tblGrid>
              <a:tr h="650212">
                <a:tc>
                  <a:txBody>
                    <a:bodyPr/>
                    <a:lstStyle/>
                    <a:p>
                      <a:pPr algn="ctr"/>
                      <a:r>
                        <a:rPr lang="en-GB" dirty="0"/>
                        <a:t>D7</a:t>
                      </a:r>
                      <a:endParaRPr lang="en-DE" dirty="0"/>
                    </a:p>
                  </a:txBody>
                  <a:tcPr/>
                </a:tc>
                <a:tc>
                  <a:txBody>
                    <a:bodyPr/>
                    <a:lstStyle/>
                    <a:p>
                      <a:pPr algn="ctr"/>
                      <a:r>
                        <a:rPr lang="en-GB" dirty="0"/>
                        <a:t>D6</a:t>
                      </a:r>
                      <a:endParaRPr lang="en-DE" dirty="0"/>
                    </a:p>
                  </a:txBody>
                  <a:tcPr/>
                </a:tc>
                <a:tc>
                  <a:txBody>
                    <a:bodyPr/>
                    <a:lstStyle/>
                    <a:p>
                      <a:pPr algn="ctr"/>
                      <a:r>
                        <a:rPr lang="en-GB" dirty="0"/>
                        <a:t>D5</a:t>
                      </a:r>
                      <a:endParaRPr lang="en-DE" dirty="0"/>
                    </a:p>
                  </a:txBody>
                  <a:tcPr/>
                </a:tc>
                <a:tc>
                  <a:txBody>
                    <a:bodyPr/>
                    <a:lstStyle/>
                    <a:p>
                      <a:pPr algn="ctr"/>
                      <a:r>
                        <a:rPr lang="en-GB" dirty="0"/>
                        <a:t>D4</a:t>
                      </a:r>
                      <a:endParaRPr lang="en-DE" dirty="0"/>
                    </a:p>
                  </a:txBody>
                  <a:tcPr/>
                </a:tc>
                <a:tc>
                  <a:txBody>
                    <a:bodyPr/>
                    <a:lstStyle/>
                    <a:p>
                      <a:pPr algn="ctr"/>
                      <a:r>
                        <a:rPr lang="en-GB" dirty="0"/>
                        <a:t>D3</a:t>
                      </a:r>
                      <a:endParaRPr lang="en-DE" dirty="0"/>
                    </a:p>
                  </a:txBody>
                  <a:tcPr/>
                </a:tc>
                <a:tc>
                  <a:txBody>
                    <a:bodyPr/>
                    <a:lstStyle/>
                    <a:p>
                      <a:pPr algn="ctr"/>
                      <a:r>
                        <a:rPr lang="en-GB" dirty="0"/>
                        <a:t>D2</a:t>
                      </a:r>
                      <a:endParaRPr lang="en-DE" dirty="0"/>
                    </a:p>
                  </a:txBody>
                  <a:tcPr/>
                </a:tc>
                <a:tc>
                  <a:txBody>
                    <a:bodyPr/>
                    <a:lstStyle/>
                    <a:p>
                      <a:pPr algn="ctr"/>
                      <a:r>
                        <a:rPr lang="en-GB" dirty="0"/>
                        <a:t>D1</a:t>
                      </a:r>
                      <a:endParaRPr lang="en-DE" dirty="0"/>
                    </a:p>
                  </a:txBody>
                  <a:tcPr/>
                </a:tc>
                <a:tc>
                  <a:txBody>
                    <a:bodyPr/>
                    <a:lstStyle/>
                    <a:p>
                      <a:pPr algn="ctr"/>
                      <a:r>
                        <a:rPr lang="en-GB" dirty="0"/>
                        <a:t>D0</a:t>
                      </a:r>
                      <a:endParaRPr lang="en-DE" dirty="0"/>
                    </a:p>
                  </a:txBody>
                  <a:tcPr/>
                </a:tc>
                <a:extLst>
                  <a:ext uri="{0D108BD9-81ED-4DB2-BD59-A6C34878D82A}">
                    <a16:rowId xmlns:a16="http://schemas.microsoft.com/office/drawing/2014/main" val="3975933612"/>
                  </a:ext>
                </a:extLst>
              </a:tr>
              <a:tr h="601301">
                <a:tc>
                  <a:txBody>
                    <a:bodyPr/>
                    <a:lstStyle/>
                    <a:p>
                      <a:pPr algn="ctr"/>
                      <a:r>
                        <a:rPr lang="en-GB" dirty="0"/>
                        <a:t>V-Bias</a:t>
                      </a:r>
                      <a:endParaRPr lang="en-DE" dirty="0"/>
                    </a:p>
                  </a:txBody>
                  <a:tcPr/>
                </a:tc>
                <a:tc>
                  <a:txBody>
                    <a:bodyPr/>
                    <a:lstStyle/>
                    <a:p>
                      <a:pPr algn="ctr"/>
                      <a:r>
                        <a:rPr lang="en-GB" dirty="0"/>
                        <a:t>CONV</a:t>
                      </a:r>
                      <a:endParaRPr lang="en-DE" dirty="0"/>
                    </a:p>
                  </a:txBody>
                  <a:tcPr/>
                </a:tc>
                <a:tc>
                  <a:txBody>
                    <a:bodyPr/>
                    <a:lstStyle/>
                    <a:p>
                      <a:pPr algn="ctr"/>
                      <a:r>
                        <a:rPr lang="en-GB" dirty="0"/>
                        <a:t>1shot</a:t>
                      </a:r>
                      <a:endParaRPr lang="en-DE" dirty="0"/>
                    </a:p>
                  </a:txBody>
                  <a:tcPr/>
                </a:tc>
                <a:tc>
                  <a:txBody>
                    <a:bodyPr/>
                    <a:lstStyle/>
                    <a:p>
                      <a:pPr algn="ctr"/>
                      <a:r>
                        <a:rPr lang="en-GB" dirty="0"/>
                        <a:t>3-Wire</a:t>
                      </a:r>
                      <a:endParaRPr lang="en-DE" dirty="0"/>
                    </a:p>
                  </a:txBody>
                  <a:tcPr/>
                </a:tc>
                <a:tc>
                  <a:txBody>
                    <a:bodyPr/>
                    <a:lstStyle/>
                    <a:p>
                      <a:pPr algn="ctr"/>
                      <a:r>
                        <a:rPr lang="en-GB" dirty="0"/>
                        <a:t>Fault 1</a:t>
                      </a:r>
                      <a:endParaRPr lang="en-DE" dirty="0"/>
                    </a:p>
                  </a:txBody>
                  <a:tcPr/>
                </a:tc>
                <a:tc>
                  <a:txBody>
                    <a:bodyPr/>
                    <a:lstStyle/>
                    <a:p>
                      <a:pPr algn="ctr"/>
                      <a:r>
                        <a:rPr lang="en-GB" dirty="0"/>
                        <a:t>Fault2</a:t>
                      </a:r>
                      <a:endParaRPr lang="en-DE" dirty="0"/>
                    </a:p>
                  </a:txBody>
                  <a:tcPr/>
                </a:tc>
                <a:tc>
                  <a:txBody>
                    <a:bodyPr/>
                    <a:lstStyle/>
                    <a:p>
                      <a:pPr algn="ctr"/>
                      <a:r>
                        <a:rPr lang="en-GB" dirty="0"/>
                        <a:t>F-CLR</a:t>
                      </a:r>
                      <a:endParaRPr lang="en-DE" dirty="0"/>
                    </a:p>
                  </a:txBody>
                  <a:tcPr/>
                </a:tc>
                <a:tc>
                  <a:txBody>
                    <a:bodyPr/>
                    <a:lstStyle/>
                    <a:p>
                      <a:pPr algn="ctr"/>
                      <a:r>
                        <a:rPr lang="en-GB" dirty="0"/>
                        <a:t>FILT</a:t>
                      </a:r>
                      <a:endParaRPr lang="en-DE" dirty="0"/>
                    </a:p>
                  </a:txBody>
                  <a:tcPr/>
                </a:tc>
                <a:extLst>
                  <a:ext uri="{0D108BD9-81ED-4DB2-BD59-A6C34878D82A}">
                    <a16:rowId xmlns:a16="http://schemas.microsoft.com/office/drawing/2014/main" val="3940058062"/>
                  </a:ext>
                </a:extLst>
              </a:tr>
              <a:tr h="1491521">
                <a:tc>
                  <a:txBody>
                    <a:bodyPr/>
                    <a:lstStyle/>
                    <a:p>
                      <a:pPr algn="ctr"/>
                      <a:r>
                        <a:rPr lang="en-GB" sz="1400" b="1" dirty="0"/>
                        <a:t>0= OFF</a:t>
                      </a:r>
                    </a:p>
                    <a:p>
                      <a:pPr algn="ctr"/>
                      <a:r>
                        <a:rPr lang="en-GB" sz="1400" b="1" dirty="0"/>
                        <a:t>1=ON</a:t>
                      </a:r>
                    </a:p>
                    <a:p>
                      <a:pPr algn="ctr"/>
                      <a:endParaRPr lang="en-GB" sz="1400" b="1" dirty="0"/>
                    </a:p>
                    <a:p>
                      <a:pPr algn="ctr"/>
                      <a:r>
                        <a:rPr lang="en-GB" sz="1400" b="1" dirty="0"/>
                        <a:t>The power switch for Measurement</a:t>
                      </a:r>
                      <a:endParaRPr lang="en-DE" sz="1400" b="1" dirty="0"/>
                    </a:p>
                  </a:txBody>
                  <a:tcPr>
                    <a:solidFill>
                      <a:srgbClr val="FFC000"/>
                    </a:solidFill>
                  </a:tcPr>
                </a:tc>
                <a:tc>
                  <a:txBody>
                    <a:bodyPr/>
                    <a:lstStyle/>
                    <a:p>
                      <a:pPr algn="ctr"/>
                      <a:r>
                        <a:rPr lang="en-GB" sz="1400" b="1" dirty="0"/>
                        <a:t>Continuous = 1</a:t>
                      </a:r>
                    </a:p>
                    <a:p>
                      <a:pPr algn="ctr"/>
                      <a:r>
                        <a:rPr lang="en-GB" sz="1400" b="1" dirty="0"/>
                        <a:t>One Shot =0</a:t>
                      </a:r>
                      <a:endParaRPr lang="en-DE" sz="1400" b="1" dirty="0"/>
                    </a:p>
                  </a:txBody>
                  <a:tcPr>
                    <a:solidFill>
                      <a:srgbClr val="FFC000"/>
                    </a:solidFill>
                  </a:tcPr>
                </a:tc>
                <a:tc>
                  <a:txBody>
                    <a:bodyPr/>
                    <a:lstStyle/>
                    <a:p>
                      <a:pPr algn="ctr"/>
                      <a:r>
                        <a:rPr lang="en-GB" sz="1400" b="1" dirty="0"/>
                        <a:t>Write bit =1</a:t>
                      </a:r>
                    </a:p>
                    <a:p>
                      <a:pPr algn="ctr"/>
                      <a:endParaRPr lang="en-GB" sz="1400" b="1" dirty="0"/>
                    </a:p>
                    <a:p>
                      <a:pPr algn="ctr"/>
                      <a:r>
                        <a:rPr lang="en-GB" sz="1400" b="1" dirty="0"/>
                        <a:t>Chip suddenly starts conversion.</a:t>
                      </a:r>
                    </a:p>
                    <a:p>
                      <a:pPr algn="ctr"/>
                      <a:r>
                        <a:rPr lang="en-GB" sz="1400" b="1" dirty="0"/>
                        <a:t>Clears itself</a:t>
                      </a:r>
                      <a:endParaRPr lang="en-DE" sz="1400" b="1" dirty="0"/>
                    </a:p>
                  </a:txBody>
                  <a:tcPr>
                    <a:solidFill>
                      <a:srgbClr val="FFC000"/>
                    </a:solidFill>
                  </a:tcPr>
                </a:tc>
                <a:tc>
                  <a:txBody>
                    <a:bodyPr/>
                    <a:lstStyle/>
                    <a:p>
                      <a:pPr algn="ctr"/>
                      <a:r>
                        <a:rPr lang="en-GB" sz="1400" b="1" dirty="0"/>
                        <a:t>3-Wire =1</a:t>
                      </a:r>
                    </a:p>
                    <a:p>
                      <a:pPr algn="ctr"/>
                      <a:r>
                        <a:rPr lang="en-GB" sz="1400" b="1" dirty="0"/>
                        <a:t>2/4 wire =0</a:t>
                      </a:r>
                      <a:endParaRPr lang="en-DE" sz="1400" b="1" dirty="0"/>
                    </a:p>
                  </a:txBody>
                  <a:tcPr>
                    <a:solidFill>
                      <a:srgbClr val="FFC000"/>
                    </a:solidFill>
                  </a:tcPr>
                </a:tc>
                <a:tc gridSpan="2">
                  <a:txBody>
                    <a:bodyPr/>
                    <a:lstStyle/>
                    <a:p>
                      <a:pPr algn="ctr"/>
                      <a:r>
                        <a:rPr lang="en-GB" sz="1400" b="1" dirty="0"/>
                        <a:t>Normally 0</a:t>
                      </a:r>
                    </a:p>
                    <a:p>
                      <a:pPr algn="ctr"/>
                      <a:r>
                        <a:rPr lang="en-GB" sz="1400" b="1" dirty="0"/>
                        <a:t>These are self tests, the chip tests its own connection to ensure if there is any fault</a:t>
                      </a:r>
                      <a:endParaRPr lang="en-DE" sz="1400" b="1" dirty="0"/>
                    </a:p>
                  </a:txBody>
                  <a:tcPr>
                    <a:solidFill>
                      <a:srgbClr val="FFC000"/>
                    </a:solidFill>
                  </a:tcPr>
                </a:tc>
                <a:tc hMerge="1">
                  <a:txBody>
                    <a:bodyPr/>
                    <a:lstStyle/>
                    <a:p>
                      <a:endParaRPr dirty="0"/>
                    </a:p>
                  </a:txBody>
                  <a:tcPr>
                    <a:solidFill>
                      <a:srgbClr val="FFC000"/>
                    </a:solidFill>
                  </a:tcPr>
                </a:tc>
                <a:tc>
                  <a:txBody>
                    <a:bodyPr/>
                    <a:lstStyle/>
                    <a:p>
                      <a:pPr algn="ctr"/>
                      <a:r>
                        <a:rPr lang="en-GB" sz="1400" b="1" dirty="0"/>
                        <a:t>Normally 0</a:t>
                      </a:r>
                    </a:p>
                    <a:p>
                      <a:pPr algn="ctr"/>
                      <a:r>
                        <a:rPr lang="en-GB" sz="1400" b="1" dirty="0"/>
                        <a:t>When all faults flag cleared =1</a:t>
                      </a:r>
                      <a:endParaRPr lang="en-DE" sz="1400" b="1" dirty="0"/>
                    </a:p>
                  </a:txBody>
                  <a:tcPr>
                    <a:solidFill>
                      <a:srgbClr val="FFC000"/>
                    </a:solidFill>
                  </a:tcPr>
                </a:tc>
                <a:tc>
                  <a:txBody>
                    <a:bodyPr/>
                    <a:lstStyle/>
                    <a:p>
                      <a:pPr algn="ctr"/>
                      <a:r>
                        <a:rPr lang="en-GB" sz="1400" b="1" dirty="0"/>
                        <a:t> filter turned to 50Hz =1</a:t>
                      </a:r>
                    </a:p>
                    <a:p>
                      <a:pPr algn="ctr"/>
                      <a:r>
                        <a:rPr lang="en-GB" sz="1400" b="1" dirty="0"/>
                        <a:t>filter turned to 60Hz =0</a:t>
                      </a:r>
                      <a:endParaRPr lang="en-DE" sz="1400" b="1" dirty="0"/>
                    </a:p>
                  </a:txBody>
                  <a:tcPr>
                    <a:solidFill>
                      <a:srgbClr val="FFC000"/>
                    </a:solidFill>
                  </a:tcPr>
                </a:tc>
                <a:extLst>
                  <a:ext uri="{0D108BD9-81ED-4DB2-BD59-A6C34878D82A}">
                    <a16:rowId xmlns:a16="http://schemas.microsoft.com/office/drawing/2014/main" val="729042478"/>
                  </a:ext>
                </a:extLst>
              </a:tr>
              <a:tr h="792644">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dirty="0"/>
                        <a:t>Bit 7</a:t>
                      </a:r>
                      <a:endParaRPr lang="en-DE" dirty="0"/>
                    </a:p>
                    <a:p>
                      <a:pPr lvl="0" algn="ctr"/>
                      <a:endParaRPr lang="en-DE" dirty="0"/>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dirty="0"/>
                        <a:t>Bit 6</a:t>
                      </a:r>
                      <a:endParaRPr lang="en-DE" dirty="0"/>
                    </a:p>
                    <a:p>
                      <a:pPr lvl="0" algn="ctr"/>
                      <a:endParaRPr lang="en-DE" dirty="0"/>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dirty="0"/>
                        <a:t>Bit 5</a:t>
                      </a:r>
                      <a:endParaRPr lang="en-DE" dirty="0"/>
                    </a:p>
                    <a:p>
                      <a:pPr lvl="0" algn="ctr"/>
                      <a:endParaRPr lang="en-DE" dirty="0"/>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dirty="0"/>
                        <a:t>Bit 4</a:t>
                      </a:r>
                      <a:endParaRPr lang="en-DE" dirty="0"/>
                    </a:p>
                    <a:p>
                      <a:pPr lvl="0" algn="ctr"/>
                      <a:endParaRPr lang="en-DE" dirty="0"/>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dirty="0"/>
                        <a:t>Bit 3</a:t>
                      </a:r>
                      <a:endParaRPr lang="en-DE" dirty="0"/>
                    </a:p>
                    <a:p>
                      <a:pPr lvl="0" algn="ctr"/>
                      <a:endParaRPr lang="en-DE" dirty="0"/>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dirty="0"/>
                        <a:t>Bit 2</a:t>
                      </a:r>
                      <a:endParaRPr lang="en-DE" dirty="0"/>
                    </a:p>
                    <a:p>
                      <a:pPr lvl="0" algn="ctr"/>
                      <a:endParaRPr lang="en-DE" dirty="0"/>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dirty="0"/>
                        <a:t>Bit 1</a:t>
                      </a:r>
                      <a:endParaRPr lang="en-DE" dirty="0"/>
                    </a:p>
                    <a:p>
                      <a:pPr lvl="0" algn="ctr"/>
                      <a:endParaRPr lang="en-DE" dirty="0"/>
                    </a:p>
                  </a:txBody>
                  <a:tcPr/>
                </a:tc>
                <a:tc>
                  <a:txBody>
                    <a:bodyPr/>
                    <a:lstStyle/>
                    <a:p>
                      <a:pPr lvl="0" algn="ctr"/>
                      <a:r>
                        <a:rPr lang="en-GB" dirty="0"/>
                        <a:t>Bit 0</a:t>
                      </a:r>
                      <a:endParaRPr lang="en-DE" dirty="0"/>
                    </a:p>
                  </a:txBody>
                  <a:tcPr/>
                </a:tc>
                <a:extLst>
                  <a:ext uri="{0D108BD9-81ED-4DB2-BD59-A6C34878D82A}">
                    <a16:rowId xmlns:a16="http://schemas.microsoft.com/office/drawing/2014/main" val="2587506622"/>
                  </a:ext>
                </a:extLst>
              </a:tr>
            </a:tbl>
          </a:graphicData>
        </a:graphic>
      </p:graphicFrame>
      <p:sp>
        <p:nvSpPr>
          <p:cNvPr id="4" name="TextBox 3">
            <a:extLst>
              <a:ext uri="{FF2B5EF4-FFF2-40B4-BE49-F238E27FC236}">
                <a16:creationId xmlns:a16="http://schemas.microsoft.com/office/drawing/2014/main" id="{CDFF47F8-F034-0211-59B7-31A920E8BED3}"/>
              </a:ext>
            </a:extLst>
          </p:cNvPr>
          <p:cNvSpPr txBox="1"/>
          <p:nvPr/>
        </p:nvSpPr>
        <p:spPr>
          <a:xfrm>
            <a:off x="1019331" y="1791325"/>
            <a:ext cx="7644984" cy="369332"/>
          </a:xfrm>
          <a:prstGeom prst="rect">
            <a:avLst/>
          </a:prstGeom>
          <a:noFill/>
        </p:spPr>
        <p:txBody>
          <a:bodyPr wrap="square" rtlCol="0">
            <a:spAutoFit/>
          </a:bodyPr>
          <a:lstStyle/>
          <a:p>
            <a:r>
              <a:rPr lang="en-GB" dirty="0"/>
              <a:t>This is the control panel of MAX31865 </a:t>
            </a:r>
            <a:endParaRPr lang="en-DE" dirty="0"/>
          </a:p>
        </p:txBody>
      </p:sp>
    </p:spTree>
    <p:extLst>
      <p:ext uri="{BB962C8B-B14F-4D97-AF65-F5344CB8AC3E}">
        <p14:creationId xmlns:p14="http://schemas.microsoft.com/office/powerpoint/2010/main" val="3962075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238CD70-DEEF-C41A-7100-119BBEFA45A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90753" y="1658322"/>
            <a:ext cx="7008051" cy="1254056"/>
          </a:xfrm>
          <a:prstGeom prst="rect">
            <a:avLst/>
          </a:prstGeom>
        </p:spPr>
      </p:pic>
      <p:pic>
        <p:nvPicPr>
          <p:cNvPr id="7" name="Picture 6">
            <a:extLst>
              <a:ext uri="{FF2B5EF4-FFF2-40B4-BE49-F238E27FC236}">
                <a16:creationId xmlns:a16="http://schemas.microsoft.com/office/drawing/2014/main" id="{08FF8F85-FA97-FE1A-60D1-7C3C488C99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7346" y="3261266"/>
            <a:ext cx="7061458" cy="1151173"/>
          </a:xfrm>
          <a:prstGeom prst="rect">
            <a:avLst/>
          </a:prstGeom>
        </p:spPr>
      </p:pic>
      <p:pic>
        <p:nvPicPr>
          <p:cNvPr id="9" name="Picture 8">
            <a:extLst>
              <a:ext uri="{FF2B5EF4-FFF2-40B4-BE49-F238E27FC236}">
                <a16:creationId xmlns:a16="http://schemas.microsoft.com/office/drawing/2014/main" id="{998882BE-5755-A74C-2EDF-AB3F280EA8D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7346" y="4761327"/>
            <a:ext cx="7061458" cy="1276528"/>
          </a:xfrm>
          <a:prstGeom prst="rect">
            <a:avLst/>
          </a:prstGeom>
        </p:spPr>
      </p:pic>
      <p:cxnSp>
        <p:nvCxnSpPr>
          <p:cNvPr id="11" name="Straight Arrow Connector 10">
            <a:extLst>
              <a:ext uri="{FF2B5EF4-FFF2-40B4-BE49-F238E27FC236}">
                <a16:creationId xmlns:a16="http://schemas.microsoft.com/office/drawing/2014/main" id="{B8FBBE3C-F560-2704-51AE-5FDAB08E433F}"/>
              </a:ext>
            </a:extLst>
          </p:cNvPr>
          <p:cNvCxnSpPr/>
          <p:nvPr/>
        </p:nvCxnSpPr>
        <p:spPr>
          <a:xfrm>
            <a:off x="7898804" y="2285350"/>
            <a:ext cx="10603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58224D7-B492-8514-99D9-C3EB4203DE87}"/>
              </a:ext>
            </a:extLst>
          </p:cNvPr>
          <p:cNvCxnSpPr/>
          <p:nvPr/>
        </p:nvCxnSpPr>
        <p:spPr>
          <a:xfrm>
            <a:off x="7954674" y="3914353"/>
            <a:ext cx="10603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D51F26E-1822-13C9-187E-2C5AE04D8787}"/>
              </a:ext>
            </a:extLst>
          </p:cNvPr>
          <p:cNvCxnSpPr/>
          <p:nvPr/>
        </p:nvCxnSpPr>
        <p:spPr>
          <a:xfrm>
            <a:off x="8077534" y="5456147"/>
            <a:ext cx="10603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2643772A-1798-08F4-A38F-6D537C503E7B}"/>
              </a:ext>
            </a:extLst>
          </p:cNvPr>
          <p:cNvSpPr txBox="1"/>
          <p:nvPr/>
        </p:nvSpPr>
        <p:spPr>
          <a:xfrm>
            <a:off x="9082526" y="1814786"/>
            <a:ext cx="2539407" cy="738664"/>
          </a:xfrm>
          <a:prstGeom prst="rect">
            <a:avLst/>
          </a:prstGeom>
          <a:noFill/>
        </p:spPr>
        <p:txBody>
          <a:bodyPr wrap="square" rtlCol="0">
            <a:spAutoFit/>
          </a:bodyPr>
          <a:lstStyle/>
          <a:p>
            <a:r>
              <a:rPr lang="en-GB" sz="1400" b="1" dirty="0"/>
              <a:t>MAX_31865_CNV_START</a:t>
            </a:r>
          </a:p>
          <a:p>
            <a:r>
              <a:rPr lang="en-GB" sz="1400" dirty="0"/>
              <a:t>Value: 0xA1</a:t>
            </a:r>
          </a:p>
          <a:p>
            <a:r>
              <a:rPr lang="en-GB" sz="1400" dirty="0"/>
              <a:t>Used for each Measurement</a:t>
            </a:r>
            <a:endParaRPr lang="en-DE" sz="1400" dirty="0"/>
          </a:p>
        </p:txBody>
      </p:sp>
      <p:sp>
        <p:nvSpPr>
          <p:cNvPr id="15" name="TextBox 14">
            <a:extLst>
              <a:ext uri="{FF2B5EF4-FFF2-40B4-BE49-F238E27FC236}">
                <a16:creationId xmlns:a16="http://schemas.microsoft.com/office/drawing/2014/main" id="{AF9B60D1-7DB0-FCBC-8D4D-CFAA5189BF16}"/>
              </a:ext>
            </a:extLst>
          </p:cNvPr>
          <p:cNvSpPr txBox="1"/>
          <p:nvPr/>
        </p:nvSpPr>
        <p:spPr>
          <a:xfrm>
            <a:off x="9070941" y="3545021"/>
            <a:ext cx="2539407" cy="738664"/>
          </a:xfrm>
          <a:prstGeom prst="rect">
            <a:avLst/>
          </a:prstGeom>
          <a:noFill/>
        </p:spPr>
        <p:txBody>
          <a:bodyPr wrap="square" rtlCol="0">
            <a:spAutoFit/>
          </a:bodyPr>
          <a:lstStyle/>
          <a:p>
            <a:r>
              <a:rPr lang="en-GB" sz="1400" b="1" dirty="0"/>
              <a:t>MAX_31865_CFG_50HZ</a:t>
            </a:r>
          </a:p>
          <a:p>
            <a:r>
              <a:rPr lang="en-GB" sz="1400" dirty="0"/>
              <a:t>Value: 0x81</a:t>
            </a:r>
          </a:p>
          <a:p>
            <a:r>
              <a:rPr lang="en-GB" sz="1400" dirty="0"/>
              <a:t>Used once at startup</a:t>
            </a:r>
            <a:endParaRPr lang="en-DE" sz="1400" dirty="0"/>
          </a:p>
        </p:txBody>
      </p:sp>
      <p:sp>
        <p:nvSpPr>
          <p:cNvPr id="16" name="TextBox 15">
            <a:extLst>
              <a:ext uri="{FF2B5EF4-FFF2-40B4-BE49-F238E27FC236}">
                <a16:creationId xmlns:a16="http://schemas.microsoft.com/office/drawing/2014/main" id="{CFB30599-035C-AC52-A114-2F0D437B58BF}"/>
              </a:ext>
            </a:extLst>
          </p:cNvPr>
          <p:cNvSpPr txBox="1"/>
          <p:nvPr/>
        </p:nvSpPr>
        <p:spPr>
          <a:xfrm>
            <a:off x="9082527" y="5043214"/>
            <a:ext cx="2539407" cy="738664"/>
          </a:xfrm>
          <a:prstGeom prst="rect">
            <a:avLst/>
          </a:prstGeom>
          <a:noFill/>
        </p:spPr>
        <p:txBody>
          <a:bodyPr wrap="square" rtlCol="0">
            <a:spAutoFit/>
          </a:bodyPr>
          <a:lstStyle/>
          <a:p>
            <a:r>
              <a:rPr lang="en-GB" sz="1400" b="1" dirty="0"/>
              <a:t>MAX_31865_CFG_SHUTDOWN</a:t>
            </a:r>
          </a:p>
          <a:p>
            <a:r>
              <a:rPr lang="en-GB" sz="1400" dirty="0"/>
              <a:t>Value: 0x01</a:t>
            </a:r>
          </a:p>
          <a:p>
            <a:r>
              <a:rPr lang="en-GB" sz="1400" dirty="0"/>
              <a:t>Used at shutdown</a:t>
            </a:r>
            <a:endParaRPr lang="en-DE" sz="1400" dirty="0"/>
          </a:p>
        </p:txBody>
      </p:sp>
      <p:sp>
        <p:nvSpPr>
          <p:cNvPr id="17" name="TextBox 16">
            <a:extLst>
              <a:ext uri="{FF2B5EF4-FFF2-40B4-BE49-F238E27FC236}">
                <a16:creationId xmlns:a16="http://schemas.microsoft.com/office/drawing/2014/main" id="{0D924C38-2170-D4B5-7654-678AB2ACE84E}"/>
              </a:ext>
            </a:extLst>
          </p:cNvPr>
          <p:cNvSpPr txBox="1"/>
          <p:nvPr/>
        </p:nvSpPr>
        <p:spPr>
          <a:xfrm>
            <a:off x="966866" y="936885"/>
            <a:ext cx="5921114" cy="372549"/>
          </a:xfrm>
          <a:prstGeom prst="rect">
            <a:avLst/>
          </a:prstGeom>
          <a:noFill/>
        </p:spPr>
        <p:txBody>
          <a:bodyPr wrap="square" rtlCol="0">
            <a:spAutoFit/>
          </a:bodyPr>
          <a:lstStyle/>
          <a:p>
            <a:r>
              <a:rPr lang="en-GB" dirty="0"/>
              <a:t>The three config values used</a:t>
            </a:r>
            <a:endParaRPr lang="en-DE" dirty="0"/>
          </a:p>
        </p:txBody>
      </p:sp>
    </p:spTree>
    <p:extLst>
      <p:ext uri="{BB962C8B-B14F-4D97-AF65-F5344CB8AC3E}">
        <p14:creationId xmlns:p14="http://schemas.microsoft.com/office/powerpoint/2010/main" val="1401690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AEAFF-32D2-777F-2AD4-E1D16C27C5C2}"/>
              </a:ext>
            </a:extLst>
          </p:cNvPr>
          <p:cNvSpPr>
            <a:spLocks noGrp="1"/>
          </p:cNvSpPr>
          <p:nvPr>
            <p:ph type="title"/>
          </p:nvPr>
        </p:nvSpPr>
        <p:spPr>
          <a:xfrm>
            <a:off x="200000" y="100000"/>
            <a:ext cx="11792000" cy="700000"/>
          </a:xfrm>
        </p:spPr>
        <p:txBody>
          <a:bodyPr>
            <a:normAutofit/>
          </a:bodyPr>
          <a:lstStyle/>
          <a:p>
            <a:pPr algn="ctr"/>
            <a:r>
              <a:rPr lang="en-GB" sz="3200" dirty="0"/>
              <a:t>Complete temperature measurement cycle</a:t>
            </a:r>
            <a:endParaRPr lang="en-DE" sz="3200" dirty="0"/>
          </a:p>
        </p:txBody>
      </p:sp>
      <p:sp>
        <p:nvSpPr>
          <p:cNvPr id="200" name="Shape_200"/>
          <p:cNvSpPr/>
          <p:nvPr/>
        </p:nvSpPr>
        <p:spPr>
          <a:xfrm>
            <a:off x="200000" y="1050000"/>
            <a:ext cx="5546000" cy="350000"/>
          </a:xfrm>
          <a:prstGeom prst="roundRect">
            <a:avLst/>
          </a:prstGeom>
          <a:solidFill>
            <a:srgbClr val="1B8A5A"/>
          </a:solidFill>
          <a:ln w="0">
            <a:noFill/>
          </a:ln>
        </p:spPr>
        <p:txBody>
          <a:bodyPr wrap="square" lIns="45720" tIns="27432" rIns="45720" bIns="27432" anchor="ctr"/>
          <a:lstStyle/>
          <a:p>
            <a:pPr algn="ctr">
              <a:lnSpc>
                <a:spcPts val="1680"/>
              </a:lnSpc>
            </a:pPr>
            <a:r>
              <a:rPr lang="en-GB" sz="1400" b="1" dirty="0">
                <a:solidFill>
                  <a:srgbClr val="FFFFFF"/>
                </a:solidFill>
                <a:latin typeface="Consolas"/>
              </a:rPr>
              <a:t>PART 1 — WRITE</a:t>
            </a:r>
          </a:p>
        </p:txBody>
      </p:sp>
      <p:sp>
        <p:nvSpPr>
          <p:cNvPr id="201" name="Shape_201"/>
          <p:cNvSpPr/>
          <p:nvPr/>
        </p:nvSpPr>
        <p:spPr>
          <a:xfrm>
            <a:off x="6446000" y="1050000"/>
            <a:ext cx="5546000" cy="350000"/>
          </a:xfrm>
          <a:prstGeom prst="roundRect">
            <a:avLst/>
          </a:prstGeom>
          <a:solidFill>
            <a:srgbClr val="00838F"/>
          </a:solidFill>
          <a:ln w="0">
            <a:noFill/>
          </a:ln>
        </p:spPr>
        <p:txBody>
          <a:bodyPr wrap="square" lIns="45720" tIns="27432" rIns="45720" bIns="27432" anchor="ctr"/>
          <a:lstStyle/>
          <a:p>
            <a:pPr algn="ctr">
              <a:lnSpc>
                <a:spcPts val="1680"/>
              </a:lnSpc>
            </a:pPr>
            <a:r>
              <a:rPr lang="en-GB" sz="1400" b="1" dirty="0">
                <a:solidFill>
                  <a:srgbClr val="FFFFFF"/>
                </a:solidFill>
                <a:latin typeface="Consolas"/>
              </a:rPr>
              <a:t>PART 2 — READ</a:t>
            </a:r>
          </a:p>
        </p:txBody>
      </p:sp>
      <p:sp>
        <p:nvSpPr>
          <p:cNvPr id="202" name="Shape_202"/>
          <p:cNvSpPr/>
          <p:nvPr/>
        </p:nvSpPr>
        <p:spPr>
          <a:xfrm>
            <a:off x="1573000" y="1580000"/>
            <a:ext cx="2800000" cy="380000"/>
          </a:xfrm>
          <a:prstGeom prst="ellipse">
            <a:avLst/>
          </a:prstGeom>
          <a:solidFill>
            <a:srgbClr val="0D7C3F"/>
          </a:solidFill>
          <a:ln w="0">
            <a:noFill/>
          </a:ln>
        </p:spPr>
        <p:txBody>
          <a:bodyPr wrap="square" lIns="45720" tIns="27432" rIns="45720" bIns="27432" anchor="ctr"/>
          <a:lstStyle/>
          <a:p>
            <a:pPr algn="ctr">
              <a:lnSpc>
                <a:spcPts val="1920"/>
              </a:lnSpc>
            </a:pPr>
            <a:r>
              <a:rPr lang="en-GB" sz="1600" b="1" dirty="0">
                <a:solidFill>
                  <a:srgbClr val="FFFFFF"/>
                </a:solidFill>
                <a:latin typeface="Consolas"/>
              </a:rPr>
              <a:t>START</a:t>
            </a:r>
          </a:p>
        </p:txBody>
      </p:sp>
      <p:cxnSp>
        <p:nvCxnSpPr>
          <p:cNvPr id="203" name="Arrow_203"/>
          <p:cNvCxnSpPr/>
          <p:nvPr/>
        </p:nvCxnSpPr>
        <p:spPr>
          <a:xfrm>
            <a:off x="2973000" y="1960000"/>
            <a:ext cx="1" cy="180000"/>
          </a:xfrm>
          <a:prstGeom prst="straightConnector1">
            <a:avLst/>
          </a:prstGeom>
          <a:ln w="19050">
            <a:solidFill>
              <a:srgbClr val="E87722"/>
            </a:solidFill>
            <a:tailEnd type="triangle" w="med" len="med"/>
          </a:ln>
        </p:spPr>
      </p:cxnSp>
      <p:sp>
        <p:nvSpPr>
          <p:cNvPr id="204" name="Shape_204"/>
          <p:cNvSpPr/>
          <p:nvPr/>
        </p:nvSpPr>
        <p:spPr>
          <a:xfrm>
            <a:off x="873000" y="2140000"/>
            <a:ext cx="4200000" cy="420000"/>
          </a:xfrm>
          <a:prstGeom prst="roundRect">
            <a:avLst/>
          </a:prstGeom>
          <a:solidFill>
            <a:srgbClr val="2F5496"/>
          </a:solidFill>
          <a:ln w="0">
            <a:noFill/>
          </a:ln>
        </p:spPr>
        <p:txBody>
          <a:bodyPr wrap="square" lIns="45720" tIns="27432" rIns="45720" bIns="27432" anchor="ctr"/>
          <a:lstStyle/>
          <a:p>
            <a:pPr algn="ctr">
              <a:lnSpc>
                <a:spcPts val="1440"/>
              </a:lnSpc>
            </a:pPr>
            <a:r>
              <a:rPr lang="en-GB" sz="1200" b="1" dirty="0">
                <a:solidFill>
                  <a:srgbClr val="FFFFFF"/>
                </a:solidFill>
                <a:latin typeface="Consolas"/>
              </a:rPr>
              <a:t>getTempSnsrVal(fd, &amp;tempsnsr_val)</a:t>
            </a:r>
          </a:p>
          <a:p>
            <a:pPr algn="ctr">
              <a:lnSpc>
                <a:spcPts val="1200"/>
              </a:lnSpc>
            </a:pPr>
            <a:r>
              <a:rPr lang="en-GB" sz="1000" i="1" dirty="0">
                <a:solidFill>
                  <a:srgbClr val="FFE082"/>
                </a:solidFill>
                <a:latin typeface="Calibri"/>
              </a:rPr>
              <a:t>Thread.c — called when deadline reached</a:t>
            </a:r>
          </a:p>
        </p:txBody>
      </p:sp>
      <p:cxnSp>
        <p:nvCxnSpPr>
          <p:cNvPr id="205" name="Arrow_205"/>
          <p:cNvCxnSpPr/>
          <p:nvPr/>
        </p:nvCxnSpPr>
        <p:spPr>
          <a:xfrm>
            <a:off x="2973000" y="2560000"/>
            <a:ext cx="1" cy="180000"/>
          </a:xfrm>
          <a:prstGeom prst="straightConnector1">
            <a:avLst/>
          </a:prstGeom>
          <a:ln w="19050">
            <a:solidFill>
              <a:srgbClr val="E87722"/>
            </a:solidFill>
            <a:tailEnd type="triangle" w="med" len="med"/>
          </a:ln>
        </p:spPr>
      </p:cxnSp>
      <p:sp>
        <p:nvSpPr>
          <p:cNvPr id="206" name="Shape_206"/>
          <p:cNvSpPr/>
          <p:nvPr/>
        </p:nvSpPr>
        <p:spPr>
          <a:xfrm>
            <a:off x="873000" y="2740000"/>
            <a:ext cx="4200000" cy="420000"/>
          </a:xfrm>
          <a:prstGeom prst="roundRect">
            <a:avLst/>
          </a:prstGeom>
          <a:solidFill>
            <a:srgbClr val="2F5496"/>
          </a:solidFill>
          <a:ln w="0">
            <a:noFill/>
          </a:ln>
        </p:spPr>
        <p:txBody>
          <a:bodyPr wrap="square" lIns="45720" tIns="27432" rIns="45720" bIns="27432" anchor="ctr"/>
          <a:lstStyle/>
          <a:p>
            <a:pPr algn="ctr">
              <a:lnSpc>
                <a:spcPts val="1320"/>
              </a:lnSpc>
            </a:pPr>
            <a:r>
              <a:rPr lang="en-GB" sz="1100" b="1" dirty="0">
                <a:solidFill>
                  <a:srgbClr val="FFFFFF"/>
                </a:solidFill>
                <a:latin typeface="Consolas"/>
              </a:rPr>
              <a:t>writeMAXSpiInterface(fd, 0x00, 0xA1)</a:t>
            </a:r>
          </a:p>
          <a:p>
            <a:pPr algn="ctr">
              <a:lnSpc>
                <a:spcPts val="1080"/>
              </a:lnSpc>
            </a:pPr>
            <a:r>
              <a:rPr lang="en-GB" sz="900" i="1" dirty="0">
                <a:solidFill>
                  <a:srgbClr val="FFE082"/>
                </a:solidFill>
                <a:latin typeface="Calibri"/>
              </a:rPr>
              <a:t>Write to Config Register → VBIAS ON, 1-SHOT, 50Hz</a:t>
            </a:r>
          </a:p>
        </p:txBody>
      </p:sp>
      <p:cxnSp>
        <p:nvCxnSpPr>
          <p:cNvPr id="207" name="Arrow_207"/>
          <p:cNvCxnSpPr/>
          <p:nvPr/>
        </p:nvCxnSpPr>
        <p:spPr>
          <a:xfrm>
            <a:off x="2973000" y="3160000"/>
            <a:ext cx="1" cy="180000"/>
          </a:xfrm>
          <a:prstGeom prst="straightConnector1">
            <a:avLst/>
          </a:prstGeom>
          <a:ln w="19050">
            <a:solidFill>
              <a:srgbClr val="E87722"/>
            </a:solidFill>
            <a:tailEnd type="triangle" w="med" len="med"/>
          </a:ln>
        </p:spPr>
      </p:cxnSp>
      <p:sp>
        <p:nvSpPr>
          <p:cNvPr id="208" name="Shape_208"/>
          <p:cNvSpPr/>
          <p:nvPr/>
        </p:nvSpPr>
        <p:spPr>
          <a:xfrm>
            <a:off x="873000" y="3340000"/>
            <a:ext cx="4200000" cy="420000"/>
          </a:xfrm>
          <a:prstGeom prst="roundRect">
            <a:avLst/>
          </a:prstGeom>
          <a:solidFill>
            <a:srgbClr val="1B3A5C"/>
          </a:solidFill>
          <a:ln w="0">
            <a:noFill/>
          </a:ln>
        </p:spPr>
        <p:txBody>
          <a:bodyPr wrap="square" lIns="45720" tIns="27432" rIns="45720" bIns="27432" anchor="ctr"/>
          <a:lstStyle/>
          <a:p>
            <a:pPr algn="ctr">
              <a:lnSpc>
                <a:spcPts val="1440"/>
              </a:lnSpc>
            </a:pPr>
            <a:r>
              <a:rPr lang="en-GB" sz="1200" b="1" dirty="0">
                <a:solidFill>
                  <a:srgbClr val="FFFFFF"/>
                </a:solidFill>
                <a:latin typeface="Consolas"/>
              </a:rPr>
              <a:t>rnum=1, rvalue=0x80A1</a:t>
            </a:r>
          </a:p>
          <a:p>
            <a:pPr algn="ctr">
              <a:lnSpc>
                <a:spcPts val="1080"/>
              </a:lnSpc>
            </a:pPr>
            <a:r>
              <a:rPr lang="en-GB" sz="900" i="1" dirty="0">
                <a:solidFill>
                  <a:srgbClr val="FFE082"/>
                </a:solidFill>
                <a:latin typeface="Calibri"/>
              </a:rPr>
              <a:t>SPI frame into tf_obj_snd, calls write(fd,...)</a:t>
            </a:r>
          </a:p>
        </p:txBody>
      </p:sp>
      <p:cxnSp>
        <p:nvCxnSpPr>
          <p:cNvPr id="209" name="Arrow_209"/>
          <p:cNvCxnSpPr/>
          <p:nvPr/>
        </p:nvCxnSpPr>
        <p:spPr>
          <a:xfrm>
            <a:off x="2973000" y="3760000"/>
            <a:ext cx="1" cy="180000"/>
          </a:xfrm>
          <a:prstGeom prst="straightConnector1">
            <a:avLst/>
          </a:prstGeom>
          <a:ln w="19050">
            <a:solidFill>
              <a:srgbClr val="E87722"/>
            </a:solidFill>
            <a:tailEnd type="triangle" w="med" len="med"/>
          </a:ln>
        </p:spPr>
      </p:cxnSp>
      <p:sp>
        <p:nvSpPr>
          <p:cNvPr id="210" name="Shape_210"/>
          <p:cNvSpPr/>
          <p:nvPr/>
        </p:nvSpPr>
        <p:spPr>
          <a:xfrm>
            <a:off x="873000" y="3940000"/>
            <a:ext cx="4200000" cy="420000"/>
          </a:xfrm>
          <a:prstGeom prst="roundRect">
            <a:avLst/>
          </a:prstGeom>
          <a:solidFill>
            <a:srgbClr val="C00000"/>
          </a:solidFill>
          <a:ln w="0">
            <a:noFill/>
          </a:ln>
        </p:spPr>
        <p:txBody>
          <a:bodyPr wrap="square" lIns="45720" tIns="27432" rIns="45720" bIns="27432" anchor="ctr"/>
          <a:lstStyle/>
          <a:p>
            <a:pPr algn="ctr">
              <a:lnSpc>
                <a:spcPts val="1440"/>
              </a:lnSpc>
            </a:pPr>
            <a:r>
              <a:rPr lang="en-GB" sz="1200" b="1" dirty="0">
                <a:solidFill>
                  <a:srgbClr val="FFFFFF"/>
                </a:solidFill>
                <a:latin typeface="Consolas"/>
              </a:rPr>
              <a:t>Bit check loop: xdata &amp; 0x01 == 1?</a:t>
            </a:r>
          </a:p>
          <a:p>
            <a:pPr algn="ctr">
              <a:lnSpc>
                <a:spcPts val="1080"/>
              </a:lnSpc>
            </a:pPr>
            <a:r>
              <a:rPr lang="en-GB" sz="900" i="1" dirty="0">
                <a:solidFill>
                  <a:srgbClr val="FFE082"/>
                </a:solidFill>
                <a:latin typeface="Calibri"/>
              </a:rPr>
              <a:t>0xFF, rvalue=1 → write() + read() until done</a:t>
            </a:r>
          </a:p>
        </p:txBody>
      </p:sp>
      <p:cxnSp>
        <p:nvCxnSpPr>
          <p:cNvPr id="211" name="Arrow_211"/>
          <p:cNvCxnSpPr/>
          <p:nvPr/>
        </p:nvCxnSpPr>
        <p:spPr>
          <a:xfrm>
            <a:off x="2973000" y="4360000"/>
            <a:ext cx="1" cy="180000"/>
          </a:xfrm>
          <a:prstGeom prst="straightConnector1">
            <a:avLst/>
          </a:prstGeom>
          <a:ln w="19050">
            <a:solidFill>
              <a:srgbClr val="E87722"/>
            </a:solidFill>
            <a:tailEnd type="triangle" w="med" len="med"/>
          </a:ln>
        </p:spPr>
      </p:cxnSp>
      <p:sp>
        <p:nvSpPr>
          <p:cNvPr id="212" name="Shape_212"/>
          <p:cNvSpPr/>
          <p:nvPr/>
        </p:nvSpPr>
        <p:spPr>
          <a:xfrm>
            <a:off x="873000" y="4540000"/>
            <a:ext cx="4200000" cy="420000"/>
          </a:xfrm>
          <a:prstGeom prst="roundRect">
            <a:avLst/>
          </a:prstGeom>
          <a:solidFill>
            <a:srgbClr val="1B3A5C"/>
          </a:solidFill>
          <a:ln w="0">
            <a:noFill/>
          </a:ln>
        </p:spPr>
        <p:txBody>
          <a:bodyPr wrap="square" lIns="45720" tIns="27432" rIns="45720" bIns="27432" anchor="ctr"/>
          <a:lstStyle/>
          <a:p>
            <a:pPr algn="ctr">
              <a:lnSpc>
                <a:spcPts val="1680"/>
              </a:lnSpc>
            </a:pPr>
            <a:r>
              <a:rPr lang="en-GB" sz="1400" b="1" dirty="0">
                <a:solidFill>
                  <a:srgbClr val="FFFFFF"/>
                </a:solidFill>
                <a:latin typeface="Consolas"/>
              </a:rPr>
              <a:t>usleep(1000)</a:t>
            </a:r>
          </a:p>
          <a:p>
            <a:pPr algn="ctr">
              <a:lnSpc>
                <a:spcPts val="1200"/>
              </a:lnSpc>
            </a:pPr>
            <a:r>
              <a:rPr lang="en-GB" sz="1000" i="1" dirty="0">
                <a:solidFill>
                  <a:srgbClr val="FFE082"/>
                </a:solidFill>
                <a:latin typeface="Calibri"/>
              </a:rPr>
              <a:t>1ms — ADC conversion in progress on chip</a:t>
            </a:r>
          </a:p>
        </p:txBody>
      </p:sp>
      <p:sp>
        <p:nvSpPr>
          <p:cNvPr id="213" name="Kernel"/>
          <p:cNvSpPr/>
          <p:nvPr/>
        </p:nvSpPr>
        <p:spPr>
          <a:xfrm>
            <a:off x="5496000" y="2980000"/>
            <a:ext cx="1200000" cy="500000"/>
          </a:xfrm>
          <a:prstGeom prst="rect">
            <a:avLst/>
          </a:prstGeom>
          <a:noFill/>
          <a:ln w="0">
            <a:noFill/>
          </a:ln>
        </p:spPr>
        <p:txBody>
          <a:bodyPr wrap="square" lIns="0" tIns="0" rIns="0" bIns="0" anchor="ctr"/>
          <a:lstStyle/>
          <a:p>
            <a:pPr algn="ctr"/>
            <a:r>
              <a:rPr lang="en-GB" sz="1000" dirty="0">
                <a:solidFill>
                  <a:srgbClr val="666666"/>
                </a:solidFill>
                <a:latin typeface="Calibri"/>
              </a:rPr>
              <a:t>KERNEL</a:t>
            </a:r>
          </a:p>
          <a:p>
            <a:pPr algn="ctr"/>
            <a:r>
              <a:rPr lang="en-GB" sz="1000" dirty="0">
                <a:solidFill>
                  <a:srgbClr val="666666"/>
                </a:solidFill>
                <a:latin typeface="Calibri"/>
              </a:rPr>
              <a:t>MODULE</a:t>
            </a:r>
          </a:p>
          <a:p>
            <a:pPr algn="ctr"/>
            <a:r>
              <a:rPr lang="en-GB" sz="1000" dirty="0">
                <a:solidFill>
                  <a:srgbClr val="666666"/>
                </a:solidFill>
                <a:latin typeface="Calibri"/>
              </a:rPr>
              <a:t>/dev/meascdd</a:t>
            </a:r>
          </a:p>
        </p:txBody>
      </p:sp>
      <p:cxnSp>
        <p:nvCxnSpPr>
          <p:cNvPr id="214" name="Arrow_214"/>
          <p:cNvCxnSpPr/>
          <p:nvPr/>
        </p:nvCxnSpPr>
        <p:spPr>
          <a:xfrm>
            <a:off x="5123000" y="3230000"/>
            <a:ext cx="1946000" cy="1"/>
          </a:xfrm>
          <a:prstGeom prst="straightConnector1">
            <a:avLst/>
          </a:prstGeom>
          <a:ln w="19050">
            <a:solidFill>
              <a:srgbClr val="E87722"/>
            </a:solidFill>
            <a:tailEnd type="triangle" w="med" len="med"/>
          </a:ln>
        </p:spPr>
      </p:cxnSp>
      <p:sp>
        <p:nvSpPr>
          <p:cNvPr id="215" name="Shape_215"/>
          <p:cNvSpPr/>
          <p:nvPr/>
        </p:nvSpPr>
        <p:spPr>
          <a:xfrm>
            <a:off x="7119000" y="1580000"/>
            <a:ext cx="4200000" cy="420000"/>
          </a:xfrm>
          <a:prstGeom prst="roundRect">
            <a:avLst/>
          </a:prstGeom>
          <a:solidFill>
            <a:srgbClr val="00838F"/>
          </a:solidFill>
          <a:ln w="0">
            <a:noFill/>
          </a:ln>
        </p:spPr>
        <p:txBody>
          <a:bodyPr wrap="square" lIns="45720" tIns="27432" rIns="45720" bIns="27432" anchor="ctr"/>
          <a:lstStyle/>
          <a:p>
            <a:pPr algn="ctr">
              <a:lnSpc>
                <a:spcPts val="1440"/>
              </a:lnSpc>
            </a:pPr>
            <a:r>
              <a:rPr lang="en-GB" sz="1200" b="1" dirty="0">
                <a:solidFill>
                  <a:srgbClr val="FFFFFF"/>
                </a:solidFill>
                <a:latin typeface="Consolas"/>
              </a:rPr>
              <a:t>readMAXSpiInterface(fd, 0x01)</a:t>
            </a:r>
          </a:p>
          <a:p>
            <a:pPr algn="ctr">
              <a:lnSpc>
                <a:spcPts val="1080"/>
              </a:lnSpc>
            </a:pPr>
            <a:r>
              <a:rPr lang="en-GB" sz="900" i="1" dirty="0">
                <a:solidFill>
                  <a:srgbClr val="FFE082"/>
                </a:solidFill>
                <a:latin typeface="Calibri"/>
              </a:rPr>
              <a:t>Reads RTD MSB Register — upper 8 bits of result</a:t>
            </a:r>
          </a:p>
        </p:txBody>
      </p:sp>
      <p:cxnSp>
        <p:nvCxnSpPr>
          <p:cNvPr id="216" name="Arrow_216"/>
          <p:cNvCxnSpPr/>
          <p:nvPr/>
        </p:nvCxnSpPr>
        <p:spPr>
          <a:xfrm>
            <a:off x="9219000" y="2000000"/>
            <a:ext cx="1" cy="180000"/>
          </a:xfrm>
          <a:prstGeom prst="straightConnector1">
            <a:avLst/>
          </a:prstGeom>
          <a:ln w="19050">
            <a:solidFill>
              <a:srgbClr val="E87722"/>
            </a:solidFill>
            <a:tailEnd type="triangle" w="med" len="med"/>
          </a:ln>
        </p:spPr>
      </p:cxnSp>
      <p:sp>
        <p:nvSpPr>
          <p:cNvPr id="217" name="Shape_217"/>
          <p:cNvSpPr/>
          <p:nvPr/>
        </p:nvSpPr>
        <p:spPr>
          <a:xfrm>
            <a:off x="7119000" y="2180000"/>
            <a:ext cx="4200000" cy="420000"/>
          </a:xfrm>
          <a:prstGeom prst="roundRect">
            <a:avLst/>
          </a:prstGeom>
          <a:solidFill>
            <a:srgbClr val="1B3A5C"/>
          </a:solidFill>
          <a:ln w="0">
            <a:noFill/>
          </a:ln>
        </p:spPr>
        <p:txBody>
          <a:bodyPr wrap="square" lIns="45720" tIns="27432" rIns="45720" bIns="27432" anchor="ctr"/>
          <a:lstStyle/>
          <a:p>
            <a:pPr algn="ctr">
              <a:lnSpc>
                <a:spcPts val="1440"/>
              </a:lnSpc>
            </a:pPr>
            <a:r>
              <a:rPr lang="en-GB" sz="1200" b="1" dirty="0">
                <a:solidFill>
                  <a:srgbClr val="FFFFFF"/>
                </a:solidFill>
                <a:latin typeface="Consolas"/>
              </a:rPr>
              <a:t>rnum=1, rvalue=0x0100</a:t>
            </a:r>
          </a:p>
          <a:p>
            <a:pPr algn="ctr">
              <a:lnSpc>
                <a:spcPts val="1080"/>
              </a:lnSpc>
            </a:pPr>
            <a:r>
              <a:rPr lang="en-GB" sz="900" i="1" dirty="0">
                <a:solidFill>
                  <a:srgbClr val="FFE082"/>
                </a:solidFill>
                <a:latin typeface="Calibri"/>
              </a:rPr>
              <a:t>SPI read command for register 0x01 → write(fd,...)</a:t>
            </a:r>
          </a:p>
        </p:txBody>
      </p:sp>
      <p:cxnSp>
        <p:nvCxnSpPr>
          <p:cNvPr id="218" name="Arrow_218"/>
          <p:cNvCxnSpPr/>
          <p:nvPr/>
        </p:nvCxnSpPr>
        <p:spPr>
          <a:xfrm>
            <a:off x="9219000" y="2600000"/>
            <a:ext cx="1" cy="180000"/>
          </a:xfrm>
          <a:prstGeom prst="straightConnector1">
            <a:avLst/>
          </a:prstGeom>
          <a:ln w="19050">
            <a:solidFill>
              <a:srgbClr val="E87722"/>
            </a:solidFill>
            <a:tailEnd type="triangle" w="med" len="med"/>
          </a:ln>
        </p:spPr>
      </p:cxnSp>
      <p:sp>
        <p:nvSpPr>
          <p:cNvPr id="219" name="Shape_219"/>
          <p:cNvSpPr/>
          <p:nvPr/>
        </p:nvSpPr>
        <p:spPr>
          <a:xfrm>
            <a:off x="7119000" y="2780000"/>
            <a:ext cx="4200000" cy="420000"/>
          </a:xfrm>
          <a:prstGeom prst="roundRect">
            <a:avLst/>
          </a:prstGeom>
          <a:solidFill>
            <a:srgbClr val="00838F"/>
          </a:solidFill>
          <a:ln w="0">
            <a:noFill/>
          </a:ln>
        </p:spPr>
        <p:txBody>
          <a:bodyPr wrap="square" lIns="45720" tIns="27432" rIns="45720" bIns="27432" anchor="ctr"/>
          <a:lstStyle/>
          <a:p>
            <a:pPr algn="ctr">
              <a:lnSpc>
                <a:spcPts val="1440"/>
              </a:lnSpc>
            </a:pPr>
            <a:r>
              <a:rPr lang="en-GB" sz="1200" b="1" dirty="0">
                <a:solidFill>
                  <a:srgbClr val="FFFFFF"/>
                </a:solidFill>
                <a:latin typeface="Consolas"/>
              </a:rPr>
              <a:t>Bit Check + retrieve: rvalue=2</a:t>
            </a:r>
          </a:p>
          <a:p>
            <a:pPr algn="ctr">
              <a:lnSpc>
                <a:spcPts val="1080"/>
              </a:lnSpc>
            </a:pPr>
            <a:r>
              <a:rPr lang="en-GB" sz="900" i="1" dirty="0">
                <a:solidFill>
                  <a:srgbClr val="FFE082"/>
                </a:solidFill>
                <a:latin typeface="Calibri"/>
              </a:rPr>
              <a:t>rnum=0xFF, rvalue=2 → get result → mask 0xFF</a:t>
            </a:r>
          </a:p>
        </p:txBody>
      </p:sp>
      <p:cxnSp>
        <p:nvCxnSpPr>
          <p:cNvPr id="220" name="Arrow_220"/>
          <p:cNvCxnSpPr/>
          <p:nvPr/>
        </p:nvCxnSpPr>
        <p:spPr>
          <a:xfrm>
            <a:off x="9219000" y="3200000"/>
            <a:ext cx="1" cy="180000"/>
          </a:xfrm>
          <a:prstGeom prst="straightConnector1">
            <a:avLst/>
          </a:prstGeom>
          <a:ln w="19050">
            <a:solidFill>
              <a:srgbClr val="E87722"/>
            </a:solidFill>
            <a:tailEnd type="triangle" w="med" len="med"/>
          </a:ln>
        </p:spPr>
      </p:cxnSp>
      <p:sp>
        <p:nvSpPr>
          <p:cNvPr id="221" name="Shape_221"/>
          <p:cNvSpPr/>
          <p:nvPr/>
        </p:nvSpPr>
        <p:spPr>
          <a:xfrm>
            <a:off x="7119000" y="3380000"/>
            <a:ext cx="4200000" cy="420000"/>
          </a:xfrm>
          <a:prstGeom prst="roundRect">
            <a:avLst/>
          </a:prstGeom>
          <a:solidFill>
            <a:srgbClr val="1B3A5C"/>
          </a:solidFill>
          <a:ln w="0">
            <a:noFill/>
          </a:ln>
        </p:spPr>
        <p:txBody>
          <a:bodyPr wrap="square" lIns="45720" tIns="27432" rIns="45720" bIns="27432" anchor="ctr"/>
          <a:lstStyle/>
          <a:p>
            <a:pPr algn="ctr">
              <a:lnSpc>
                <a:spcPts val="1440"/>
              </a:lnSpc>
            </a:pPr>
            <a:r>
              <a:rPr lang="en-GB" sz="1200" b="1" dirty="0">
                <a:solidFill>
                  <a:srgbClr val="FFFFFF"/>
                </a:solidFill>
                <a:latin typeface="Consolas"/>
              </a:rPr>
              <a:t>readMAXSpiInterface(fd, 0x02)</a:t>
            </a:r>
          </a:p>
          <a:p>
            <a:pPr algn="ctr">
              <a:lnSpc>
                <a:spcPts val="1080"/>
              </a:lnSpc>
            </a:pPr>
            <a:r>
              <a:rPr lang="en-GB" sz="900" i="1" dirty="0">
                <a:solidFill>
                  <a:srgbClr val="FFE082"/>
                </a:solidFill>
                <a:latin typeface="Calibri"/>
              </a:rPr>
              <a:t>Reads RTD LSB Register — lower 7 bits + fault flag</a:t>
            </a:r>
          </a:p>
        </p:txBody>
      </p:sp>
      <p:cxnSp>
        <p:nvCxnSpPr>
          <p:cNvPr id="222" name="Arrow_222"/>
          <p:cNvCxnSpPr/>
          <p:nvPr/>
        </p:nvCxnSpPr>
        <p:spPr>
          <a:xfrm>
            <a:off x="9219000" y="3800000"/>
            <a:ext cx="1" cy="180000"/>
          </a:xfrm>
          <a:prstGeom prst="straightConnector1">
            <a:avLst/>
          </a:prstGeom>
          <a:ln w="19050">
            <a:solidFill>
              <a:srgbClr val="E87722"/>
            </a:solidFill>
            <a:tailEnd type="triangle" w="med" len="med"/>
          </a:ln>
        </p:spPr>
      </p:cxnSp>
      <p:sp>
        <p:nvSpPr>
          <p:cNvPr id="223" name="Shape_223"/>
          <p:cNvSpPr/>
          <p:nvPr/>
        </p:nvSpPr>
        <p:spPr>
          <a:xfrm>
            <a:off x="7119000" y="3980000"/>
            <a:ext cx="4200000" cy="420000"/>
          </a:xfrm>
          <a:prstGeom prst="roundRect">
            <a:avLst/>
          </a:prstGeom>
          <a:solidFill>
            <a:srgbClr val="00695C"/>
          </a:solidFill>
          <a:ln w="0">
            <a:noFill/>
          </a:ln>
        </p:spPr>
        <p:txBody>
          <a:bodyPr wrap="square" lIns="45720" tIns="27432" rIns="45720" bIns="27432" anchor="ctr"/>
          <a:lstStyle/>
          <a:p>
            <a:pPr algn="ctr">
              <a:lnSpc>
                <a:spcPts val="1440"/>
              </a:lnSpc>
            </a:pPr>
            <a:r>
              <a:rPr lang="en-GB" sz="1200" b="1" dirty="0">
                <a:solidFill>
                  <a:srgbClr val="FFFFFF"/>
                </a:solidFill>
                <a:latin typeface="Consolas"/>
              </a:rPr>
              <a:t>rtd = ((uint16_t)msb&lt;&lt;8) | lsb</a:t>
            </a:r>
          </a:p>
          <a:p>
            <a:pPr algn="ctr">
              <a:lnSpc>
                <a:spcPts val="1080"/>
              </a:lnSpc>
            </a:pPr>
            <a:r>
              <a:rPr lang="en-GB" sz="900" i="1" dirty="0">
                <a:solidFill>
                  <a:srgbClr val="FFE082"/>
                </a:solidFill>
                <a:latin typeface="Calibri"/>
              </a:rPr>
              <a:t>Merge MSB + LSB into 16-bit value</a:t>
            </a:r>
          </a:p>
        </p:txBody>
      </p:sp>
      <p:cxnSp>
        <p:nvCxnSpPr>
          <p:cNvPr id="224" name="Arrow_224"/>
          <p:cNvCxnSpPr/>
          <p:nvPr/>
        </p:nvCxnSpPr>
        <p:spPr>
          <a:xfrm>
            <a:off x="9219000" y="4400000"/>
            <a:ext cx="1" cy="180000"/>
          </a:xfrm>
          <a:prstGeom prst="straightConnector1">
            <a:avLst/>
          </a:prstGeom>
          <a:ln w="19050">
            <a:solidFill>
              <a:srgbClr val="E87722"/>
            </a:solidFill>
            <a:tailEnd type="triangle" w="med" len="med"/>
          </a:ln>
        </p:spPr>
      </p:cxnSp>
      <p:sp>
        <p:nvSpPr>
          <p:cNvPr id="225" name="Shape_225"/>
          <p:cNvSpPr/>
          <p:nvPr/>
        </p:nvSpPr>
        <p:spPr>
          <a:xfrm>
            <a:off x="7119000" y="4580000"/>
            <a:ext cx="4200000" cy="420000"/>
          </a:xfrm>
          <a:prstGeom prst="roundRect">
            <a:avLst/>
          </a:prstGeom>
          <a:solidFill>
            <a:srgbClr val="C00000"/>
          </a:solidFill>
          <a:ln w="0">
            <a:noFill/>
          </a:ln>
        </p:spPr>
        <p:txBody>
          <a:bodyPr wrap="square" lIns="45720" tIns="27432" rIns="45720" bIns="27432" anchor="ctr"/>
          <a:lstStyle/>
          <a:p>
            <a:pPr algn="ctr">
              <a:lnSpc>
                <a:spcPts val="1680"/>
              </a:lnSpc>
            </a:pPr>
            <a:r>
              <a:rPr lang="en-GB" sz="1400" b="1" dirty="0">
                <a:solidFill>
                  <a:srgbClr val="FFFFFF"/>
                </a:solidFill>
                <a:latin typeface="Consolas"/>
              </a:rPr>
              <a:t>rtd &amp; 0x01 == 1?</a:t>
            </a:r>
          </a:p>
          <a:p>
            <a:pPr algn="ctr">
              <a:lnSpc>
                <a:spcPts val="1200"/>
              </a:lnSpc>
            </a:pPr>
            <a:r>
              <a:rPr lang="en-GB" sz="1000" i="1" dirty="0">
                <a:solidFill>
                  <a:srgbClr val="FFE082"/>
                </a:solidFill>
                <a:latin typeface="Calibri"/>
              </a:rPr>
              <a:t>Fault flag check</a:t>
            </a:r>
          </a:p>
        </p:txBody>
      </p:sp>
      <p:cxnSp>
        <p:nvCxnSpPr>
          <p:cNvPr id="226" name="Arrow_226"/>
          <p:cNvCxnSpPr/>
          <p:nvPr/>
        </p:nvCxnSpPr>
        <p:spPr>
          <a:xfrm>
            <a:off x="9219000" y="5000000"/>
            <a:ext cx="1" cy="180000"/>
          </a:xfrm>
          <a:prstGeom prst="straightConnector1">
            <a:avLst/>
          </a:prstGeom>
          <a:ln w="19050">
            <a:solidFill>
              <a:srgbClr val="E87722"/>
            </a:solidFill>
            <a:tailEnd type="triangle" w="med" len="med"/>
          </a:ln>
        </p:spPr>
      </p:cxnSp>
      <p:sp>
        <p:nvSpPr>
          <p:cNvPr id="227" name="Shape_227"/>
          <p:cNvSpPr/>
          <p:nvPr/>
        </p:nvSpPr>
        <p:spPr>
          <a:xfrm>
            <a:off x="7119000" y="5180000"/>
            <a:ext cx="4200000" cy="420000"/>
          </a:xfrm>
          <a:prstGeom prst="roundRect">
            <a:avLst/>
          </a:prstGeom>
          <a:solidFill>
            <a:srgbClr val="00838F"/>
          </a:solidFill>
          <a:ln w="0">
            <a:noFill/>
          </a:ln>
        </p:spPr>
        <p:txBody>
          <a:bodyPr wrap="square" lIns="45720" tIns="27432" rIns="45720" bIns="27432" anchor="ctr"/>
          <a:lstStyle/>
          <a:p>
            <a:pPr algn="ctr">
              <a:lnSpc>
                <a:spcPts val="1440"/>
              </a:lnSpc>
            </a:pPr>
            <a:r>
              <a:rPr lang="en-GB" sz="1200" b="1" dirty="0">
                <a:solidFill>
                  <a:srgbClr val="FFFFFF"/>
                </a:solidFill>
                <a:latin typeface="Consolas"/>
              </a:rPr>
              <a:t>rtd &gt;&gt;= 1  →  *regVal = rtd</a:t>
            </a:r>
          </a:p>
          <a:p>
            <a:pPr algn="ctr">
              <a:lnSpc>
                <a:spcPts val="1080"/>
              </a:lnSpc>
            </a:pPr>
            <a:r>
              <a:rPr lang="en-GB" sz="900" i="1" dirty="0">
                <a:solidFill>
                  <a:srgbClr val="FFE082"/>
                </a:solidFill>
                <a:latin typeface="Calibri"/>
              </a:rPr>
              <a:t>Remove fault bit → store raw ADC code 0-32767</a:t>
            </a:r>
          </a:p>
        </p:txBody>
      </p:sp>
    </p:spTree>
    <p:extLst>
      <p:ext uri="{BB962C8B-B14F-4D97-AF65-F5344CB8AC3E}">
        <p14:creationId xmlns:p14="http://schemas.microsoft.com/office/powerpoint/2010/main" val="10811032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HeaderBar"/>
          <p:cNvSpPr/>
          <p:nvPr/>
        </p:nvSpPr>
        <p:spPr>
          <a:xfrm>
            <a:off x="0" y="0"/>
            <a:ext cx="12192000" cy="660400"/>
          </a:xfrm>
          <a:prstGeom prst="rect">
            <a:avLst/>
          </a:prstGeom>
          <a:solidFill>
            <a:srgbClr val="1B2A4A"/>
          </a:solidFill>
          <a:ln>
            <a:noFill/>
          </a:ln>
        </p:spPr>
        <p:txBody>
          <a:bodyPr lIns="216000" anchor="ctr"/>
          <a:lstStyle/>
          <a:p>
            <a:pPr>
              <a:buNone/>
            </a:pPr>
            <a:r>
              <a:rPr lang="en-US" sz="2000" b="1" dirty="0">
                <a:solidFill>
                  <a:srgbClr val="FFFFFF"/>
                </a:solidFill>
                <a:latin typeface="Segoe UI"/>
              </a:rPr>
              <a:t>writeMAXSpiInterface() — SPI Write Overview</a:t>
            </a:r>
          </a:p>
        </p:txBody>
      </p:sp>
      <p:cxnSp>
        <p:nvCxnSpPr>
          <p:cNvPr id="101" name="AccentLine"/>
          <p:cNvCxnSpPr/>
          <p:nvPr/>
        </p:nvCxnSpPr>
        <p:spPr>
          <a:xfrm>
            <a:off x="0" y="660400"/>
            <a:ext cx="12192000" cy="0"/>
          </a:xfrm>
          <a:prstGeom prst="line">
            <a:avLst/>
          </a:prstGeom>
          <a:ln w="25400">
            <a:solidFill>
              <a:srgbClr val="D46A2E"/>
            </a:solidFill>
          </a:ln>
        </p:spPr>
      </p:cxnSp>
      <p:sp>
        <p:nvSpPr>
          <p:cNvPr id="102" name="Subtitle"/>
          <p:cNvSpPr txBox="1"/>
          <p:nvPr/>
        </p:nvSpPr>
        <p:spPr>
          <a:xfrm>
            <a:off x="444500" y="787400"/>
            <a:ext cx="11303000" cy="381000"/>
          </a:xfrm>
          <a:prstGeom prst="rect">
            <a:avLst/>
          </a:prstGeom>
          <a:noFill/>
          <a:ln>
            <a:noFill/>
          </a:ln>
        </p:spPr>
        <p:txBody>
          <a:bodyPr anchor="ctr"/>
          <a:lstStyle/>
          <a:p>
            <a:pPr>
              <a:buNone/>
            </a:pPr>
            <a:r>
              <a:rPr lang="en-US" sz="1400" dirty="0">
                <a:solidFill>
                  <a:srgbClr val="6B7280"/>
                </a:solidFill>
                <a:latin typeface="Segoe UI"/>
              </a:rPr>
              <a:t>The 5-step process to write a configuration value to the MAX31865 via SPI</a:t>
            </a:r>
          </a:p>
        </p:txBody>
      </p:sp>
      <p:sp>
        <p:nvSpPr>
          <p:cNvPr id="110" name="Step1"/>
          <p:cNvSpPr/>
          <p:nvPr/>
        </p:nvSpPr>
        <p:spPr>
          <a:xfrm>
            <a:off x="406400" y="1333500"/>
            <a:ext cx="2057400" cy="1879600"/>
          </a:xfrm>
          <a:prstGeom prst="roundRect">
            <a:avLst>
              <a:gd name="adj" fmla="val 8000"/>
            </a:avLst>
          </a:prstGeom>
          <a:solidFill>
            <a:srgbClr val="2B5EA7"/>
          </a:solidFill>
          <a:ln>
            <a:noFill/>
          </a:ln>
          <a:effectLst>
            <a:outerShdw blurRad="40000" dist="20000" dir="5400000" rotWithShape="0">
              <a:srgbClr val="000000">
                <a:alpha val="23000"/>
              </a:srgbClr>
            </a:outerShdw>
          </a:effectLst>
        </p:spPr>
        <p:txBody>
          <a:bodyPr lIns="72000" tIns="54000" rIns="72000" bIns="54000" anchor="t"/>
          <a:lstStyle/>
          <a:p>
            <a:pPr algn="ctr">
              <a:buNone/>
            </a:pPr>
            <a:r>
              <a:rPr lang="en-US" sz="1100" dirty="0">
                <a:solidFill>
                  <a:srgbClr val="FFFFFF">
                    <a:alpha val="70000"/>
                  </a:srgbClr>
                </a:solidFill>
                <a:latin typeface="Segoe UI"/>
              </a:rPr>
              <a:t>Step 1</a:t>
            </a:r>
          </a:p>
          <a:p>
            <a:pPr algn="ctr">
              <a:spcBef>
                <a:spcPts val="200"/>
              </a:spcBef>
              <a:buNone/>
            </a:pPr>
            <a:r>
              <a:rPr lang="en-US" sz="1600" b="1" dirty="0">
                <a:solidFill>
                  <a:srgbClr val="FFFFFF"/>
                </a:solidFill>
                <a:latin typeface="Segoe UI"/>
              </a:rPr>
              <a:t>Set Write Bit</a:t>
            </a:r>
          </a:p>
          <a:p>
            <a:pPr algn="ctr">
              <a:spcBef>
                <a:spcPts val="400"/>
              </a:spcBef>
              <a:buNone/>
            </a:pPr>
            <a:r>
              <a:rPr lang="en-US" sz="1100" dirty="0">
                <a:solidFill>
                  <a:srgbClr val="FFFFFF">
                    <a:alpha val="85000"/>
                  </a:srgbClr>
                </a:solidFill>
                <a:latin typeface="Consolas"/>
              </a:rPr>
              <a:t>mreg |= 0x080
Set bit 7 to indicate
a write operation</a:t>
            </a:r>
          </a:p>
        </p:txBody>
      </p:sp>
      <p:cxnSp>
        <p:nvCxnSpPr>
          <p:cNvPr id="120" name="Arrow0"/>
          <p:cNvCxnSpPr/>
          <p:nvPr/>
        </p:nvCxnSpPr>
        <p:spPr>
          <a:xfrm>
            <a:off x="2463800" y="2273300"/>
            <a:ext cx="177800" cy="0"/>
          </a:xfrm>
          <a:prstGeom prst="line">
            <a:avLst/>
          </a:prstGeom>
          <a:ln w="19050">
            <a:solidFill>
              <a:srgbClr val="D46A2E"/>
            </a:solidFill>
            <a:tailEnd type="triangle" w="med" len="med"/>
          </a:ln>
        </p:spPr>
      </p:cxnSp>
      <p:sp>
        <p:nvSpPr>
          <p:cNvPr id="111" name="Step2"/>
          <p:cNvSpPr/>
          <p:nvPr/>
        </p:nvSpPr>
        <p:spPr>
          <a:xfrm>
            <a:off x="2641600" y="1333500"/>
            <a:ext cx="2057400" cy="1879600"/>
          </a:xfrm>
          <a:prstGeom prst="roundRect">
            <a:avLst>
              <a:gd name="adj" fmla="val 8000"/>
            </a:avLst>
          </a:prstGeom>
          <a:solidFill>
            <a:srgbClr val="1B7A8A"/>
          </a:solidFill>
          <a:ln>
            <a:noFill/>
          </a:ln>
          <a:effectLst>
            <a:outerShdw blurRad="40000" dist="20000" dir="5400000" rotWithShape="0">
              <a:srgbClr val="000000">
                <a:alpha val="23000"/>
              </a:srgbClr>
            </a:outerShdw>
          </a:effectLst>
        </p:spPr>
        <p:txBody>
          <a:bodyPr lIns="72000" tIns="54000" rIns="72000" bIns="54000" anchor="t"/>
          <a:lstStyle/>
          <a:p>
            <a:pPr algn="ctr">
              <a:buNone/>
            </a:pPr>
            <a:r>
              <a:rPr lang="en-US" sz="1100" dirty="0">
                <a:solidFill>
                  <a:srgbClr val="FFFFFF">
                    <a:alpha val="70000"/>
                  </a:srgbClr>
                </a:solidFill>
                <a:latin typeface="Segoe UI"/>
              </a:rPr>
              <a:t>Step 2</a:t>
            </a:r>
          </a:p>
          <a:p>
            <a:pPr algn="ctr">
              <a:spcBef>
                <a:spcPts val="200"/>
              </a:spcBef>
              <a:buNone/>
            </a:pPr>
            <a:r>
              <a:rPr lang="en-US" sz="1600" b="1" dirty="0">
                <a:solidFill>
                  <a:srgbClr val="FFFFFF"/>
                </a:solidFill>
                <a:latin typeface="Segoe UI"/>
              </a:rPr>
              <a:t>Build SPI Frame</a:t>
            </a:r>
          </a:p>
          <a:p>
            <a:pPr algn="ctr">
              <a:spcBef>
                <a:spcPts val="400"/>
              </a:spcBef>
              <a:buNone/>
            </a:pPr>
            <a:r>
              <a:rPr lang="en-US" sz="1100" dirty="0">
                <a:solidFill>
                  <a:srgbClr val="FFFFFF">
                    <a:alpha val="85000"/>
                  </a:srgbClr>
                </a:solidFill>
                <a:latin typeface="Consolas"/>
              </a:rPr>
              <a:t>transm_data =
(mreg&lt;&lt;8) | (msend&amp;0xFF)
Combine addr + data</a:t>
            </a:r>
          </a:p>
        </p:txBody>
      </p:sp>
      <p:cxnSp>
        <p:nvCxnSpPr>
          <p:cNvPr id="121" name="Arrow1"/>
          <p:cNvCxnSpPr/>
          <p:nvPr/>
        </p:nvCxnSpPr>
        <p:spPr>
          <a:xfrm>
            <a:off x="4699000" y="2273300"/>
            <a:ext cx="177800" cy="0"/>
          </a:xfrm>
          <a:prstGeom prst="line">
            <a:avLst/>
          </a:prstGeom>
          <a:ln w="19050">
            <a:solidFill>
              <a:srgbClr val="D46A2E"/>
            </a:solidFill>
            <a:tailEnd type="triangle" w="med" len="med"/>
          </a:ln>
        </p:spPr>
      </p:cxnSp>
      <p:sp>
        <p:nvSpPr>
          <p:cNvPr id="112" name="Step3"/>
          <p:cNvSpPr/>
          <p:nvPr/>
        </p:nvSpPr>
        <p:spPr>
          <a:xfrm>
            <a:off x="4876800" y="1333500"/>
            <a:ext cx="2057400" cy="1879600"/>
          </a:xfrm>
          <a:prstGeom prst="roundRect">
            <a:avLst>
              <a:gd name="adj" fmla="val 8000"/>
            </a:avLst>
          </a:prstGeom>
          <a:solidFill>
            <a:srgbClr val="2D6E4F"/>
          </a:solidFill>
          <a:ln>
            <a:noFill/>
          </a:ln>
          <a:effectLst>
            <a:outerShdw blurRad="40000" dist="20000" dir="5400000" rotWithShape="0">
              <a:srgbClr val="000000">
                <a:alpha val="23000"/>
              </a:srgbClr>
            </a:outerShdw>
          </a:effectLst>
        </p:spPr>
        <p:txBody>
          <a:bodyPr lIns="72000" tIns="54000" rIns="72000" bIns="54000" anchor="t"/>
          <a:lstStyle/>
          <a:p>
            <a:pPr algn="ctr">
              <a:buNone/>
            </a:pPr>
            <a:r>
              <a:rPr lang="en-US" sz="1100" dirty="0">
                <a:solidFill>
                  <a:srgbClr val="FFFFFF">
                    <a:alpha val="70000"/>
                  </a:srgbClr>
                </a:solidFill>
                <a:latin typeface="Segoe UI"/>
              </a:rPr>
              <a:t>Step 3</a:t>
            </a:r>
          </a:p>
          <a:p>
            <a:pPr algn="ctr">
              <a:spcBef>
                <a:spcPts val="200"/>
              </a:spcBef>
              <a:buNone/>
            </a:pPr>
            <a:r>
              <a:rPr lang="en-US" sz="1600" b="1" dirty="0">
                <a:solidFill>
                  <a:srgbClr val="FFFFFF"/>
                </a:solidFill>
                <a:latin typeface="Segoe UI"/>
              </a:rPr>
              <a:t>Send via Kernel</a:t>
            </a:r>
          </a:p>
          <a:p>
            <a:pPr algn="ctr">
              <a:spcBef>
                <a:spcPts val="400"/>
              </a:spcBef>
              <a:buNone/>
            </a:pPr>
            <a:r>
              <a:rPr lang="en-US" sz="1100" dirty="0">
                <a:solidFill>
                  <a:srgbClr val="FFFFFF">
                    <a:alpha val="85000"/>
                  </a:srgbClr>
                </a:solidFill>
                <a:latin typeface="Consolas"/>
              </a:rPr>
              <a:t>Load struct, call
write(fd, ...) to cross
into kernel space</a:t>
            </a:r>
          </a:p>
        </p:txBody>
      </p:sp>
      <p:cxnSp>
        <p:nvCxnSpPr>
          <p:cNvPr id="122" name="Arrow2"/>
          <p:cNvCxnSpPr/>
          <p:nvPr/>
        </p:nvCxnSpPr>
        <p:spPr>
          <a:xfrm>
            <a:off x="6934200" y="2273300"/>
            <a:ext cx="177800" cy="0"/>
          </a:xfrm>
          <a:prstGeom prst="line">
            <a:avLst/>
          </a:prstGeom>
          <a:ln w="19050">
            <a:solidFill>
              <a:srgbClr val="D46A2E"/>
            </a:solidFill>
            <a:tailEnd type="triangle" w="med" len="med"/>
          </a:ln>
        </p:spPr>
      </p:cxnSp>
      <p:sp>
        <p:nvSpPr>
          <p:cNvPr id="113" name="Step4"/>
          <p:cNvSpPr/>
          <p:nvPr/>
        </p:nvSpPr>
        <p:spPr>
          <a:xfrm>
            <a:off x="7112000" y="1333500"/>
            <a:ext cx="2057400" cy="1879600"/>
          </a:xfrm>
          <a:prstGeom prst="roundRect">
            <a:avLst>
              <a:gd name="adj" fmla="val 8000"/>
            </a:avLst>
          </a:prstGeom>
          <a:solidFill>
            <a:srgbClr val="7B5EA7"/>
          </a:solidFill>
          <a:ln>
            <a:noFill/>
          </a:ln>
          <a:effectLst>
            <a:outerShdw blurRad="40000" dist="20000" dir="5400000" rotWithShape="0">
              <a:srgbClr val="000000">
                <a:alpha val="23000"/>
              </a:srgbClr>
            </a:outerShdw>
          </a:effectLst>
        </p:spPr>
        <p:txBody>
          <a:bodyPr lIns="72000" tIns="54000" rIns="72000" bIns="54000" anchor="t"/>
          <a:lstStyle/>
          <a:p>
            <a:pPr algn="ctr">
              <a:buNone/>
            </a:pPr>
            <a:r>
              <a:rPr lang="en-US" sz="1100" dirty="0">
                <a:solidFill>
                  <a:srgbClr val="FFFFFF">
                    <a:alpha val="70000"/>
                  </a:srgbClr>
                </a:solidFill>
                <a:latin typeface="Segoe UI"/>
              </a:rPr>
              <a:t>Step 4</a:t>
            </a:r>
          </a:p>
          <a:p>
            <a:pPr algn="ctr">
              <a:spcBef>
                <a:spcPts val="200"/>
              </a:spcBef>
              <a:buNone/>
            </a:pPr>
            <a:r>
              <a:rPr lang="en-US" sz="1600" b="1" dirty="0">
                <a:solidFill>
                  <a:srgbClr val="FFFFFF"/>
                </a:solidFill>
                <a:latin typeface="Segoe UI"/>
              </a:rPr>
              <a:t>Status Check</a:t>
            </a:r>
          </a:p>
          <a:p>
            <a:pPr algn="ctr">
              <a:spcBef>
                <a:spcPts val="400"/>
              </a:spcBef>
              <a:buNone/>
            </a:pPr>
            <a:r>
              <a:rPr lang="en-US" sz="1100" dirty="0">
                <a:solidFill>
                  <a:srgbClr val="FFFFFF">
                    <a:alpha val="85000"/>
                  </a:srgbClr>
                </a:solidFill>
                <a:latin typeface="Consolas"/>
              </a:rPr>
              <a:t>Read status register
in a do-while loop
until SPI completes</a:t>
            </a:r>
          </a:p>
        </p:txBody>
      </p:sp>
      <p:cxnSp>
        <p:nvCxnSpPr>
          <p:cNvPr id="123" name="Arrow3"/>
          <p:cNvCxnSpPr/>
          <p:nvPr/>
        </p:nvCxnSpPr>
        <p:spPr>
          <a:xfrm>
            <a:off x="9169400" y="2273300"/>
            <a:ext cx="177800" cy="0"/>
          </a:xfrm>
          <a:prstGeom prst="line">
            <a:avLst/>
          </a:prstGeom>
          <a:ln w="19050">
            <a:solidFill>
              <a:srgbClr val="D46A2E"/>
            </a:solidFill>
            <a:tailEnd type="triangle" w="med" len="med"/>
          </a:ln>
        </p:spPr>
      </p:cxnSp>
      <p:sp>
        <p:nvSpPr>
          <p:cNvPr id="114" name="Step5"/>
          <p:cNvSpPr/>
          <p:nvPr/>
        </p:nvSpPr>
        <p:spPr>
          <a:xfrm>
            <a:off x="9347200" y="1333500"/>
            <a:ext cx="2057400" cy="1879600"/>
          </a:xfrm>
          <a:prstGeom prst="roundRect">
            <a:avLst>
              <a:gd name="adj" fmla="val 8000"/>
            </a:avLst>
          </a:prstGeom>
          <a:solidFill>
            <a:srgbClr val="B8532E"/>
          </a:solidFill>
          <a:ln>
            <a:noFill/>
          </a:ln>
          <a:effectLst>
            <a:outerShdw blurRad="40000" dist="20000" dir="5400000" rotWithShape="0">
              <a:srgbClr val="000000">
                <a:alpha val="23000"/>
              </a:srgbClr>
            </a:outerShdw>
          </a:effectLst>
        </p:spPr>
        <p:txBody>
          <a:bodyPr lIns="72000" tIns="54000" rIns="72000" bIns="54000" anchor="t"/>
          <a:lstStyle/>
          <a:p>
            <a:pPr algn="ctr">
              <a:buNone/>
            </a:pPr>
            <a:r>
              <a:rPr lang="en-US" sz="1100" dirty="0">
                <a:solidFill>
                  <a:srgbClr val="FFFFFF">
                    <a:alpha val="70000"/>
                  </a:srgbClr>
                </a:solidFill>
                <a:latin typeface="Segoe UI"/>
              </a:rPr>
              <a:t>Step 5</a:t>
            </a:r>
          </a:p>
          <a:p>
            <a:pPr algn="ctr">
              <a:spcBef>
                <a:spcPts val="200"/>
              </a:spcBef>
              <a:buNone/>
            </a:pPr>
            <a:r>
              <a:rPr lang="en-US" sz="1600" b="1" dirty="0">
                <a:solidFill>
                  <a:srgbClr val="FFFFFF"/>
                </a:solidFill>
                <a:latin typeface="Segoe UI"/>
              </a:rPr>
              <a:t>Confirm / Timeout</a:t>
            </a:r>
          </a:p>
          <a:p>
            <a:pPr algn="ctr">
              <a:spcBef>
                <a:spcPts val="400"/>
              </a:spcBef>
              <a:buNone/>
            </a:pPr>
            <a:r>
              <a:rPr lang="en-US" sz="1100" dirty="0">
                <a:solidFill>
                  <a:srgbClr val="FFFFFF">
                    <a:alpha val="85000"/>
                  </a:srgbClr>
                </a:solidFill>
                <a:latin typeface="Consolas"/>
              </a:rPr>
              <a:t>bit0=1 → done
k≥1000 → timeout
Return success/error</a:t>
            </a:r>
          </a:p>
        </p:txBody>
      </p:sp>
      <p:sp>
        <p:nvSpPr>
          <p:cNvPr id="131" name="CodeLabel"/>
          <p:cNvSpPr/>
          <p:nvPr/>
        </p:nvSpPr>
        <p:spPr>
          <a:xfrm>
            <a:off x="406400" y="3556000"/>
            <a:ext cx="3302000" cy="304800"/>
          </a:xfrm>
          <a:prstGeom prst="roundRect">
            <a:avLst>
              <a:gd name="adj" fmla="val 25000"/>
            </a:avLst>
          </a:prstGeom>
          <a:solidFill>
            <a:srgbClr val="D46A2E"/>
          </a:solidFill>
          <a:ln>
            <a:noFill/>
          </a:ln>
        </p:spPr>
        <p:txBody>
          <a:bodyPr lIns="72000" tIns="0" rIns="72000" bIns="0" anchor="ctr"/>
          <a:lstStyle/>
          <a:p>
            <a:pPr algn="ctr">
              <a:buNone/>
            </a:pPr>
            <a:r>
              <a:rPr lang="en-US" sz="1000" b="1" dirty="0">
                <a:solidFill>
                  <a:srgbClr val="FFFFFF"/>
                </a:solidFill>
                <a:latin typeface="Segoe UI"/>
              </a:rPr>
              <a:t>utils.c — Function Call</a:t>
            </a:r>
          </a:p>
        </p:txBody>
      </p:sp>
      <p:sp>
        <p:nvSpPr>
          <p:cNvPr id="130" name="CodeBlock"/>
          <p:cNvSpPr/>
          <p:nvPr/>
        </p:nvSpPr>
        <p:spPr>
          <a:xfrm>
            <a:off x="406400" y="3873500"/>
            <a:ext cx="11379200" cy="1397000"/>
          </a:xfrm>
          <a:prstGeom prst="roundRect">
            <a:avLst>
              <a:gd name="adj" fmla="val 3000"/>
            </a:avLst>
          </a:prstGeom>
          <a:solidFill>
            <a:srgbClr val="1E293B"/>
          </a:solidFill>
          <a:ln>
            <a:noFill/>
          </a:ln>
        </p:spPr>
        <p:txBody>
          <a:bodyPr lIns="144000" tIns="72000" rIns="144000" bIns="72000" anchor="ctr"/>
          <a:lstStyle/>
          <a:p>
            <a:pPr>
              <a:buNone/>
            </a:pPr>
            <a:r>
              <a:rPr lang="en-US" sz="1200" dirty="0">
                <a:solidFill>
                  <a:srgbClr val="94A3B8"/>
                </a:solidFill>
                <a:latin typeface="Consolas"/>
              </a:rPr>
              <a:t>// utils.c — Function call that starts the write process</a:t>
            </a:r>
          </a:p>
          <a:p>
            <a:pPr>
              <a:spcBef>
                <a:spcPts val="400"/>
              </a:spcBef>
              <a:buNone/>
            </a:pPr>
            <a:r>
              <a:rPr lang="en-US" sz="1400" dirty="0">
                <a:solidFill>
                  <a:srgbClr val="7DD3FC"/>
                </a:solidFill>
                <a:latin typeface="Consolas"/>
              </a:rPr>
              <a:t>writeMAXSpiInterface</a:t>
            </a:r>
            <a:r>
              <a:rPr lang="en-US" sz="1400" dirty="0">
                <a:solidFill>
                  <a:srgbClr val="E2E8F0"/>
                </a:solidFill>
                <a:latin typeface="Consolas"/>
              </a:rPr>
              <a:t>(fd, 0x00, 0xA1);</a:t>
            </a:r>
          </a:p>
          <a:p>
            <a:pPr>
              <a:spcBef>
                <a:spcPts val="400"/>
              </a:spcBef>
              <a:buNone/>
            </a:pPr>
            <a:r>
              <a:rPr lang="en-US" sz="1100" dirty="0">
                <a:solidFill>
                  <a:srgbClr val="94A3B8"/>
                </a:solidFill>
                <a:latin typeface="Consolas"/>
              </a:rPr>
              <a:t>// fd=3: file descriptor    mreg=0x00: Config Register    msend=0xA1: value (VBIAS+1SHOT+50Hz)</a:t>
            </a:r>
          </a:p>
        </p:txBody>
      </p:sp>
      <p:sp>
        <p:nvSpPr>
          <p:cNvPr id="133" name="FooterNote"/>
          <p:cNvSpPr txBox="1"/>
          <p:nvPr/>
        </p:nvSpPr>
        <p:spPr>
          <a:xfrm>
            <a:off x="444500" y="5461000"/>
            <a:ext cx="11303000" cy="381000"/>
          </a:xfrm>
          <a:prstGeom prst="rect">
            <a:avLst/>
          </a:prstGeom>
          <a:noFill/>
          <a:ln>
            <a:noFill/>
          </a:ln>
        </p:spPr>
        <p:txBody>
          <a:bodyPr anchor="ctr"/>
          <a:lstStyle/>
          <a:p>
            <a:pPr>
              <a:buNone/>
            </a:pPr>
            <a:r>
              <a:rPr lang="en-US" sz="1200" i="1" dirty="0">
                <a:solidFill>
                  <a:srgbClr val="9CA3AF"/>
                </a:solidFill>
                <a:latin typeface="Segoe UI"/>
              </a:rPr>
              <a:t>Each step is detailed on the following slides (Slides 17–21)</a:t>
            </a:r>
          </a:p>
        </p:txBody>
      </p:sp>
      <p:cxnSp>
        <p:nvCxnSpPr>
          <p:cNvPr id="140" name="BottomAccent"/>
          <p:cNvCxnSpPr/>
          <p:nvPr/>
        </p:nvCxnSpPr>
        <p:spPr>
          <a:xfrm>
            <a:off x="0" y="6578600"/>
            <a:ext cx="12192000" cy="0"/>
          </a:xfrm>
          <a:prstGeom prst="line">
            <a:avLst/>
          </a:prstGeom>
          <a:ln w="25400">
            <a:solidFill>
              <a:srgbClr val="D46A2E"/>
            </a:solidFill>
          </a:ln>
        </p:spPr>
      </p:cxnSp>
      <p:cxnSp>
        <p:nvCxnSpPr>
          <p:cNvPr id="141" name="BottomNavy"/>
          <p:cNvCxnSpPr/>
          <p:nvPr/>
        </p:nvCxnSpPr>
        <p:spPr>
          <a:xfrm>
            <a:off x="0" y="6667500"/>
            <a:ext cx="12192000" cy="0"/>
          </a:xfrm>
          <a:prstGeom prst="line">
            <a:avLst/>
          </a:prstGeom>
          <a:ln w="38100">
            <a:solidFill>
              <a:srgbClr val="1B2A4A"/>
            </a:solidFill>
          </a:ln>
        </p:spPr>
      </p:cxnSp>
    </p:spTree>
    <p:extLst>
      <p:ext uri="{BB962C8B-B14F-4D97-AF65-F5344CB8AC3E}">
        <p14:creationId xmlns:p14="http://schemas.microsoft.com/office/powerpoint/2010/main" val="33822175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H"/>
          <p:cNvSpPr/>
          <p:nvPr/>
        </p:nvSpPr>
        <p:spPr>
          <a:xfrm>
            <a:off x="0" y="0"/>
            <a:ext cx="12192000" cy="660400"/>
          </a:xfrm>
          <a:prstGeom prst="rect">
            <a:avLst/>
          </a:prstGeom>
          <a:solidFill>
            <a:srgbClr val="2B5EA7"/>
          </a:solidFill>
          <a:ln>
            <a:noFill/>
          </a:ln>
        </p:spPr>
        <p:txBody>
          <a:bodyPr lIns="216000" anchor="ctr"/>
          <a:lstStyle/>
          <a:p>
            <a:pPr>
              <a:buNone/>
            </a:pPr>
            <a:r>
              <a:rPr lang="en-US" sz="1800" b="1" dirty="0">
                <a:solidFill>
                  <a:srgbClr val="FFFFFF"/>
                </a:solidFill>
                <a:latin typeface="Segoe UI"/>
              </a:rPr>
              <a:t>Step 1 of 5 — Set the Write Bit on the Register Address</a:t>
            </a:r>
          </a:p>
        </p:txBody>
      </p:sp>
      <p:cxnSp>
        <p:nvCxnSpPr>
          <p:cNvPr id="101" name="AL"/>
          <p:cNvCxnSpPr/>
          <p:nvPr/>
        </p:nvCxnSpPr>
        <p:spPr>
          <a:xfrm>
            <a:off x="0" y="660400"/>
            <a:ext cx="12192000" cy="0"/>
          </a:xfrm>
          <a:prstGeom prst="line">
            <a:avLst/>
          </a:prstGeom>
          <a:ln w="25400">
            <a:solidFill>
              <a:srgbClr val="D46A2E"/>
            </a:solidFill>
          </a:ln>
        </p:spPr>
      </p:cxnSp>
      <p:sp>
        <p:nvSpPr>
          <p:cNvPr id="110" name="FC1"/>
          <p:cNvSpPr/>
          <p:nvPr/>
        </p:nvSpPr>
        <p:spPr>
          <a:xfrm>
            <a:off x="381000" y="914400"/>
            <a:ext cx="5080000" cy="635000"/>
          </a:xfrm>
          <a:prstGeom prst="roundRect">
            <a:avLst>
              <a:gd name="adj" fmla="val 10000"/>
            </a:avLst>
          </a:prstGeom>
          <a:solidFill>
            <a:srgbClr val="1B2A4A"/>
          </a:solidFill>
          <a:ln>
            <a:noFill/>
          </a:ln>
        </p:spPr>
        <p:txBody>
          <a:bodyPr lIns="72000" anchor="ctr"/>
          <a:lstStyle/>
          <a:p>
            <a:pPr algn="ctr">
              <a:buNone/>
            </a:pPr>
            <a:r>
              <a:rPr lang="en-US" sz="1400" b="1" dirty="0">
                <a:solidFill>
                  <a:srgbClr val="FFFFFF"/>
                </a:solidFill>
                <a:latin typeface="Segoe UI"/>
              </a:rPr>
              <a:t>STEP 1: Set Write Bit</a:t>
            </a:r>
          </a:p>
        </p:txBody>
      </p:sp>
      <p:sp>
        <p:nvSpPr>
          <p:cNvPr id="111" name="Op"/>
          <p:cNvSpPr/>
          <p:nvPr/>
        </p:nvSpPr>
        <p:spPr>
          <a:xfrm>
            <a:off x="381000" y="1714500"/>
            <a:ext cx="5080000" cy="571500"/>
          </a:xfrm>
          <a:prstGeom prst="roundRect">
            <a:avLst>
              <a:gd name="adj" fmla="val 10000"/>
            </a:avLst>
          </a:prstGeom>
          <a:solidFill>
            <a:srgbClr val="EFF6FF"/>
          </a:solidFill>
          <a:ln w="12700">
            <a:solidFill>
              <a:srgbClr val="2B5EA7"/>
            </a:solidFill>
          </a:ln>
        </p:spPr>
        <p:txBody>
          <a:bodyPr lIns="72000" anchor="ctr"/>
          <a:lstStyle/>
          <a:p>
            <a:pPr algn="ctr">
              <a:buNone/>
            </a:pPr>
            <a:r>
              <a:rPr lang="en-US" sz="1600" b="1" dirty="0">
                <a:solidFill>
                  <a:srgbClr val="2B5EA7"/>
                </a:solidFill>
                <a:latin typeface="Consolas"/>
              </a:rPr>
              <a:t>mreg |= 0x080</a:t>
            </a:r>
          </a:p>
        </p:txBody>
      </p:sp>
      <p:cxnSp>
        <p:nvCxnSpPr>
          <p:cNvPr id="112" name="A1"/>
          <p:cNvCxnSpPr/>
          <p:nvPr/>
        </p:nvCxnSpPr>
        <p:spPr>
          <a:xfrm>
            <a:off x="2921000" y="1549400"/>
            <a:ext cx="0" cy="165100"/>
          </a:xfrm>
          <a:prstGeom prst="line">
            <a:avLst/>
          </a:prstGeom>
          <a:ln w="19050">
            <a:solidFill>
              <a:srgbClr val="D46A2E"/>
            </a:solidFill>
            <a:tailEnd type="triangle" w="med" len="med"/>
          </a:ln>
        </p:spPr>
      </p:cxnSp>
      <p:sp>
        <p:nvSpPr>
          <p:cNvPr id="113" name="Explain"/>
          <p:cNvSpPr/>
          <p:nvPr/>
        </p:nvSpPr>
        <p:spPr>
          <a:xfrm>
            <a:off x="381000" y="2438400"/>
            <a:ext cx="5080000" cy="889000"/>
          </a:xfrm>
          <a:prstGeom prst="roundRect">
            <a:avLst>
              <a:gd name="adj" fmla="val 8000"/>
            </a:avLst>
          </a:prstGeom>
          <a:solidFill>
            <a:srgbClr val="F0FDF4"/>
          </a:solidFill>
          <a:ln w="12700">
            <a:solidFill>
              <a:srgbClr val="2D6E4F"/>
            </a:solidFill>
          </a:ln>
        </p:spPr>
        <p:txBody>
          <a:bodyPr lIns="72000" tIns="36000" rIns="72000" bIns="36000" anchor="ctr"/>
          <a:lstStyle/>
          <a:p>
            <a:pPr algn="ctr">
              <a:buNone/>
            </a:pPr>
            <a:r>
              <a:rPr lang="en-US" sz="1400" dirty="0">
                <a:solidFill>
                  <a:srgbClr val="2D6E4F"/>
                </a:solidFill>
                <a:latin typeface="Segoe UI"/>
              </a:rPr>
              <a:t>mreg becomes 0x80</a:t>
            </a:r>
          </a:p>
          <a:p>
            <a:pPr algn="ctr">
              <a:buNone/>
            </a:pPr>
            <a:r>
              <a:rPr lang="en-US" sz="1200" i="1" dirty="0">
                <a:solidFill>
                  <a:srgbClr val="6B7280"/>
                </a:solidFill>
                <a:latin typeface="Segoe UI"/>
              </a:rPr>
              <a:t>bit 7 = 1 tells MAX31865: this is a WRITE</a:t>
            </a:r>
          </a:p>
        </p:txBody>
      </p:sp>
      <p:cxnSp>
        <p:nvCxnSpPr>
          <p:cNvPr id="114" name="A2"/>
          <p:cNvCxnSpPr/>
          <p:nvPr/>
        </p:nvCxnSpPr>
        <p:spPr>
          <a:xfrm>
            <a:off x="2921000" y="2286000"/>
            <a:ext cx="0" cy="152400"/>
          </a:xfrm>
          <a:prstGeom prst="line">
            <a:avLst/>
          </a:prstGeom>
          <a:ln w="19050">
            <a:solidFill>
              <a:srgbClr val="D46A2E"/>
            </a:solidFill>
            <a:tailEnd type="triangle" w="med" len="med"/>
          </a:ln>
        </p:spPr>
      </p:cxnSp>
      <p:sp>
        <p:nvSpPr>
          <p:cNvPr id="115" name="Next"/>
          <p:cNvSpPr/>
          <p:nvPr/>
        </p:nvSpPr>
        <p:spPr>
          <a:xfrm>
            <a:off x="381000" y="3492500"/>
            <a:ext cx="5080000" cy="444500"/>
          </a:xfrm>
          <a:prstGeom prst="roundRect">
            <a:avLst>
              <a:gd name="adj" fmla="val 15000"/>
            </a:avLst>
          </a:prstGeom>
          <a:solidFill>
            <a:srgbClr val="D46A2E"/>
          </a:solidFill>
          <a:ln>
            <a:noFill/>
          </a:ln>
        </p:spPr>
        <p:txBody>
          <a:bodyPr lIns="72000" anchor="ctr"/>
          <a:lstStyle/>
          <a:p>
            <a:pPr algn="ctr">
              <a:buNone/>
            </a:pPr>
            <a:r>
              <a:rPr lang="en-US" sz="1400" b="1" dirty="0">
                <a:solidFill>
                  <a:srgbClr val="FFFFFF"/>
                </a:solidFill>
                <a:latin typeface="Segoe UI"/>
              </a:rPr>
              <a:t>Proceed to Step 2: Build the 16-bit SPI Frame →</a:t>
            </a:r>
          </a:p>
        </p:txBody>
      </p:sp>
      <p:cxnSp>
        <p:nvCxnSpPr>
          <p:cNvPr id="116" name="A3"/>
          <p:cNvCxnSpPr/>
          <p:nvPr/>
        </p:nvCxnSpPr>
        <p:spPr>
          <a:xfrm>
            <a:off x="2921000" y="3327400"/>
            <a:ext cx="0" cy="165100"/>
          </a:xfrm>
          <a:prstGeom prst="line">
            <a:avLst/>
          </a:prstGeom>
          <a:ln w="19050">
            <a:solidFill>
              <a:srgbClr val="D46A2E"/>
            </a:solidFill>
            <a:tailEnd type="triangle" w="med" len="med"/>
          </a:ln>
        </p:spPr>
      </p:cxnSp>
      <p:sp>
        <p:nvSpPr>
          <p:cNvPr id="200" name="BinTitle"/>
          <p:cNvSpPr txBox="1"/>
          <p:nvPr/>
        </p:nvSpPr>
        <p:spPr>
          <a:xfrm>
            <a:off x="5969000" y="863600"/>
            <a:ext cx="5969000" cy="381000"/>
          </a:xfrm>
          <a:prstGeom prst="rect">
            <a:avLst/>
          </a:prstGeom>
          <a:noFill/>
          <a:ln>
            <a:noFill/>
          </a:ln>
        </p:spPr>
        <p:txBody>
          <a:bodyPr anchor="ctr"/>
          <a:lstStyle/>
          <a:p>
            <a:pPr>
              <a:buNone/>
            </a:pPr>
            <a:r>
              <a:rPr lang="en-US" sz="1600" b="1" dirty="0">
                <a:solidFill>
                  <a:srgbClr val="1B2A4A"/>
                </a:solidFill>
                <a:latin typeface="Segoe UI"/>
              </a:rPr>
              <a:t>Bitwise OR Operation</a:t>
            </a:r>
          </a:p>
        </p:txBody>
      </p:sp>
      <p:sp>
        <p:nvSpPr>
          <p:cNvPr id="210" name="RL0"/>
          <p:cNvSpPr/>
          <p:nvPr/>
        </p:nvSpPr>
        <p:spPr>
          <a:xfrm>
            <a:off x="5969000" y="1371600"/>
            <a:ext cx="1016000" cy="406400"/>
          </a:xfrm>
          <a:prstGeom prst="roundRect">
            <a:avLst>
              <a:gd name="adj" fmla="val 15000"/>
            </a:avLst>
          </a:prstGeom>
          <a:solidFill>
            <a:srgbClr val="E8EAED"/>
          </a:solidFill>
          <a:ln>
            <a:noFill/>
          </a:ln>
        </p:spPr>
        <p:txBody>
          <a:bodyPr lIns="36000" tIns="0" rIns="36000" bIns="0" anchor="ctr"/>
          <a:lstStyle/>
          <a:p>
            <a:pPr algn="ctr">
              <a:buNone/>
            </a:pPr>
            <a:r>
              <a:rPr lang="en-US" sz="1000" b="1" dirty="0">
                <a:solidFill>
                  <a:srgbClr val="6B7280"/>
                </a:solidFill>
                <a:latin typeface="Segoe UI"/>
              </a:rPr>
              <a:t>BEFORE</a:t>
            </a:r>
          </a:p>
        </p:txBody>
      </p:sp>
      <p:sp>
        <p:nvSpPr>
          <p:cNvPr id="220" name="B00"/>
          <p:cNvSpPr/>
          <p:nvPr/>
        </p:nvSpPr>
        <p:spPr>
          <a:xfrm>
            <a:off x="6731000" y="1371600"/>
            <a:ext cx="571500" cy="406400"/>
          </a:xfrm>
          <a:prstGeom prst="roundRect">
            <a:avLst>
              <a:gd name="adj" fmla="val 15000"/>
            </a:avLst>
          </a:prstGeom>
          <a:solidFill>
            <a:srgbClr val="E8EAED"/>
          </a:solidFill>
          <a:ln>
            <a:noFill/>
          </a:ln>
        </p:spPr>
        <p:txBody>
          <a:bodyPr lIns="0" tIns="0" rIns="0" bIns="0" anchor="ctr"/>
          <a:lstStyle/>
          <a:p>
            <a:pPr algn="ctr">
              <a:buNone/>
            </a:pPr>
            <a:r>
              <a:rPr lang="en-US" sz="1400" b="1" dirty="0">
                <a:solidFill>
                  <a:srgbClr val="6B7280"/>
                </a:solidFill>
                <a:latin typeface="Consolas"/>
              </a:rPr>
              <a:t>0</a:t>
            </a:r>
          </a:p>
        </p:txBody>
      </p:sp>
      <p:sp>
        <p:nvSpPr>
          <p:cNvPr id="221" name="B01"/>
          <p:cNvSpPr/>
          <p:nvPr/>
        </p:nvSpPr>
        <p:spPr>
          <a:xfrm>
            <a:off x="7353300" y="1371600"/>
            <a:ext cx="571500" cy="406400"/>
          </a:xfrm>
          <a:prstGeom prst="roundRect">
            <a:avLst>
              <a:gd name="adj" fmla="val 15000"/>
            </a:avLst>
          </a:prstGeom>
          <a:solidFill>
            <a:srgbClr val="E8EAED"/>
          </a:solidFill>
          <a:ln>
            <a:noFill/>
          </a:ln>
        </p:spPr>
        <p:txBody>
          <a:bodyPr lIns="0" tIns="0" rIns="0" bIns="0" anchor="ctr"/>
          <a:lstStyle/>
          <a:p>
            <a:pPr algn="ctr">
              <a:buNone/>
            </a:pPr>
            <a:r>
              <a:rPr lang="en-US" sz="1400" b="1" dirty="0">
                <a:solidFill>
                  <a:srgbClr val="6B7280"/>
                </a:solidFill>
                <a:latin typeface="Consolas"/>
              </a:rPr>
              <a:t>0</a:t>
            </a:r>
          </a:p>
        </p:txBody>
      </p:sp>
      <p:sp>
        <p:nvSpPr>
          <p:cNvPr id="222" name="B02"/>
          <p:cNvSpPr/>
          <p:nvPr/>
        </p:nvSpPr>
        <p:spPr>
          <a:xfrm>
            <a:off x="7975600" y="1371600"/>
            <a:ext cx="571500" cy="406400"/>
          </a:xfrm>
          <a:prstGeom prst="roundRect">
            <a:avLst>
              <a:gd name="adj" fmla="val 15000"/>
            </a:avLst>
          </a:prstGeom>
          <a:solidFill>
            <a:srgbClr val="E8EAED"/>
          </a:solidFill>
          <a:ln>
            <a:noFill/>
          </a:ln>
        </p:spPr>
        <p:txBody>
          <a:bodyPr lIns="0" tIns="0" rIns="0" bIns="0" anchor="ctr"/>
          <a:lstStyle/>
          <a:p>
            <a:pPr algn="ctr">
              <a:buNone/>
            </a:pPr>
            <a:r>
              <a:rPr lang="en-US" sz="1400" b="1" dirty="0">
                <a:solidFill>
                  <a:srgbClr val="6B7280"/>
                </a:solidFill>
                <a:latin typeface="Consolas"/>
              </a:rPr>
              <a:t>0</a:t>
            </a:r>
          </a:p>
        </p:txBody>
      </p:sp>
      <p:sp>
        <p:nvSpPr>
          <p:cNvPr id="223" name="B03"/>
          <p:cNvSpPr/>
          <p:nvPr/>
        </p:nvSpPr>
        <p:spPr>
          <a:xfrm>
            <a:off x="8597900" y="1371600"/>
            <a:ext cx="571500" cy="406400"/>
          </a:xfrm>
          <a:prstGeom prst="roundRect">
            <a:avLst>
              <a:gd name="adj" fmla="val 15000"/>
            </a:avLst>
          </a:prstGeom>
          <a:solidFill>
            <a:srgbClr val="E8EAED"/>
          </a:solidFill>
          <a:ln>
            <a:noFill/>
          </a:ln>
        </p:spPr>
        <p:txBody>
          <a:bodyPr lIns="0" tIns="0" rIns="0" bIns="0" anchor="ctr"/>
          <a:lstStyle/>
          <a:p>
            <a:pPr algn="ctr">
              <a:buNone/>
            </a:pPr>
            <a:r>
              <a:rPr lang="en-US" sz="1400" b="1" dirty="0">
                <a:solidFill>
                  <a:srgbClr val="6B7280"/>
                </a:solidFill>
                <a:latin typeface="Consolas"/>
              </a:rPr>
              <a:t>0</a:t>
            </a:r>
          </a:p>
        </p:txBody>
      </p:sp>
      <p:sp>
        <p:nvSpPr>
          <p:cNvPr id="224" name="B04"/>
          <p:cNvSpPr/>
          <p:nvPr/>
        </p:nvSpPr>
        <p:spPr>
          <a:xfrm>
            <a:off x="9220200" y="1371600"/>
            <a:ext cx="571500" cy="406400"/>
          </a:xfrm>
          <a:prstGeom prst="roundRect">
            <a:avLst>
              <a:gd name="adj" fmla="val 15000"/>
            </a:avLst>
          </a:prstGeom>
          <a:solidFill>
            <a:srgbClr val="E8EAED"/>
          </a:solidFill>
          <a:ln>
            <a:noFill/>
          </a:ln>
        </p:spPr>
        <p:txBody>
          <a:bodyPr lIns="0" tIns="0" rIns="0" bIns="0" anchor="ctr"/>
          <a:lstStyle/>
          <a:p>
            <a:pPr algn="ctr">
              <a:buNone/>
            </a:pPr>
            <a:r>
              <a:rPr lang="en-US" sz="1400" b="1" dirty="0">
                <a:solidFill>
                  <a:srgbClr val="6B7280"/>
                </a:solidFill>
                <a:latin typeface="Consolas"/>
              </a:rPr>
              <a:t>0</a:t>
            </a:r>
          </a:p>
        </p:txBody>
      </p:sp>
      <p:sp>
        <p:nvSpPr>
          <p:cNvPr id="225" name="B05"/>
          <p:cNvSpPr/>
          <p:nvPr/>
        </p:nvSpPr>
        <p:spPr>
          <a:xfrm>
            <a:off x="9842500" y="1371600"/>
            <a:ext cx="571500" cy="406400"/>
          </a:xfrm>
          <a:prstGeom prst="roundRect">
            <a:avLst>
              <a:gd name="adj" fmla="val 15000"/>
            </a:avLst>
          </a:prstGeom>
          <a:solidFill>
            <a:srgbClr val="E8EAED"/>
          </a:solidFill>
          <a:ln>
            <a:noFill/>
          </a:ln>
        </p:spPr>
        <p:txBody>
          <a:bodyPr lIns="0" tIns="0" rIns="0" bIns="0" anchor="ctr"/>
          <a:lstStyle/>
          <a:p>
            <a:pPr algn="ctr">
              <a:buNone/>
            </a:pPr>
            <a:r>
              <a:rPr lang="en-US" sz="1400" b="1" dirty="0">
                <a:solidFill>
                  <a:srgbClr val="6B7280"/>
                </a:solidFill>
                <a:latin typeface="Consolas"/>
              </a:rPr>
              <a:t>0</a:t>
            </a:r>
          </a:p>
        </p:txBody>
      </p:sp>
      <p:sp>
        <p:nvSpPr>
          <p:cNvPr id="226" name="B06"/>
          <p:cNvSpPr/>
          <p:nvPr/>
        </p:nvSpPr>
        <p:spPr>
          <a:xfrm>
            <a:off x="10464800" y="1371600"/>
            <a:ext cx="571500" cy="406400"/>
          </a:xfrm>
          <a:prstGeom prst="roundRect">
            <a:avLst>
              <a:gd name="adj" fmla="val 15000"/>
            </a:avLst>
          </a:prstGeom>
          <a:solidFill>
            <a:srgbClr val="E8EAED"/>
          </a:solidFill>
          <a:ln>
            <a:noFill/>
          </a:ln>
        </p:spPr>
        <p:txBody>
          <a:bodyPr lIns="0" tIns="0" rIns="0" bIns="0" anchor="ctr"/>
          <a:lstStyle/>
          <a:p>
            <a:pPr algn="ctr">
              <a:buNone/>
            </a:pPr>
            <a:r>
              <a:rPr lang="en-US" sz="1400" b="1" dirty="0">
                <a:solidFill>
                  <a:srgbClr val="6B7280"/>
                </a:solidFill>
                <a:latin typeface="Consolas"/>
              </a:rPr>
              <a:t>0</a:t>
            </a:r>
          </a:p>
        </p:txBody>
      </p:sp>
      <p:sp>
        <p:nvSpPr>
          <p:cNvPr id="227" name="B07"/>
          <p:cNvSpPr/>
          <p:nvPr/>
        </p:nvSpPr>
        <p:spPr>
          <a:xfrm>
            <a:off x="11087100" y="1371600"/>
            <a:ext cx="571500" cy="406400"/>
          </a:xfrm>
          <a:prstGeom prst="roundRect">
            <a:avLst>
              <a:gd name="adj" fmla="val 15000"/>
            </a:avLst>
          </a:prstGeom>
          <a:solidFill>
            <a:srgbClr val="E8EAED"/>
          </a:solidFill>
          <a:ln>
            <a:noFill/>
          </a:ln>
        </p:spPr>
        <p:txBody>
          <a:bodyPr lIns="0" tIns="0" rIns="0" bIns="0" anchor="ctr"/>
          <a:lstStyle/>
          <a:p>
            <a:pPr algn="ctr">
              <a:buNone/>
            </a:pPr>
            <a:r>
              <a:rPr lang="en-US" sz="1400" b="1" dirty="0">
                <a:solidFill>
                  <a:srgbClr val="6B7280"/>
                </a:solidFill>
                <a:latin typeface="Consolas"/>
              </a:rPr>
              <a:t>0</a:t>
            </a:r>
          </a:p>
        </p:txBody>
      </p:sp>
      <p:sp>
        <p:nvSpPr>
          <p:cNvPr id="211" name="RL1"/>
          <p:cNvSpPr/>
          <p:nvPr/>
        </p:nvSpPr>
        <p:spPr>
          <a:xfrm>
            <a:off x="5969000" y="1879600"/>
            <a:ext cx="1016000" cy="406400"/>
          </a:xfrm>
          <a:prstGeom prst="roundRect">
            <a:avLst>
              <a:gd name="adj" fmla="val 15000"/>
            </a:avLst>
          </a:prstGeom>
          <a:solidFill>
            <a:srgbClr val="FFF3E0"/>
          </a:solidFill>
          <a:ln>
            <a:noFill/>
          </a:ln>
        </p:spPr>
        <p:txBody>
          <a:bodyPr lIns="36000" tIns="0" rIns="36000" bIns="0" anchor="ctr"/>
          <a:lstStyle/>
          <a:p>
            <a:pPr algn="ctr">
              <a:buNone/>
            </a:pPr>
            <a:r>
              <a:rPr lang="en-US" sz="1000" b="1" dirty="0">
                <a:solidFill>
                  <a:srgbClr val="E65100"/>
                </a:solidFill>
                <a:latin typeface="Segoe UI"/>
              </a:rPr>
              <a:t>OR |</a:t>
            </a:r>
          </a:p>
        </p:txBody>
      </p:sp>
      <p:sp>
        <p:nvSpPr>
          <p:cNvPr id="230" name="B10"/>
          <p:cNvSpPr/>
          <p:nvPr/>
        </p:nvSpPr>
        <p:spPr>
          <a:xfrm>
            <a:off x="6731000" y="1879600"/>
            <a:ext cx="571500" cy="406400"/>
          </a:xfrm>
          <a:prstGeom prst="roundRect">
            <a:avLst>
              <a:gd name="adj" fmla="val 15000"/>
            </a:avLst>
          </a:prstGeom>
          <a:solidFill>
            <a:srgbClr val="FFF3E0"/>
          </a:solidFill>
          <a:ln>
            <a:noFill/>
          </a:ln>
        </p:spPr>
        <p:txBody>
          <a:bodyPr lIns="0" tIns="0" rIns="0" bIns="0" anchor="ctr"/>
          <a:lstStyle/>
          <a:p>
            <a:pPr algn="ctr">
              <a:buNone/>
            </a:pPr>
            <a:r>
              <a:rPr lang="en-US" sz="1400" b="1" dirty="0">
                <a:solidFill>
                  <a:srgbClr val="E65100"/>
                </a:solidFill>
                <a:latin typeface="Consolas"/>
              </a:rPr>
              <a:t>1</a:t>
            </a:r>
          </a:p>
        </p:txBody>
      </p:sp>
      <p:sp>
        <p:nvSpPr>
          <p:cNvPr id="231" name="B11"/>
          <p:cNvSpPr/>
          <p:nvPr/>
        </p:nvSpPr>
        <p:spPr>
          <a:xfrm>
            <a:off x="7353300" y="1879600"/>
            <a:ext cx="571500" cy="406400"/>
          </a:xfrm>
          <a:prstGeom prst="roundRect">
            <a:avLst>
              <a:gd name="adj" fmla="val 15000"/>
            </a:avLst>
          </a:prstGeom>
          <a:solidFill>
            <a:srgbClr val="FFF3E0"/>
          </a:solidFill>
          <a:ln>
            <a:noFill/>
          </a:ln>
        </p:spPr>
        <p:txBody>
          <a:bodyPr lIns="0" tIns="0" rIns="0" bIns="0" anchor="ctr"/>
          <a:lstStyle/>
          <a:p>
            <a:pPr algn="ctr">
              <a:buNone/>
            </a:pPr>
            <a:r>
              <a:rPr lang="en-US" sz="1400" b="1" dirty="0">
                <a:solidFill>
                  <a:srgbClr val="E65100"/>
                </a:solidFill>
                <a:latin typeface="Consolas"/>
              </a:rPr>
              <a:t>0</a:t>
            </a:r>
          </a:p>
        </p:txBody>
      </p:sp>
      <p:sp>
        <p:nvSpPr>
          <p:cNvPr id="232" name="B12"/>
          <p:cNvSpPr/>
          <p:nvPr/>
        </p:nvSpPr>
        <p:spPr>
          <a:xfrm>
            <a:off x="7975600" y="1879600"/>
            <a:ext cx="571500" cy="406400"/>
          </a:xfrm>
          <a:prstGeom prst="roundRect">
            <a:avLst>
              <a:gd name="adj" fmla="val 15000"/>
            </a:avLst>
          </a:prstGeom>
          <a:solidFill>
            <a:srgbClr val="FFF3E0"/>
          </a:solidFill>
          <a:ln>
            <a:noFill/>
          </a:ln>
        </p:spPr>
        <p:txBody>
          <a:bodyPr lIns="0" tIns="0" rIns="0" bIns="0" anchor="ctr"/>
          <a:lstStyle/>
          <a:p>
            <a:pPr algn="ctr">
              <a:buNone/>
            </a:pPr>
            <a:r>
              <a:rPr lang="en-US" sz="1400" b="1" dirty="0">
                <a:solidFill>
                  <a:srgbClr val="E65100"/>
                </a:solidFill>
                <a:latin typeface="Consolas"/>
              </a:rPr>
              <a:t>0</a:t>
            </a:r>
          </a:p>
        </p:txBody>
      </p:sp>
      <p:sp>
        <p:nvSpPr>
          <p:cNvPr id="233" name="B13"/>
          <p:cNvSpPr/>
          <p:nvPr/>
        </p:nvSpPr>
        <p:spPr>
          <a:xfrm>
            <a:off x="8597900" y="1879600"/>
            <a:ext cx="571500" cy="406400"/>
          </a:xfrm>
          <a:prstGeom prst="roundRect">
            <a:avLst>
              <a:gd name="adj" fmla="val 15000"/>
            </a:avLst>
          </a:prstGeom>
          <a:solidFill>
            <a:srgbClr val="FFF3E0"/>
          </a:solidFill>
          <a:ln>
            <a:noFill/>
          </a:ln>
        </p:spPr>
        <p:txBody>
          <a:bodyPr lIns="0" tIns="0" rIns="0" bIns="0" anchor="ctr"/>
          <a:lstStyle/>
          <a:p>
            <a:pPr algn="ctr">
              <a:buNone/>
            </a:pPr>
            <a:r>
              <a:rPr lang="en-US" sz="1400" b="1" dirty="0">
                <a:solidFill>
                  <a:srgbClr val="E65100"/>
                </a:solidFill>
                <a:latin typeface="Consolas"/>
              </a:rPr>
              <a:t>0</a:t>
            </a:r>
          </a:p>
        </p:txBody>
      </p:sp>
      <p:sp>
        <p:nvSpPr>
          <p:cNvPr id="234" name="B14"/>
          <p:cNvSpPr/>
          <p:nvPr/>
        </p:nvSpPr>
        <p:spPr>
          <a:xfrm>
            <a:off x="9220200" y="1879600"/>
            <a:ext cx="571500" cy="406400"/>
          </a:xfrm>
          <a:prstGeom prst="roundRect">
            <a:avLst>
              <a:gd name="adj" fmla="val 15000"/>
            </a:avLst>
          </a:prstGeom>
          <a:solidFill>
            <a:srgbClr val="FFF3E0"/>
          </a:solidFill>
          <a:ln>
            <a:noFill/>
          </a:ln>
        </p:spPr>
        <p:txBody>
          <a:bodyPr lIns="0" tIns="0" rIns="0" bIns="0" anchor="ctr"/>
          <a:lstStyle/>
          <a:p>
            <a:pPr algn="ctr">
              <a:buNone/>
            </a:pPr>
            <a:r>
              <a:rPr lang="en-US" sz="1400" b="1" dirty="0">
                <a:solidFill>
                  <a:srgbClr val="E65100"/>
                </a:solidFill>
                <a:latin typeface="Consolas"/>
              </a:rPr>
              <a:t>0</a:t>
            </a:r>
          </a:p>
        </p:txBody>
      </p:sp>
      <p:sp>
        <p:nvSpPr>
          <p:cNvPr id="235" name="B15"/>
          <p:cNvSpPr/>
          <p:nvPr/>
        </p:nvSpPr>
        <p:spPr>
          <a:xfrm>
            <a:off x="9842500" y="1879600"/>
            <a:ext cx="571500" cy="406400"/>
          </a:xfrm>
          <a:prstGeom prst="roundRect">
            <a:avLst>
              <a:gd name="adj" fmla="val 15000"/>
            </a:avLst>
          </a:prstGeom>
          <a:solidFill>
            <a:srgbClr val="FFF3E0"/>
          </a:solidFill>
          <a:ln>
            <a:noFill/>
          </a:ln>
        </p:spPr>
        <p:txBody>
          <a:bodyPr lIns="0" tIns="0" rIns="0" bIns="0" anchor="ctr"/>
          <a:lstStyle/>
          <a:p>
            <a:pPr algn="ctr">
              <a:buNone/>
            </a:pPr>
            <a:r>
              <a:rPr lang="en-US" sz="1400" b="1" dirty="0">
                <a:solidFill>
                  <a:srgbClr val="E65100"/>
                </a:solidFill>
                <a:latin typeface="Consolas"/>
              </a:rPr>
              <a:t>0</a:t>
            </a:r>
          </a:p>
        </p:txBody>
      </p:sp>
      <p:sp>
        <p:nvSpPr>
          <p:cNvPr id="236" name="B16"/>
          <p:cNvSpPr/>
          <p:nvPr/>
        </p:nvSpPr>
        <p:spPr>
          <a:xfrm>
            <a:off x="10464800" y="1879600"/>
            <a:ext cx="571500" cy="406400"/>
          </a:xfrm>
          <a:prstGeom prst="roundRect">
            <a:avLst>
              <a:gd name="adj" fmla="val 15000"/>
            </a:avLst>
          </a:prstGeom>
          <a:solidFill>
            <a:srgbClr val="FFF3E0"/>
          </a:solidFill>
          <a:ln>
            <a:noFill/>
          </a:ln>
        </p:spPr>
        <p:txBody>
          <a:bodyPr lIns="0" tIns="0" rIns="0" bIns="0" anchor="ctr"/>
          <a:lstStyle/>
          <a:p>
            <a:pPr algn="ctr">
              <a:buNone/>
            </a:pPr>
            <a:r>
              <a:rPr lang="en-US" sz="1400" b="1" dirty="0">
                <a:solidFill>
                  <a:srgbClr val="E65100"/>
                </a:solidFill>
                <a:latin typeface="Consolas"/>
              </a:rPr>
              <a:t>0</a:t>
            </a:r>
          </a:p>
        </p:txBody>
      </p:sp>
      <p:sp>
        <p:nvSpPr>
          <p:cNvPr id="237" name="B17"/>
          <p:cNvSpPr/>
          <p:nvPr/>
        </p:nvSpPr>
        <p:spPr>
          <a:xfrm>
            <a:off x="11087100" y="1879600"/>
            <a:ext cx="571500" cy="406400"/>
          </a:xfrm>
          <a:prstGeom prst="roundRect">
            <a:avLst>
              <a:gd name="adj" fmla="val 15000"/>
            </a:avLst>
          </a:prstGeom>
          <a:solidFill>
            <a:srgbClr val="FFF3E0"/>
          </a:solidFill>
          <a:ln>
            <a:noFill/>
          </a:ln>
        </p:spPr>
        <p:txBody>
          <a:bodyPr lIns="0" tIns="0" rIns="0" bIns="0" anchor="ctr"/>
          <a:lstStyle/>
          <a:p>
            <a:pPr algn="ctr">
              <a:buNone/>
            </a:pPr>
            <a:r>
              <a:rPr lang="en-US" sz="1400" b="1" dirty="0">
                <a:solidFill>
                  <a:srgbClr val="E65100"/>
                </a:solidFill>
                <a:latin typeface="Consolas"/>
              </a:rPr>
              <a:t>0</a:t>
            </a:r>
          </a:p>
        </p:txBody>
      </p:sp>
      <p:sp>
        <p:nvSpPr>
          <p:cNvPr id="212" name="RL2"/>
          <p:cNvSpPr/>
          <p:nvPr/>
        </p:nvSpPr>
        <p:spPr>
          <a:xfrm>
            <a:off x="5969000" y="2387600"/>
            <a:ext cx="1016000" cy="406400"/>
          </a:xfrm>
          <a:prstGeom prst="roundRect">
            <a:avLst>
              <a:gd name="adj" fmla="val 15000"/>
            </a:avLst>
          </a:prstGeom>
          <a:solidFill>
            <a:srgbClr val="E8F5E9"/>
          </a:solidFill>
          <a:ln>
            <a:noFill/>
          </a:ln>
        </p:spPr>
        <p:txBody>
          <a:bodyPr lIns="36000" tIns="0" rIns="36000" bIns="0" anchor="ctr"/>
          <a:lstStyle/>
          <a:p>
            <a:pPr algn="ctr">
              <a:buNone/>
            </a:pPr>
            <a:r>
              <a:rPr lang="en-US" sz="1000" b="1" dirty="0">
                <a:solidFill>
                  <a:srgbClr val="2D6E4F"/>
                </a:solidFill>
                <a:latin typeface="Segoe UI"/>
              </a:rPr>
              <a:t>AFTER</a:t>
            </a:r>
          </a:p>
        </p:txBody>
      </p:sp>
      <p:sp>
        <p:nvSpPr>
          <p:cNvPr id="240" name="B20"/>
          <p:cNvSpPr/>
          <p:nvPr/>
        </p:nvSpPr>
        <p:spPr>
          <a:xfrm>
            <a:off x="6731000" y="2387600"/>
            <a:ext cx="571500" cy="406400"/>
          </a:xfrm>
          <a:prstGeom prst="roundRect">
            <a:avLst>
              <a:gd name="adj" fmla="val 15000"/>
            </a:avLst>
          </a:prstGeom>
          <a:solidFill>
            <a:srgbClr val="2D6E4F"/>
          </a:solidFill>
          <a:ln>
            <a:noFill/>
          </a:ln>
        </p:spPr>
        <p:txBody>
          <a:bodyPr lIns="0" tIns="0" rIns="0" bIns="0" anchor="ctr"/>
          <a:lstStyle/>
          <a:p>
            <a:pPr algn="ctr">
              <a:buNone/>
            </a:pPr>
            <a:r>
              <a:rPr lang="en-US" sz="1400" b="1" dirty="0">
                <a:solidFill>
                  <a:srgbClr val="FFFFFF"/>
                </a:solidFill>
                <a:latin typeface="Consolas"/>
              </a:rPr>
              <a:t>1</a:t>
            </a:r>
          </a:p>
        </p:txBody>
      </p:sp>
      <p:sp>
        <p:nvSpPr>
          <p:cNvPr id="241" name="B21"/>
          <p:cNvSpPr/>
          <p:nvPr/>
        </p:nvSpPr>
        <p:spPr>
          <a:xfrm>
            <a:off x="7353300" y="2387600"/>
            <a:ext cx="571500" cy="406400"/>
          </a:xfrm>
          <a:prstGeom prst="roundRect">
            <a:avLst>
              <a:gd name="adj" fmla="val 15000"/>
            </a:avLst>
          </a:prstGeom>
          <a:solidFill>
            <a:srgbClr val="E8F5E9"/>
          </a:solidFill>
          <a:ln>
            <a:noFill/>
          </a:ln>
        </p:spPr>
        <p:txBody>
          <a:bodyPr lIns="0" tIns="0" rIns="0" bIns="0" anchor="ctr"/>
          <a:lstStyle/>
          <a:p>
            <a:pPr algn="ctr">
              <a:buNone/>
            </a:pPr>
            <a:r>
              <a:rPr lang="en-US" sz="1400" b="1" dirty="0">
                <a:solidFill>
                  <a:srgbClr val="2D6E4F"/>
                </a:solidFill>
                <a:latin typeface="Consolas"/>
              </a:rPr>
              <a:t>0</a:t>
            </a:r>
          </a:p>
        </p:txBody>
      </p:sp>
      <p:sp>
        <p:nvSpPr>
          <p:cNvPr id="242" name="B22"/>
          <p:cNvSpPr/>
          <p:nvPr/>
        </p:nvSpPr>
        <p:spPr>
          <a:xfrm>
            <a:off x="7975600" y="2387600"/>
            <a:ext cx="571500" cy="406400"/>
          </a:xfrm>
          <a:prstGeom prst="roundRect">
            <a:avLst>
              <a:gd name="adj" fmla="val 15000"/>
            </a:avLst>
          </a:prstGeom>
          <a:solidFill>
            <a:srgbClr val="E8F5E9"/>
          </a:solidFill>
          <a:ln>
            <a:noFill/>
          </a:ln>
        </p:spPr>
        <p:txBody>
          <a:bodyPr lIns="0" tIns="0" rIns="0" bIns="0" anchor="ctr"/>
          <a:lstStyle/>
          <a:p>
            <a:pPr algn="ctr">
              <a:buNone/>
            </a:pPr>
            <a:r>
              <a:rPr lang="en-US" sz="1400" b="1" dirty="0">
                <a:solidFill>
                  <a:srgbClr val="2D6E4F"/>
                </a:solidFill>
                <a:latin typeface="Consolas"/>
              </a:rPr>
              <a:t>0</a:t>
            </a:r>
          </a:p>
        </p:txBody>
      </p:sp>
      <p:sp>
        <p:nvSpPr>
          <p:cNvPr id="243" name="B23"/>
          <p:cNvSpPr/>
          <p:nvPr/>
        </p:nvSpPr>
        <p:spPr>
          <a:xfrm>
            <a:off x="8597900" y="2387600"/>
            <a:ext cx="571500" cy="406400"/>
          </a:xfrm>
          <a:prstGeom prst="roundRect">
            <a:avLst>
              <a:gd name="adj" fmla="val 15000"/>
            </a:avLst>
          </a:prstGeom>
          <a:solidFill>
            <a:srgbClr val="E8F5E9"/>
          </a:solidFill>
          <a:ln>
            <a:noFill/>
          </a:ln>
        </p:spPr>
        <p:txBody>
          <a:bodyPr lIns="0" tIns="0" rIns="0" bIns="0" anchor="ctr"/>
          <a:lstStyle/>
          <a:p>
            <a:pPr algn="ctr">
              <a:buNone/>
            </a:pPr>
            <a:r>
              <a:rPr lang="en-US" sz="1400" b="1" dirty="0">
                <a:solidFill>
                  <a:srgbClr val="2D6E4F"/>
                </a:solidFill>
                <a:latin typeface="Consolas"/>
              </a:rPr>
              <a:t>0</a:t>
            </a:r>
          </a:p>
        </p:txBody>
      </p:sp>
      <p:sp>
        <p:nvSpPr>
          <p:cNvPr id="244" name="B24"/>
          <p:cNvSpPr/>
          <p:nvPr/>
        </p:nvSpPr>
        <p:spPr>
          <a:xfrm>
            <a:off x="9220200" y="2387600"/>
            <a:ext cx="571500" cy="406400"/>
          </a:xfrm>
          <a:prstGeom prst="roundRect">
            <a:avLst>
              <a:gd name="adj" fmla="val 15000"/>
            </a:avLst>
          </a:prstGeom>
          <a:solidFill>
            <a:srgbClr val="E8F5E9"/>
          </a:solidFill>
          <a:ln>
            <a:noFill/>
          </a:ln>
        </p:spPr>
        <p:txBody>
          <a:bodyPr lIns="0" tIns="0" rIns="0" bIns="0" anchor="ctr"/>
          <a:lstStyle/>
          <a:p>
            <a:pPr algn="ctr">
              <a:buNone/>
            </a:pPr>
            <a:r>
              <a:rPr lang="en-US" sz="1400" b="1" dirty="0">
                <a:solidFill>
                  <a:srgbClr val="2D6E4F"/>
                </a:solidFill>
                <a:latin typeface="Consolas"/>
              </a:rPr>
              <a:t>0</a:t>
            </a:r>
          </a:p>
        </p:txBody>
      </p:sp>
      <p:sp>
        <p:nvSpPr>
          <p:cNvPr id="245" name="B25"/>
          <p:cNvSpPr/>
          <p:nvPr/>
        </p:nvSpPr>
        <p:spPr>
          <a:xfrm>
            <a:off x="9842500" y="2387600"/>
            <a:ext cx="571500" cy="406400"/>
          </a:xfrm>
          <a:prstGeom prst="roundRect">
            <a:avLst>
              <a:gd name="adj" fmla="val 15000"/>
            </a:avLst>
          </a:prstGeom>
          <a:solidFill>
            <a:srgbClr val="E8F5E9"/>
          </a:solidFill>
          <a:ln>
            <a:noFill/>
          </a:ln>
        </p:spPr>
        <p:txBody>
          <a:bodyPr lIns="0" tIns="0" rIns="0" bIns="0" anchor="ctr"/>
          <a:lstStyle/>
          <a:p>
            <a:pPr algn="ctr">
              <a:buNone/>
            </a:pPr>
            <a:r>
              <a:rPr lang="en-US" sz="1400" b="1" dirty="0">
                <a:solidFill>
                  <a:srgbClr val="2D6E4F"/>
                </a:solidFill>
                <a:latin typeface="Consolas"/>
              </a:rPr>
              <a:t>0</a:t>
            </a:r>
          </a:p>
        </p:txBody>
      </p:sp>
      <p:sp>
        <p:nvSpPr>
          <p:cNvPr id="246" name="B26"/>
          <p:cNvSpPr/>
          <p:nvPr/>
        </p:nvSpPr>
        <p:spPr>
          <a:xfrm>
            <a:off x="10464800" y="2387600"/>
            <a:ext cx="571500" cy="406400"/>
          </a:xfrm>
          <a:prstGeom prst="roundRect">
            <a:avLst>
              <a:gd name="adj" fmla="val 15000"/>
            </a:avLst>
          </a:prstGeom>
          <a:solidFill>
            <a:srgbClr val="E8F5E9"/>
          </a:solidFill>
          <a:ln>
            <a:noFill/>
          </a:ln>
        </p:spPr>
        <p:txBody>
          <a:bodyPr lIns="0" tIns="0" rIns="0" bIns="0" anchor="ctr"/>
          <a:lstStyle/>
          <a:p>
            <a:pPr algn="ctr">
              <a:buNone/>
            </a:pPr>
            <a:r>
              <a:rPr lang="en-US" sz="1400" b="1" dirty="0">
                <a:solidFill>
                  <a:srgbClr val="2D6E4F"/>
                </a:solidFill>
                <a:latin typeface="Consolas"/>
              </a:rPr>
              <a:t>0</a:t>
            </a:r>
          </a:p>
        </p:txBody>
      </p:sp>
      <p:sp>
        <p:nvSpPr>
          <p:cNvPr id="247" name="B27"/>
          <p:cNvSpPr/>
          <p:nvPr/>
        </p:nvSpPr>
        <p:spPr>
          <a:xfrm>
            <a:off x="11087100" y="2387600"/>
            <a:ext cx="571500" cy="406400"/>
          </a:xfrm>
          <a:prstGeom prst="roundRect">
            <a:avLst>
              <a:gd name="adj" fmla="val 15000"/>
            </a:avLst>
          </a:prstGeom>
          <a:solidFill>
            <a:srgbClr val="E8F5E9"/>
          </a:solidFill>
          <a:ln>
            <a:noFill/>
          </a:ln>
        </p:spPr>
        <p:txBody>
          <a:bodyPr lIns="0" tIns="0" rIns="0" bIns="0" anchor="ctr"/>
          <a:lstStyle/>
          <a:p>
            <a:pPr algn="ctr">
              <a:buNone/>
            </a:pPr>
            <a:r>
              <a:rPr lang="en-US" sz="1400" b="1" dirty="0">
                <a:solidFill>
                  <a:srgbClr val="2D6E4F"/>
                </a:solidFill>
                <a:latin typeface="Consolas"/>
              </a:rPr>
              <a:t>0</a:t>
            </a:r>
          </a:p>
        </p:txBody>
      </p:sp>
      <p:sp>
        <p:nvSpPr>
          <p:cNvPr id="260" name="WB"/>
          <p:cNvSpPr txBox="1"/>
          <p:nvPr/>
        </p:nvSpPr>
        <p:spPr>
          <a:xfrm>
            <a:off x="6667500" y="2895600"/>
            <a:ext cx="1016000" cy="279400"/>
          </a:xfrm>
          <a:prstGeom prst="rect">
            <a:avLst/>
          </a:prstGeom>
          <a:noFill/>
          <a:ln>
            <a:noFill/>
          </a:ln>
        </p:spPr>
        <p:txBody>
          <a:bodyPr anchor="t"/>
          <a:lstStyle/>
          <a:p>
            <a:pPr algn="ctr">
              <a:buNone/>
            </a:pPr>
            <a:r>
              <a:rPr lang="en-US" sz="1000" b="1" dirty="0">
                <a:solidFill>
                  <a:srgbClr val="D46A2E"/>
                </a:solidFill>
                <a:latin typeface="Segoe UI"/>
              </a:rPr>
              <a:t>↑ WRITE BIT</a:t>
            </a:r>
          </a:p>
        </p:txBody>
      </p:sp>
      <p:sp>
        <p:nvSpPr>
          <p:cNvPr id="270" name="CL"/>
          <p:cNvSpPr/>
          <p:nvPr/>
        </p:nvSpPr>
        <p:spPr>
          <a:xfrm>
            <a:off x="381000" y="4191000"/>
            <a:ext cx="2540000" cy="279400"/>
          </a:xfrm>
          <a:prstGeom prst="roundRect">
            <a:avLst>
              <a:gd name="adj" fmla="val 25000"/>
            </a:avLst>
          </a:prstGeom>
          <a:solidFill>
            <a:srgbClr val="D46A2E"/>
          </a:solidFill>
          <a:ln>
            <a:noFill/>
          </a:ln>
        </p:spPr>
        <p:txBody>
          <a:bodyPr lIns="54000" tIns="0" rIns="54000" bIns="0" anchor="ctr"/>
          <a:lstStyle/>
          <a:p>
            <a:pPr algn="ctr">
              <a:buNone/>
            </a:pPr>
            <a:r>
              <a:rPr lang="en-US" sz="1000" b="1" dirty="0">
                <a:solidFill>
                  <a:srgbClr val="FFFFFF"/>
                </a:solidFill>
                <a:latin typeface="Segoe UI"/>
              </a:rPr>
              <a:t>utils.c — Line 82</a:t>
            </a:r>
          </a:p>
        </p:txBody>
      </p:sp>
      <p:sp>
        <p:nvSpPr>
          <p:cNvPr id="271" name="CB"/>
          <p:cNvSpPr/>
          <p:nvPr/>
        </p:nvSpPr>
        <p:spPr>
          <a:xfrm>
            <a:off x="381000" y="4483100"/>
            <a:ext cx="11430000" cy="1778000"/>
          </a:xfrm>
          <a:prstGeom prst="roundRect">
            <a:avLst>
              <a:gd name="adj" fmla="val 3000"/>
            </a:avLst>
          </a:prstGeom>
          <a:solidFill>
            <a:srgbClr val="1E293B"/>
          </a:solidFill>
          <a:ln>
            <a:noFill/>
          </a:ln>
        </p:spPr>
        <p:txBody>
          <a:bodyPr lIns="144000" tIns="72000" rIns="144000" bIns="72000" anchor="t"/>
          <a:lstStyle/>
          <a:p>
            <a:pPr>
              <a:buNone/>
            </a:pPr>
            <a:r>
              <a:rPr lang="en-US" sz="1200" dirty="0">
                <a:solidFill>
                  <a:srgbClr val="94A3B8"/>
                </a:solidFill>
                <a:latin typeface="Consolas"/>
              </a:rPr>
              <a:t>// Set the write bit (bit 7) so MAX31865 knows this is a write command</a:t>
            </a:r>
          </a:p>
          <a:p>
            <a:pPr>
              <a:spcBef>
                <a:spcPts val="400"/>
              </a:spcBef>
              <a:buNone/>
            </a:pPr>
            <a:r>
              <a:rPr lang="en-US" sz="1400" dirty="0">
                <a:solidFill>
                  <a:srgbClr val="7DD3FC"/>
                </a:solidFill>
                <a:latin typeface="Consolas"/>
              </a:rPr>
              <a:t>mreg</a:t>
            </a:r>
            <a:r>
              <a:rPr lang="en-US" sz="1400" dirty="0">
                <a:solidFill>
                  <a:srgbClr val="E2E8F0"/>
                </a:solidFill>
                <a:latin typeface="Consolas"/>
              </a:rPr>
              <a:t> |= </a:t>
            </a:r>
            <a:r>
              <a:rPr lang="en-US" sz="1400" dirty="0">
                <a:solidFill>
                  <a:srgbClr val="FCD34D"/>
                </a:solidFill>
                <a:latin typeface="Consolas"/>
              </a:rPr>
              <a:t>0x080</a:t>
            </a:r>
            <a:r>
              <a:rPr lang="en-US" sz="1400" dirty="0">
                <a:solidFill>
                  <a:srgbClr val="E2E8F0"/>
                </a:solidFill>
                <a:latin typeface="Consolas"/>
              </a:rPr>
              <a:t>;</a:t>
            </a:r>
          </a:p>
          <a:p>
            <a:pPr>
              <a:spcBef>
                <a:spcPts val="400"/>
              </a:spcBef>
              <a:buNone/>
            </a:pPr>
            <a:r>
              <a:rPr lang="en-US" sz="1200" dirty="0">
                <a:solidFill>
                  <a:srgbClr val="94A3B8"/>
                </a:solidFill>
                <a:latin typeface="Consolas"/>
              </a:rPr>
              <a:t>// Without this: MAX31865 would treat it as READ — WRONG!</a:t>
            </a:r>
          </a:p>
          <a:p>
            <a:pPr>
              <a:spcBef>
                <a:spcPts val="200"/>
              </a:spcBef>
              <a:buNone/>
            </a:pPr>
            <a:r>
              <a:rPr lang="en-US" sz="1200" dirty="0">
                <a:solidFill>
                  <a:srgbClr val="94A3B8"/>
                </a:solidFill>
                <a:latin typeface="Consolas"/>
              </a:rPr>
              <a:t>// mreg starts as 0x00 → 0x00 | 0x80 = 0x80</a:t>
            </a:r>
          </a:p>
        </p:txBody>
      </p:sp>
      <p:cxnSp>
        <p:nvCxnSpPr>
          <p:cNvPr id="290" name="BL1"/>
          <p:cNvCxnSpPr/>
          <p:nvPr/>
        </p:nvCxnSpPr>
        <p:spPr>
          <a:xfrm>
            <a:off x="0" y="6578600"/>
            <a:ext cx="12192000" cy="0"/>
          </a:xfrm>
          <a:prstGeom prst="line">
            <a:avLst/>
          </a:prstGeom>
          <a:ln w="25400">
            <a:solidFill>
              <a:srgbClr val="D46A2E"/>
            </a:solidFill>
          </a:ln>
        </p:spPr>
      </p:cxnSp>
      <p:cxnSp>
        <p:nvCxnSpPr>
          <p:cNvPr id="291" name="BL2"/>
          <p:cNvCxnSpPr/>
          <p:nvPr/>
        </p:nvCxnSpPr>
        <p:spPr>
          <a:xfrm>
            <a:off x="0" y="6667500"/>
            <a:ext cx="12192000" cy="0"/>
          </a:xfrm>
          <a:prstGeom prst="line">
            <a:avLst/>
          </a:prstGeom>
          <a:ln w="38100">
            <a:solidFill>
              <a:srgbClr val="1B2A4A"/>
            </a:solidFill>
          </a:ln>
        </p:spPr>
      </p:cxnSp>
    </p:spTree>
    <p:extLst>
      <p:ext uri="{BB962C8B-B14F-4D97-AF65-F5344CB8AC3E}">
        <p14:creationId xmlns:p14="http://schemas.microsoft.com/office/powerpoint/2010/main" val="9091706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H"/>
          <p:cNvSpPr/>
          <p:nvPr/>
        </p:nvSpPr>
        <p:spPr>
          <a:xfrm>
            <a:off x="0" y="0"/>
            <a:ext cx="12192000" cy="660400"/>
          </a:xfrm>
          <a:prstGeom prst="rect">
            <a:avLst/>
          </a:prstGeom>
          <a:solidFill>
            <a:srgbClr val="1B7A8A"/>
          </a:solidFill>
          <a:ln>
            <a:noFill/>
          </a:ln>
        </p:spPr>
        <p:txBody>
          <a:bodyPr lIns="216000" anchor="ctr"/>
          <a:lstStyle/>
          <a:p>
            <a:pPr>
              <a:buNone/>
            </a:pPr>
            <a:r>
              <a:rPr lang="en-US" sz="1800" b="1" dirty="0">
                <a:solidFill>
                  <a:srgbClr val="FFFFFF"/>
                </a:solidFill>
                <a:latin typeface="Segoe UI"/>
              </a:rPr>
              <a:t>Step 2 of 5 — Build the 16-bit SPI Frame</a:t>
            </a:r>
          </a:p>
        </p:txBody>
      </p:sp>
      <p:cxnSp>
        <p:nvCxnSpPr>
          <p:cNvPr id="101" name="AL"/>
          <p:cNvCxnSpPr/>
          <p:nvPr/>
        </p:nvCxnSpPr>
        <p:spPr>
          <a:xfrm>
            <a:off x="0" y="660400"/>
            <a:ext cx="12192000" cy="0"/>
          </a:xfrm>
          <a:prstGeom prst="line">
            <a:avLst/>
          </a:prstGeom>
          <a:ln w="25400">
            <a:solidFill>
              <a:srgbClr val="D46A2E"/>
            </a:solidFill>
          </a:ln>
        </p:spPr>
      </p:cxnSp>
      <p:sp>
        <p:nvSpPr>
          <p:cNvPr id="110" name="S2"/>
          <p:cNvSpPr/>
          <p:nvPr/>
        </p:nvSpPr>
        <p:spPr>
          <a:xfrm>
            <a:off x="381000" y="914400"/>
            <a:ext cx="4826000" cy="533400"/>
          </a:xfrm>
          <a:prstGeom prst="roundRect">
            <a:avLst>
              <a:gd name="adj" fmla="val 10000"/>
            </a:avLst>
          </a:prstGeom>
          <a:solidFill>
            <a:srgbClr val="1B2A4A"/>
          </a:solidFill>
          <a:ln>
            <a:noFill/>
          </a:ln>
        </p:spPr>
        <p:txBody>
          <a:bodyPr lIns="72000" anchor="ctr"/>
          <a:lstStyle/>
          <a:p>
            <a:pPr algn="ctr">
              <a:buNone/>
            </a:pPr>
            <a:r>
              <a:rPr lang="en-US" sz="1400" b="1" dirty="0">
                <a:solidFill>
                  <a:srgbClr val="FFFFFF"/>
                </a:solidFill>
                <a:latin typeface="Segoe UI"/>
              </a:rPr>
              <a:t>STEP 2: Build SPI Frame</a:t>
            </a:r>
          </a:p>
        </p:txBody>
      </p:sp>
      <p:sp>
        <p:nvSpPr>
          <p:cNvPr id="111" name="PA"/>
          <p:cNvSpPr/>
          <p:nvPr/>
        </p:nvSpPr>
        <p:spPr>
          <a:xfrm>
            <a:off x="381000" y="1587500"/>
            <a:ext cx="4826000" cy="698500"/>
          </a:xfrm>
          <a:prstGeom prst="roundRect">
            <a:avLst>
              <a:gd name="adj" fmla="val 8000"/>
            </a:avLst>
          </a:prstGeom>
          <a:solidFill>
            <a:srgbClr val="EFF6FF"/>
          </a:solidFill>
          <a:ln w="12700">
            <a:solidFill>
              <a:srgbClr val="1B7A8A"/>
            </a:solidFill>
          </a:ln>
        </p:spPr>
        <p:txBody>
          <a:bodyPr lIns="72000" tIns="36000" rIns="72000" bIns="36000" anchor="ctr"/>
          <a:lstStyle/>
          <a:p>
            <a:pPr algn="ctr">
              <a:buNone/>
            </a:pPr>
            <a:r>
              <a:rPr lang="en-US" sz="1200" b="1" dirty="0">
                <a:solidFill>
                  <a:srgbClr val="1B7A8A"/>
                </a:solidFill>
                <a:latin typeface="Segoe UI"/>
              </a:rPr>
              <a:t>Part A: Shift address left 8 bits</a:t>
            </a:r>
          </a:p>
          <a:p>
            <a:pPr algn="ctr">
              <a:buNone/>
            </a:pPr>
            <a:r>
              <a:rPr lang="en-US" sz="1400" b="1" dirty="0">
                <a:solidFill>
                  <a:srgbClr val="1B2A4A"/>
                </a:solidFill>
                <a:latin typeface="Consolas"/>
              </a:rPr>
              <a:t>mreg &lt;&lt; 8  →  0x8000</a:t>
            </a:r>
          </a:p>
        </p:txBody>
      </p:sp>
      <p:cxnSp>
        <p:nvCxnSpPr>
          <p:cNvPr id="112" name="A1"/>
          <p:cNvCxnSpPr/>
          <p:nvPr/>
        </p:nvCxnSpPr>
        <p:spPr>
          <a:xfrm>
            <a:off x="2794000" y="1447800"/>
            <a:ext cx="0" cy="139700"/>
          </a:xfrm>
          <a:prstGeom prst="line">
            <a:avLst/>
          </a:prstGeom>
          <a:ln w="19050">
            <a:solidFill>
              <a:srgbClr val="D46A2E"/>
            </a:solidFill>
            <a:tailEnd type="triangle" w="med" len="med"/>
          </a:ln>
        </p:spPr>
      </p:cxnSp>
      <p:sp>
        <p:nvSpPr>
          <p:cNvPr id="113" name="PB"/>
          <p:cNvSpPr/>
          <p:nvPr/>
        </p:nvSpPr>
        <p:spPr>
          <a:xfrm>
            <a:off x="381000" y="2476500"/>
            <a:ext cx="4826000" cy="698500"/>
          </a:xfrm>
          <a:prstGeom prst="roundRect">
            <a:avLst>
              <a:gd name="adj" fmla="val 8000"/>
            </a:avLst>
          </a:prstGeom>
          <a:solidFill>
            <a:srgbClr val="FFF3E0"/>
          </a:solidFill>
          <a:ln w="12700">
            <a:solidFill>
              <a:srgbClr val="D46A2E"/>
            </a:solidFill>
          </a:ln>
        </p:spPr>
        <p:txBody>
          <a:bodyPr lIns="72000" tIns="36000" rIns="72000" bIns="36000" anchor="ctr"/>
          <a:lstStyle/>
          <a:p>
            <a:pPr algn="ctr">
              <a:buNone/>
            </a:pPr>
            <a:r>
              <a:rPr lang="en-US" sz="1200" b="1" dirty="0">
                <a:solidFill>
                  <a:srgbClr val="D46A2E"/>
                </a:solidFill>
                <a:latin typeface="Segoe UI"/>
              </a:rPr>
              <a:t>Part B: OR with masked data</a:t>
            </a:r>
          </a:p>
          <a:p>
            <a:pPr algn="ctr">
              <a:buNone/>
            </a:pPr>
            <a:r>
              <a:rPr lang="en-US" sz="1400" b="1" dirty="0">
                <a:solidFill>
                  <a:srgbClr val="1B2A4A"/>
                </a:solidFill>
                <a:latin typeface="Consolas"/>
              </a:rPr>
              <a:t>0x8000 | (0xA1 &amp; 0xFF) = 0x80A1</a:t>
            </a:r>
          </a:p>
        </p:txBody>
      </p:sp>
      <p:cxnSp>
        <p:nvCxnSpPr>
          <p:cNvPr id="114" name="A2"/>
          <p:cNvCxnSpPr/>
          <p:nvPr/>
        </p:nvCxnSpPr>
        <p:spPr>
          <a:xfrm>
            <a:off x="2794000" y="2286000"/>
            <a:ext cx="0" cy="190500"/>
          </a:xfrm>
          <a:prstGeom prst="line">
            <a:avLst/>
          </a:prstGeom>
          <a:ln w="19050">
            <a:solidFill>
              <a:srgbClr val="D46A2E"/>
            </a:solidFill>
            <a:tailEnd type="triangle" w="med" len="med"/>
          </a:ln>
        </p:spPr>
      </p:cxnSp>
      <p:sp>
        <p:nvSpPr>
          <p:cNvPr id="115" name="Res"/>
          <p:cNvSpPr/>
          <p:nvPr/>
        </p:nvSpPr>
        <p:spPr>
          <a:xfrm>
            <a:off x="381000" y="3365500"/>
            <a:ext cx="4826000" cy="571500"/>
          </a:xfrm>
          <a:prstGeom prst="roundRect">
            <a:avLst>
              <a:gd name="adj" fmla="val 10000"/>
            </a:avLst>
          </a:prstGeom>
          <a:solidFill>
            <a:srgbClr val="F0FDF4"/>
          </a:solidFill>
          <a:ln w="12700">
            <a:solidFill>
              <a:srgbClr val="2D6E4F"/>
            </a:solidFill>
          </a:ln>
        </p:spPr>
        <p:txBody>
          <a:bodyPr lIns="72000" anchor="ctr"/>
          <a:lstStyle/>
          <a:p>
            <a:pPr algn="ctr">
              <a:buNone/>
            </a:pPr>
            <a:r>
              <a:rPr lang="en-US" sz="1600" b="1" dirty="0">
                <a:solidFill>
                  <a:srgbClr val="2D6E4F"/>
                </a:solidFill>
                <a:latin typeface="Consolas"/>
              </a:rPr>
              <a:t>transm_data = 0x80A1</a:t>
            </a:r>
          </a:p>
        </p:txBody>
      </p:sp>
      <p:cxnSp>
        <p:nvCxnSpPr>
          <p:cNvPr id="116" name="A3"/>
          <p:cNvCxnSpPr/>
          <p:nvPr/>
        </p:nvCxnSpPr>
        <p:spPr>
          <a:xfrm>
            <a:off x="2794000" y="3175000"/>
            <a:ext cx="0" cy="190500"/>
          </a:xfrm>
          <a:prstGeom prst="line">
            <a:avLst/>
          </a:prstGeom>
          <a:ln w="19050">
            <a:solidFill>
              <a:srgbClr val="D46A2E"/>
            </a:solidFill>
            <a:tailEnd type="triangle" w="med" len="med"/>
          </a:ln>
        </p:spPr>
      </p:cxnSp>
      <p:sp>
        <p:nvSpPr>
          <p:cNvPr id="200" name="BT"/>
          <p:cNvSpPr txBox="1"/>
          <p:nvPr/>
        </p:nvSpPr>
        <p:spPr>
          <a:xfrm>
            <a:off x="5715000" y="863600"/>
            <a:ext cx="6223000" cy="381000"/>
          </a:xfrm>
          <a:prstGeom prst="rect">
            <a:avLst/>
          </a:prstGeom>
          <a:noFill/>
          <a:ln>
            <a:noFill/>
          </a:ln>
        </p:spPr>
        <p:txBody>
          <a:bodyPr anchor="ctr"/>
          <a:lstStyle/>
          <a:p>
            <a:pPr>
              <a:buNone/>
            </a:pPr>
            <a:r>
              <a:rPr lang="en-US" sz="1600" b="1" dirty="0">
                <a:solidFill>
                  <a:srgbClr val="1B2A4A"/>
                </a:solidFill>
                <a:latin typeface="Segoe UI"/>
              </a:rPr>
              <a:t>16-bit SPI Frame Layout</a:t>
            </a:r>
          </a:p>
        </p:txBody>
      </p:sp>
      <p:sp>
        <p:nvSpPr>
          <p:cNvPr id="201" name="UB"/>
          <p:cNvSpPr/>
          <p:nvPr/>
        </p:nvSpPr>
        <p:spPr>
          <a:xfrm>
            <a:off x="5715000" y="1333500"/>
            <a:ext cx="2921000" cy="444500"/>
          </a:xfrm>
          <a:prstGeom prst="roundRect">
            <a:avLst>
              <a:gd name="adj" fmla="val 15000"/>
            </a:avLst>
          </a:prstGeom>
          <a:solidFill>
            <a:srgbClr val="2B5EA7"/>
          </a:solidFill>
          <a:ln>
            <a:noFill/>
          </a:ln>
        </p:spPr>
        <p:txBody>
          <a:bodyPr lIns="36000" tIns="0" rIns="36000" bIns="0" anchor="ctr"/>
          <a:lstStyle/>
          <a:p>
            <a:pPr algn="ctr">
              <a:buNone/>
            </a:pPr>
            <a:r>
              <a:rPr lang="en-US" sz="1400" b="1" dirty="0">
                <a:solidFill>
                  <a:srgbClr val="FFFFFF"/>
                </a:solidFill>
                <a:latin typeface="Segoe UI"/>
              </a:rPr>
              <a:t>Upper: 0x80</a:t>
            </a:r>
          </a:p>
          <a:p>
            <a:pPr algn="ctr">
              <a:buNone/>
            </a:pPr>
            <a:r>
              <a:rPr lang="en-US" sz="1000" dirty="0">
                <a:solidFill>
                  <a:srgbClr val="FFFFFF">
                    <a:alpha val="75000"/>
                  </a:srgbClr>
                </a:solidFill>
                <a:latin typeface="Segoe UI"/>
              </a:rPr>
              <a:t>Write address</a:t>
            </a:r>
          </a:p>
        </p:txBody>
      </p:sp>
      <p:sp>
        <p:nvSpPr>
          <p:cNvPr id="202" name="LB"/>
          <p:cNvSpPr/>
          <p:nvPr/>
        </p:nvSpPr>
        <p:spPr>
          <a:xfrm>
            <a:off x="8826500" y="1333500"/>
            <a:ext cx="2921000" cy="444500"/>
          </a:xfrm>
          <a:prstGeom prst="roundRect">
            <a:avLst>
              <a:gd name="adj" fmla="val 15000"/>
            </a:avLst>
          </a:prstGeom>
          <a:solidFill>
            <a:srgbClr val="2D6E4F"/>
          </a:solidFill>
          <a:ln>
            <a:noFill/>
          </a:ln>
        </p:spPr>
        <p:txBody>
          <a:bodyPr lIns="36000" tIns="0" rIns="36000" bIns="0" anchor="ctr"/>
          <a:lstStyle/>
          <a:p>
            <a:pPr algn="ctr">
              <a:buNone/>
            </a:pPr>
            <a:r>
              <a:rPr lang="en-US" sz="1400" b="1" dirty="0">
                <a:solidFill>
                  <a:srgbClr val="FFFFFF"/>
                </a:solidFill>
                <a:latin typeface="Segoe UI"/>
              </a:rPr>
              <a:t>Lower: 0xA1</a:t>
            </a:r>
          </a:p>
          <a:p>
            <a:pPr algn="ctr">
              <a:buNone/>
            </a:pPr>
            <a:r>
              <a:rPr lang="en-US" sz="1000" dirty="0">
                <a:solidFill>
                  <a:srgbClr val="FFFFFF">
                    <a:alpha val="75000"/>
                  </a:srgbClr>
                </a:solidFill>
                <a:latin typeface="Segoe UI"/>
              </a:rPr>
              <a:t>Data (VBIAS+1SHOT+50Hz)</a:t>
            </a:r>
          </a:p>
        </p:txBody>
      </p:sp>
      <p:sp>
        <p:nvSpPr>
          <p:cNvPr id="203" name="Comb"/>
          <p:cNvSpPr/>
          <p:nvPr/>
        </p:nvSpPr>
        <p:spPr>
          <a:xfrm>
            <a:off x="5715000" y="1968500"/>
            <a:ext cx="6032500" cy="533400"/>
          </a:xfrm>
          <a:prstGeom prst="roundRect">
            <a:avLst>
              <a:gd name="adj" fmla="val 10000"/>
            </a:avLst>
          </a:prstGeom>
          <a:solidFill>
            <a:srgbClr val="F8FAFC"/>
          </a:solidFill>
          <a:ln w="19050">
            <a:solidFill>
              <a:srgbClr val="1B2A4A"/>
            </a:solidFill>
          </a:ln>
        </p:spPr>
        <p:txBody>
          <a:bodyPr lIns="72000" anchor="ctr"/>
          <a:lstStyle/>
          <a:p>
            <a:pPr algn="ctr">
              <a:buNone/>
            </a:pPr>
            <a:r>
              <a:rPr lang="en-US" sz="1400" dirty="0">
                <a:solidFill>
                  <a:srgbClr val="6B7280"/>
                </a:solidFill>
                <a:latin typeface="Segoe UI"/>
              </a:rPr>
              <a:t>Combined: </a:t>
            </a:r>
            <a:r>
              <a:rPr lang="en-US" sz="1800" b="1" dirty="0">
                <a:solidFill>
                  <a:srgbClr val="1B2A4A"/>
                </a:solidFill>
                <a:latin typeface="Consolas"/>
              </a:rPr>
              <a:t>0x80A1</a:t>
            </a:r>
            <a:r>
              <a:rPr lang="en-US" sz="1400" dirty="0">
                <a:solidFill>
                  <a:srgbClr val="6B7280"/>
                </a:solidFill>
                <a:latin typeface="Segoe UI"/>
              </a:rPr>
              <a:t>  → This IS the SPI frame</a:t>
            </a:r>
          </a:p>
        </p:txBody>
      </p:sp>
      <p:sp>
        <p:nvSpPr>
          <p:cNvPr id="210" name="Exp"/>
          <p:cNvSpPr txBox="1"/>
          <p:nvPr/>
        </p:nvSpPr>
        <p:spPr>
          <a:xfrm>
            <a:off x="5778500" y="2667000"/>
            <a:ext cx="5969000" cy="1270000"/>
          </a:xfrm>
          <a:prstGeom prst="rect">
            <a:avLst/>
          </a:prstGeom>
          <a:noFill/>
          <a:ln>
            <a:noFill/>
          </a:ln>
        </p:spPr>
        <p:txBody>
          <a:bodyPr lIns="72000" tIns="36000" rIns="72000" bIns="36000" anchor="t"/>
          <a:lstStyle/>
          <a:p>
            <a:pPr>
              <a:buFont typeface="Arial"/>
              <a:buChar char="•"/>
            </a:pPr>
            <a:r>
              <a:rPr lang="en-US" sz="1400" dirty="0">
                <a:solidFill>
                  <a:srgbClr val="2D3748"/>
                </a:solidFill>
                <a:latin typeface="Segoe UI"/>
              </a:rPr>
              <a:t>Bits 15–8 = register address (0x80)</a:t>
            </a:r>
          </a:p>
          <a:p>
            <a:pPr>
              <a:spcBef>
                <a:spcPts val="200"/>
              </a:spcBef>
              <a:buFont typeface="Arial"/>
              <a:buChar char="•"/>
            </a:pPr>
            <a:r>
              <a:rPr lang="en-US" sz="1400" dirty="0">
                <a:solidFill>
                  <a:srgbClr val="2D3748"/>
                </a:solidFill>
                <a:latin typeface="Segoe UI"/>
              </a:rPr>
              <a:t>Bits 7–0 = data payload (0xA1)</a:t>
            </a:r>
          </a:p>
          <a:p>
            <a:pPr>
              <a:spcBef>
                <a:spcPts val="200"/>
              </a:spcBef>
              <a:buFont typeface="Arial"/>
              <a:buChar char="•"/>
            </a:pPr>
            <a:r>
              <a:rPr lang="en-US" sz="1400" dirty="0">
                <a:solidFill>
                  <a:srgbClr val="2D3748"/>
                </a:solidFill>
                <a:latin typeface="Segoe UI"/>
              </a:rPr>
              <a:t>Sent as single 16-bit SPI transaction</a:t>
            </a:r>
          </a:p>
        </p:txBody>
      </p:sp>
      <p:sp>
        <p:nvSpPr>
          <p:cNvPr id="270" name="CL"/>
          <p:cNvSpPr/>
          <p:nvPr/>
        </p:nvSpPr>
        <p:spPr>
          <a:xfrm>
            <a:off x="381000" y="4191000"/>
            <a:ext cx="2540000" cy="279400"/>
          </a:xfrm>
          <a:prstGeom prst="roundRect">
            <a:avLst>
              <a:gd name="adj" fmla="val 25000"/>
            </a:avLst>
          </a:prstGeom>
          <a:solidFill>
            <a:srgbClr val="D46A2E"/>
          </a:solidFill>
          <a:ln>
            <a:noFill/>
          </a:ln>
        </p:spPr>
        <p:txBody>
          <a:bodyPr lIns="54000" tIns="0" rIns="54000" bIns="0" anchor="ctr"/>
          <a:lstStyle/>
          <a:p>
            <a:pPr algn="ctr">
              <a:buNone/>
            </a:pPr>
            <a:r>
              <a:rPr lang="en-US" sz="1000" b="1" dirty="0">
                <a:solidFill>
                  <a:srgbClr val="FFFFFF"/>
                </a:solidFill>
                <a:latin typeface="Segoe UI"/>
              </a:rPr>
              <a:t>utils.c — Line 85</a:t>
            </a:r>
          </a:p>
        </p:txBody>
      </p:sp>
      <p:sp>
        <p:nvSpPr>
          <p:cNvPr id="271" name="CB"/>
          <p:cNvSpPr/>
          <p:nvPr/>
        </p:nvSpPr>
        <p:spPr>
          <a:xfrm>
            <a:off x="381000" y="4483100"/>
            <a:ext cx="11430000" cy="1778000"/>
          </a:xfrm>
          <a:prstGeom prst="roundRect">
            <a:avLst>
              <a:gd name="adj" fmla="val 3000"/>
            </a:avLst>
          </a:prstGeom>
          <a:solidFill>
            <a:srgbClr val="1E293B"/>
          </a:solidFill>
          <a:ln>
            <a:noFill/>
          </a:ln>
        </p:spPr>
        <p:txBody>
          <a:bodyPr lIns="144000" tIns="72000" rIns="144000" bIns="72000" anchor="t"/>
          <a:lstStyle/>
          <a:p>
            <a:pPr>
              <a:buNone/>
            </a:pPr>
            <a:r>
              <a:rPr lang="en-US" sz="1400" dirty="0">
                <a:solidFill>
                  <a:srgbClr val="7DD3FC"/>
                </a:solidFill>
                <a:latin typeface="Consolas"/>
              </a:rPr>
              <a:t>unsigned int</a:t>
            </a:r>
            <a:r>
              <a:rPr lang="en-US" sz="1400" dirty="0">
                <a:solidFill>
                  <a:srgbClr val="E2E8F0"/>
                </a:solidFill>
                <a:latin typeface="Consolas"/>
              </a:rPr>
              <a:t> transm_data;</a:t>
            </a:r>
          </a:p>
          <a:p>
            <a:pPr>
              <a:spcBef>
                <a:spcPts val="300"/>
              </a:spcBef>
              <a:buNone/>
            </a:pPr>
            <a:r>
              <a:rPr lang="en-US" sz="1400" dirty="0">
                <a:solidFill>
                  <a:srgbClr val="E2E8F0"/>
                </a:solidFill>
                <a:latin typeface="Consolas"/>
              </a:rPr>
              <a:t>transm_data = (mreg &lt;&lt; </a:t>
            </a:r>
            <a:r>
              <a:rPr lang="en-US" sz="1400" dirty="0">
                <a:solidFill>
                  <a:srgbClr val="FCD34D"/>
                </a:solidFill>
                <a:latin typeface="Consolas"/>
              </a:rPr>
              <a:t>8</a:t>
            </a:r>
            <a:r>
              <a:rPr lang="en-US" sz="1400" dirty="0">
                <a:solidFill>
                  <a:srgbClr val="E2E8F0"/>
                </a:solidFill>
                <a:latin typeface="Consolas"/>
              </a:rPr>
              <a:t>) | (msend &amp; </a:t>
            </a:r>
            <a:r>
              <a:rPr lang="en-US" sz="1400" dirty="0">
                <a:solidFill>
                  <a:srgbClr val="FCD34D"/>
                </a:solidFill>
                <a:latin typeface="Consolas"/>
              </a:rPr>
              <a:t>0x0FF</a:t>
            </a:r>
            <a:r>
              <a:rPr lang="en-US" sz="1400" dirty="0">
                <a:solidFill>
                  <a:srgbClr val="E2E8F0"/>
                </a:solidFill>
                <a:latin typeface="Consolas"/>
              </a:rPr>
              <a:t>);</a:t>
            </a:r>
          </a:p>
          <a:p>
            <a:pPr>
              <a:spcBef>
                <a:spcPts val="400"/>
              </a:spcBef>
              <a:buNone/>
            </a:pPr>
            <a:r>
              <a:rPr lang="en-US" sz="1200" dirty="0">
                <a:solidFill>
                  <a:srgbClr val="94A3B8"/>
                </a:solidFill>
                <a:latin typeface="Consolas"/>
              </a:rPr>
              <a:t>// (0x80 &lt;&lt; 8) = 0x8000  |  (0xA1 &amp; 0xFF) = 0xA1  →  0x80A1</a:t>
            </a:r>
          </a:p>
        </p:txBody>
      </p:sp>
      <p:cxnSp>
        <p:nvCxnSpPr>
          <p:cNvPr id="290" name="BL1"/>
          <p:cNvCxnSpPr/>
          <p:nvPr/>
        </p:nvCxnSpPr>
        <p:spPr>
          <a:xfrm>
            <a:off x="0" y="6578600"/>
            <a:ext cx="12192000" cy="0"/>
          </a:xfrm>
          <a:prstGeom prst="line">
            <a:avLst/>
          </a:prstGeom>
          <a:ln w="25400">
            <a:solidFill>
              <a:srgbClr val="D46A2E"/>
            </a:solidFill>
          </a:ln>
        </p:spPr>
      </p:cxnSp>
      <p:cxnSp>
        <p:nvCxnSpPr>
          <p:cNvPr id="291" name="BL2"/>
          <p:cNvCxnSpPr/>
          <p:nvPr/>
        </p:nvCxnSpPr>
        <p:spPr>
          <a:xfrm>
            <a:off x="0" y="6667500"/>
            <a:ext cx="12192000" cy="0"/>
          </a:xfrm>
          <a:prstGeom prst="line">
            <a:avLst/>
          </a:prstGeom>
          <a:ln w="38100">
            <a:solidFill>
              <a:srgbClr val="1B2A4A"/>
            </a:solidFill>
          </a:ln>
        </p:spPr>
      </p:cxnSp>
    </p:spTree>
    <p:extLst>
      <p:ext uri="{BB962C8B-B14F-4D97-AF65-F5344CB8AC3E}">
        <p14:creationId xmlns:p14="http://schemas.microsoft.com/office/powerpoint/2010/main" val="17883225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H"/>
          <p:cNvSpPr/>
          <p:nvPr/>
        </p:nvSpPr>
        <p:spPr>
          <a:xfrm>
            <a:off x="0" y="0"/>
            <a:ext cx="12192000" cy="660400"/>
          </a:xfrm>
          <a:prstGeom prst="rect">
            <a:avLst/>
          </a:prstGeom>
          <a:solidFill>
            <a:srgbClr val="2D6E4F"/>
          </a:solidFill>
          <a:ln>
            <a:noFill/>
          </a:ln>
        </p:spPr>
        <p:txBody>
          <a:bodyPr lIns="216000" anchor="ctr"/>
          <a:lstStyle/>
          <a:p>
            <a:pPr>
              <a:buNone/>
            </a:pPr>
            <a:r>
              <a:rPr lang="en-US" sz="1800" b="1" dirty="0">
                <a:solidFill>
                  <a:srgbClr val="FFFFFF"/>
                </a:solidFill>
                <a:latin typeface="Segoe UI"/>
              </a:rPr>
              <a:t>Step 3 of 5 — Send Data via Kernel Module</a:t>
            </a:r>
          </a:p>
        </p:txBody>
      </p:sp>
      <p:cxnSp>
        <p:nvCxnSpPr>
          <p:cNvPr id="101" name="AL"/>
          <p:cNvCxnSpPr/>
          <p:nvPr/>
        </p:nvCxnSpPr>
        <p:spPr>
          <a:xfrm>
            <a:off x="0" y="660400"/>
            <a:ext cx="12192000" cy="0"/>
          </a:xfrm>
          <a:prstGeom prst="line">
            <a:avLst/>
          </a:prstGeom>
          <a:ln w="25400">
            <a:solidFill>
              <a:srgbClr val="D46A2E"/>
            </a:solidFill>
          </a:ln>
        </p:spPr>
      </p:cxnSp>
      <p:sp>
        <p:nvSpPr>
          <p:cNvPr id="110" name="Lane0"/>
          <p:cNvSpPr/>
          <p:nvPr/>
        </p:nvSpPr>
        <p:spPr>
          <a:xfrm>
            <a:off x="444500" y="1016000"/>
            <a:ext cx="11303000" cy="1333500"/>
          </a:xfrm>
          <a:prstGeom prst="roundRect">
            <a:avLst>
              <a:gd name="adj" fmla="val 3000"/>
            </a:avLst>
          </a:prstGeom>
          <a:solidFill>
            <a:srgbClr val="EFF6FF"/>
          </a:solidFill>
          <a:ln w="12700">
            <a:solidFill>
              <a:srgbClr val="2B5EA7"/>
            </a:solidFill>
          </a:ln>
        </p:spPr>
        <p:txBody>
          <a:bodyPr lIns="72000" tIns="36000" anchor="t"/>
          <a:lstStyle/>
          <a:p>
            <a:pPr>
              <a:buNone/>
            </a:pPr>
            <a:r>
              <a:rPr lang="en-US" sz="1100" b="1" dirty="0">
                <a:solidFill>
                  <a:srgbClr val="2B5EA7"/>
                </a:solidFill>
                <a:latin typeface="Segoe UI"/>
              </a:rPr>
              <a:t>USER SPACE (utils.c)</a:t>
            </a:r>
          </a:p>
        </p:txBody>
      </p:sp>
      <p:sp>
        <p:nvSpPr>
          <p:cNvPr id="111" name="Lane1"/>
          <p:cNvSpPr/>
          <p:nvPr/>
        </p:nvSpPr>
        <p:spPr>
          <a:xfrm>
            <a:off x="444500" y="2540000"/>
            <a:ext cx="11303000" cy="1333500"/>
          </a:xfrm>
          <a:prstGeom prst="roundRect">
            <a:avLst>
              <a:gd name="adj" fmla="val 3000"/>
            </a:avLst>
          </a:prstGeom>
          <a:solidFill>
            <a:srgbClr val="FFF3E0"/>
          </a:solidFill>
          <a:ln w="12700">
            <a:solidFill>
              <a:srgbClr val="D46A2E"/>
            </a:solidFill>
          </a:ln>
        </p:spPr>
        <p:txBody>
          <a:bodyPr lIns="72000" tIns="36000" anchor="t"/>
          <a:lstStyle/>
          <a:p>
            <a:pPr>
              <a:buNone/>
            </a:pPr>
            <a:r>
              <a:rPr lang="en-US" sz="1100" b="1" dirty="0">
                <a:solidFill>
                  <a:srgbClr val="D46A2E"/>
                </a:solidFill>
                <a:latin typeface="Segoe UI"/>
              </a:rPr>
              <a:t>KERNEL SPACE (/dev/meascdd)</a:t>
            </a:r>
          </a:p>
        </p:txBody>
      </p:sp>
      <p:sp>
        <p:nvSpPr>
          <p:cNvPr id="112" name="Lane2"/>
          <p:cNvSpPr/>
          <p:nvPr/>
        </p:nvSpPr>
        <p:spPr>
          <a:xfrm>
            <a:off x="444500" y="4064000"/>
            <a:ext cx="11303000" cy="1206500"/>
          </a:xfrm>
          <a:prstGeom prst="roundRect">
            <a:avLst>
              <a:gd name="adj" fmla="val 3000"/>
            </a:avLst>
          </a:prstGeom>
          <a:solidFill>
            <a:srgbClr val="F0FDF4"/>
          </a:solidFill>
          <a:ln w="12700">
            <a:solidFill>
              <a:srgbClr val="2D6E4F"/>
            </a:solidFill>
          </a:ln>
        </p:spPr>
        <p:txBody>
          <a:bodyPr lIns="72000" tIns="36000" anchor="t"/>
          <a:lstStyle/>
          <a:p>
            <a:pPr>
              <a:buNone/>
            </a:pPr>
            <a:r>
              <a:rPr lang="en-US" sz="1100" b="1" dirty="0">
                <a:solidFill>
                  <a:srgbClr val="2D6E4F"/>
                </a:solidFill>
                <a:latin typeface="Segoe UI"/>
              </a:rPr>
              <a:t>HARDWARE (MAX31865 SPI)</a:t>
            </a:r>
          </a:p>
        </p:txBody>
      </p:sp>
      <p:sp>
        <p:nvSpPr>
          <p:cNvPr id="130" name="UB0"/>
          <p:cNvSpPr/>
          <p:nvPr/>
        </p:nvSpPr>
        <p:spPr>
          <a:xfrm>
            <a:off x="698500" y="1397000"/>
            <a:ext cx="2540000" cy="698500"/>
          </a:xfrm>
          <a:prstGeom prst="roundRect">
            <a:avLst>
              <a:gd name="adj" fmla="val 8000"/>
            </a:avLst>
          </a:prstGeom>
          <a:solidFill>
            <a:srgbClr val="2B5EA7"/>
          </a:solidFill>
          <a:ln>
            <a:noFill/>
          </a:ln>
        </p:spPr>
        <p:txBody>
          <a:bodyPr lIns="54000" tIns="36000" rIns="54000" bIns="36000" anchor="ctr"/>
          <a:lstStyle/>
          <a:p>
            <a:pPr algn="ctr">
              <a:buNone/>
            </a:pPr>
            <a:r>
              <a:rPr lang="en-US" sz="1100" dirty="0">
                <a:solidFill>
                  <a:srgbClr val="FFFFFF"/>
                </a:solidFill>
                <a:latin typeface="Segoe UI"/>
              </a:rPr>
              <a:t>readTempSnsrVal()
calls writeMAXSpiInterface
(fd=3, mreg=0x00, msend=0xA1)</a:t>
            </a:r>
          </a:p>
        </p:txBody>
      </p:sp>
      <p:cxnSp>
        <p:nvCxnSpPr>
          <p:cNvPr id="140" name="UA0"/>
          <p:cNvCxnSpPr/>
          <p:nvPr/>
        </p:nvCxnSpPr>
        <p:spPr>
          <a:xfrm>
            <a:off x="3238500" y="1746250"/>
            <a:ext cx="698500" cy="0"/>
          </a:xfrm>
          <a:prstGeom prst="line">
            <a:avLst/>
          </a:prstGeom>
          <a:ln w="19050">
            <a:solidFill>
              <a:srgbClr val="D46A2E"/>
            </a:solidFill>
            <a:tailEnd type="triangle" w="med" len="med"/>
          </a:ln>
        </p:spPr>
      </p:cxnSp>
      <p:sp>
        <p:nvSpPr>
          <p:cNvPr id="131" name="UB1"/>
          <p:cNvSpPr/>
          <p:nvPr/>
        </p:nvSpPr>
        <p:spPr>
          <a:xfrm>
            <a:off x="3937000" y="1397000"/>
            <a:ext cx="2540000" cy="698500"/>
          </a:xfrm>
          <a:prstGeom prst="roundRect">
            <a:avLst>
              <a:gd name="adj" fmla="val 8000"/>
            </a:avLst>
          </a:prstGeom>
          <a:solidFill>
            <a:srgbClr val="2B5EA7"/>
          </a:solidFill>
          <a:ln>
            <a:noFill/>
          </a:ln>
        </p:spPr>
        <p:txBody>
          <a:bodyPr lIns="54000" tIns="36000" rIns="54000" bIns="36000" anchor="ctr"/>
          <a:lstStyle/>
          <a:p>
            <a:pPr algn="ctr">
              <a:buNone/>
            </a:pPr>
            <a:r>
              <a:rPr lang="en-US" sz="1100" dirty="0">
                <a:solidFill>
                  <a:srgbClr val="FFFFFF"/>
                </a:solidFill>
                <a:latin typeface="Segoe UI"/>
              </a:rPr>
              <a:t>Load tf_obj_snd struct
with transm_data = 0x80A1</a:t>
            </a:r>
          </a:p>
        </p:txBody>
      </p:sp>
      <p:cxnSp>
        <p:nvCxnSpPr>
          <p:cNvPr id="141" name="UA1"/>
          <p:cNvCxnSpPr/>
          <p:nvPr/>
        </p:nvCxnSpPr>
        <p:spPr>
          <a:xfrm>
            <a:off x="6477000" y="1746250"/>
            <a:ext cx="698500" cy="0"/>
          </a:xfrm>
          <a:prstGeom prst="line">
            <a:avLst/>
          </a:prstGeom>
          <a:ln w="19050">
            <a:solidFill>
              <a:srgbClr val="D46A2E"/>
            </a:solidFill>
            <a:tailEnd type="triangle" w="med" len="med"/>
          </a:ln>
        </p:spPr>
      </p:cxnSp>
      <p:sp>
        <p:nvSpPr>
          <p:cNvPr id="132" name="UB2"/>
          <p:cNvSpPr/>
          <p:nvPr/>
        </p:nvSpPr>
        <p:spPr>
          <a:xfrm>
            <a:off x="7175500" y="1397000"/>
            <a:ext cx="2540000" cy="698500"/>
          </a:xfrm>
          <a:prstGeom prst="roundRect">
            <a:avLst>
              <a:gd name="adj" fmla="val 8000"/>
            </a:avLst>
          </a:prstGeom>
          <a:solidFill>
            <a:srgbClr val="2B5EA7"/>
          </a:solidFill>
          <a:ln>
            <a:noFill/>
          </a:ln>
        </p:spPr>
        <p:txBody>
          <a:bodyPr lIns="54000" tIns="36000" rIns="54000" bIns="36000" anchor="ctr"/>
          <a:lstStyle/>
          <a:p>
            <a:pPr algn="ctr">
              <a:buNone/>
            </a:pPr>
            <a:r>
              <a:rPr lang="en-US" sz="1100" dirty="0">
                <a:solidFill>
                  <a:srgbClr val="FFFFFF"/>
                </a:solidFill>
                <a:latin typeface="Segoe UI"/>
              </a:rPr>
              <a:t>write(fd, &amp;tf_obj_snd,
MEASOBJ_SIZE)
→ Cross into kernel</a:t>
            </a:r>
          </a:p>
        </p:txBody>
      </p:sp>
      <p:sp>
        <p:nvSpPr>
          <p:cNvPr id="150" name="Boundary"/>
          <p:cNvSpPr/>
          <p:nvPr/>
        </p:nvSpPr>
        <p:spPr>
          <a:xfrm>
            <a:off x="4318000" y="2311400"/>
            <a:ext cx="3556000" cy="279400"/>
          </a:xfrm>
          <a:prstGeom prst="roundRect">
            <a:avLst>
              <a:gd name="adj" fmla="val 25000"/>
            </a:avLst>
          </a:prstGeom>
          <a:solidFill>
            <a:srgbClr val="FEE2E2"/>
          </a:solidFill>
          <a:ln w="12700">
            <a:solidFill>
              <a:srgbClr val="DC2626"/>
            </a:solidFill>
          </a:ln>
        </p:spPr>
        <p:txBody>
          <a:bodyPr lIns="36000" tIns="0" rIns="36000" bIns="0" anchor="ctr"/>
          <a:lstStyle/>
          <a:p>
            <a:pPr algn="ctr">
              <a:buNone/>
            </a:pPr>
            <a:r>
              <a:rPr lang="en-US" sz="1000" b="1" dirty="0">
                <a:solidFill>
                  <a:srgbClr val="DC2626"/>
                </a:solidFill>
                <a:latin typeface="Segoe UI"/>
              </a:rPr>
              <a:t>SYSTEM CALL BOUNDARY</a:t>
            </a:r>
          </a:p>
        </p:txBody>
      </p:sp>
      <p:sp>
        <p:nvSpPr>
          <p:cNvPr id="160" name="KB0"/>
          <p:cNvSpPr/>
          <p:nvPr/>
        </p:nvSpPr>
        <p:spPr>
          <a:xfrm>
            <a:off x="698500" y="2921000"/>
            <a:ext cx="3175000" cy="635000"/>
          </a:xfrm>
          <a:prstGeom prst="roundRect">
            <a:avLst>
              <a:gd name="adj" fmla="val 8000"/>
            </a:avLst>
          </a:prstGeom>
          <a:solidFill>
            <a:srgbClr val="D46A2E"/>
          </a:solidFill>
          <a:ln>
            <a:noFill/>
          </a:ln>
        </p:spPr>
        <p:txBody>
          <a:bodyPr lIns="54000" tIns="36000" rIns="54000" bIns="36000" anchor="ctr"/>
          <a:lstStyle/>
          <a:p>
            <a:pPr algn="ctr">
              <a:buNone/>
            </a:pPr>
            <a:r>
              <a:rPr lang="en-US" sz="1100" dirty="0">
                <a:solidFill>
                  <a:srgbClr val="FFFFFF"/>
                </a:solidFill>
                <a:latin typeface="Segoe UI"/>
              </a:rPr>
              <a:t>Kernel module receives data
Executes SPI Write Transaction
Sends 0x80A1 on SPI bus</a:t>
            </a:r>
          </a:p>
        </p:txBody>
      </p:sp>
      <p:cxnSp>
        <p:nvCxnSpPr>
          <p:cNvPr id="170" name="KA0"/>
          <p:cNvCxnSpPr/>
          <p:nvPr/>
        </p:nvCxnSpPr>
        <p:spPr>
          <a:xfrm>
            <a:off x="3873500" y="3238500"/>
            <a:ext cx="698500" cy="0"/>
          </a:xfrm>
          <a:prstGeom prst="line">
            <a:avLst/>
          </a:prstGeom>
          <a:ln w="19050">
            <a:solidFill>
              <a:srgbClr val="FFFFFF"/>
            </a:solidFill>
            <a:tailEnd type="triangle" w="med" len="med"/>
          </a:ln>
        </p:spPr>
      </p:cxnSp>
      <p:sp>
        <p:nvSpPr>
          <p:cNvPr id="161" name="KB1"/>
          <p:cNvSpPr/>
          <p:nvPr/>
        </p:nvSpPr>
        <p:spPr>
          <a:xfrm>
            <a:off x="4572000" y="2921000"/>
            <a:ext cx="3175000" cy="635000"/>
          </a:xfrm>
          <a:prstGeom prst="roundRect">
            <a:avLst>
              <a:gd name="adj" fmla="val 8000"/>
            </a:avLst>
          </a:prstGeom>
          <a:solidFill>
            <a:srgbClr val="D46A2E"/>
          </a:solidFill>
          <a:ln>
            <a:noFill/>
          </a:ln>
        </p:spPr>
        <p:txBody>
          <a:bodyPr lIns="54000" tIns="36000" rIns="54000" bIns="36000" anchor="ctr"/>
          <a:lstStyle/>
          <a:p>
            <a:pPr algn="ctr">
              <a:buNone/>
            </a:pPr>
            <a:r>
              <a:rPr lang="en-US" sz="1100" dirty="0">
                <a:solidFill>
                  <a:srgbClr val="FFFFFF"/>
                </a:solidFill>
                <a:latin typeface="Segoe UI"/>
              </a:rPr>
              <a:t>MAX31865 receives command
Writes 0xA1 to Config Register
ADC conversion starts!</a:t>
            </a:r>
          </a:p>
        </p:txBody>
      </p:sp>
      <p:sp>
        <p:nvSpPr>
          <p:cNvPr id="180" name="HB0"/>
          <p:cNvSpPr/>
          <p:nvPr/>
        </p:nvSpPr>
        <p:spPr>
          <a:xfrm>
            <a:off x="698500" y="4445000"/>
            <a:ext cx="2540000" cy="533400"/>
          </a:xfrm>
          <a:prstGeom prst="roundRect">
            <a:avLst>
              <a:gd name="adj" fmla="val 8000"/>
            </a:avLst>
          </a:prstGeom>
          <a:solidFill>
            <a:srgbClr val="2D6E4F"/>
          </a:solidFill>
          <a:ln>
            <a:noFill/>
          </a:ln>
        </p:spPr>
        <p:txBody>
          <a:bodyPr lIns="54000" tIns="36000" rIns="54000" bIns="36000" anchor="ctr"/>
          <a:lstStyle/>
          <a:p>
            <a:pPr algn="ctr">
              <a:buNone/>
            </a:pPr>
            <a:r>
              <a:rPr lang="en-US" sz="1100" dirty="0">
                <a:solidFill>
                  <a:srgbClr val="FFFFFF"/>
                </a:solidFill>
                <a:latin typeface="Segoe UI"/>
              </a:rPr>
              <a:t>MOSI sends 0x80
(write address byte)</a:t>
            </a:r>
          </a:p>
        </p:txBody>
      </p:sp>
      <p:cxnSp>
        <p:nvCxnSpPr>
          <p:cNvPr id="190" name="HA0"/>
          <p:cNvCxnSpPr/>
          <p:nvPr/>
        </p:nvCxnSpPr>
        <p:spPr>
          <a:xfrm>
            <a:off x="3238500" y="4711700"/>
            <a:ext cx="698500" cy="0"/>
          </a:xfrm>
          <a:prstGeom prst="line">
            <a:avLst/>
          </a:prstGeom>
          <a:ln w="19050">
            <a:solidFill>
              <a:srgbClr val="D46A2E"/>
            </a:solidFill>
            <a:tailEnd type="triangle" w="med" len="med"/>
          </a:ln>
        </p:spPr>
      </p:cxnSp>
      <p:sp>
        <p:nvSpPr>
          <p:cNvPr id="181" name="HB1"/>
          <p:cNvSpPr/>
          <p:nvPr/>
        </p:nvSpPr>
        <p:spPr>
          <a:xfrm>
            <a:off x="3937000" y="4445000"/>
            <a:ext cx="2540000" cy="533400"/>
          </a:xfrm>
          <a:prstGeom prst="roundRect">
            <a:avLst>
              <a:gd name="adj" fmla="val 8000"/>
            </a:avLst>
          </a:prstGeom>
          <a:solidFill>
            <a:srgbClr val="2D6E4F"/>
          </a:solidFill>
          <a:ln>
            <a:noFill/>
          </a:ln>
        </p:spPr>
        <p:txBody>
          <a:bodyPr lIns="54000" tIns="36000" rIns="54000" bIns="36000" anchor="ctr"/>
          <a:lstStyle/>
          <a:p>
            <a:pPr algn="ctr">
              <a:buNone/>
            </a:pPr>
            <a:r>
              <a:rPr lang="en-US" sz="1100" dirty="0">
                <a:solidFill>
                  <a:srgbClr val="FFFFFF"/>
                </a:solidFill>
                <a:latin typeface="Segoe UI"/>
              </a:rPr>
              <a:t>MOSI sends 0xA1
(data payload byte)</a:t>
            </a:r>
          </a:p>
        </p:txBody>
      </p:sp>
      <p:cxnSp>
        <p:nvCxnSpPr>
          <p:cNvPr id="191" name="HA1"/>
          <p:cNvCxnSpPr/>
          <p:nvPr/>
        </p:nvCxnSpPr>
        <p:spPr>
          <a:xfrm>
            <a:off x="6477000" y="4711700"/>
            <a:ext cx="698500" cy="0"/>
          </a:xfrm>
          <a:prstGeom prst="line">
            <a:avLst/>
          </a:prstGeom>
          <a:ln w="19050">
            <a:solidFill>
              <a:srgbClr val="D46A2E"/>
            </a:solidFill>
            <a:tailEnd type="triangle" w="med" len="med"/>
          </a:ln>
        </p:spPr>
      </p:cxnSp>
      <p:sp>
        <p:nvSpPr>
          <p:cNvPr id="182" name="HB2"/>
          <p:cNvSpPr/>
          <p:nvPr/>
        </p:nvSpPr>
        <p:spPr>
          <a:xfrm>
            <a:off x="7175500" y="4445000"/>
            <a:ext cx="2540000" cy="533400"/>
          </a:xfrm>
          <a:prstGeom prst="roundRect">
            <a:avLst>
              <a:gd name="adj" fmla="val 8000"/>
            </a:avLst>
          </a:prstGeom>
          <a:solidFill>
            <a:srgbClr val="2D6E4F"/>
          </a:solidFill>
          <a:ln>
            <a:noFill/>
          </a:ln>
        </p:spPr>
        <p:txBody>
          <a:bodyPr lIns="54000" tIns="36000" rIns="54000" bIns="36000" anchor="ctr"/>
          <a:lstStyle/>
          <a:p>
            <a:pPr algn="ctr">
              <a:buNone/>
            </a:pPr>
            <a:r>
              <a:rPr lang="en-US" sz="1100" dirty="0">
                <a:solidFill>
                  <a:srgbClr val="FFFFFF"/>
                </a:solidFill>
                <a:latin typeface="Segoe UI"/>
              </a:rPr>
              <a:t>Config register updated
ADC conversion starts</a:t>
            </a:r>
          </a:p>
        </p:txBody>
      </p:sp>
      <p:sp>
        <p:nvSpPr>
          <p:cNvPr id="270" name="CR"/>
          <p:cNvSpPr/>
          <p:nvPr/>
        </p:nvSpPr>
        <p:spPr>
          <a:xfrm>
            <a:off x="444500" y="5461000"/>
            <a:ext cx="11303000" cy="787400"/>
          </a:xfrm>
          <a:prstGeom prst="roundRect">
            <a:avLst>
              <a:gd name="adj" fmla="val 5000"/>
            </a:avLst>
          </a:prstGeom>
          <a:solidFill>
            <a:srgbClr val="1E293B"/>
          </a:solidFill>
          <a:ln>
            <a:noFill/>
          </a:ln>
        </p:spPr>
        <p:txBody>
          <a:bodyPr lIns="144000" tIns="36000" rIns="144000" bIns="36000" anchor="ctr"/>
          <a:lstStyle/>
          <a:p>
            <a:pPr>
              <a:buNone/>
            </a:pPr>
            <a:r>
              <a:rPr lang="en-US" sz="1200" dirty="0">
                <a:solidFill>
                  <a:srgbClr val="94A3B8"/>
                </a:solidFill>
                <a:latin typeface="Consolas"/>
              </a:rPr>
              <a:t>// utils.c lines 86-88 — Load struct and send to kernel</a:t>
            </a:r>
          </a:p>
          <a:p>
            <a:pPr>
              <a:spcBef>
                <a:spcPts val="200"/>
              </a:spcBef>
              <a:buNone/>
            </a:pPr>
            <a:r>
              <a:rPr lang="en-US" sz="1200" dirty="0">
                <a:solidFill>
                  <a:srgbClr val="E2E8F0"/>
                </a:solidFill>
                <a:latin typeface="Consolas"/>
              </a:rPr>
              <a:t>tf_obj_snd.rvalue = transm_data;   write(fd, &amp;tf_obj_snd, MEASOBJ_SIZE);</a:t>
            </a:r>
          </a:p>
        </p:txBody>
      </p:sp>
      <p:cxnSp>
        <p:nvCxnSpPr>
          <p:cNvPr id="290" name="BL1"/>
          <p:cNvCxnSpPr/>
          <p:nvPr/>
        </p:nvCxnSpPr>
        <p:spPr>
          <a:xfrm>
            <a:off x="0" y="6578600"/>
            <a:ext cx="12192000" cy="0"/>
          </a:xfrm>
          <a:prstGeom prst="line">
            <a:avLst/>
          </a:prstGeom>
          <a:ln w="25400">
            <a:solidFill>
              <a:srgbClr val="D46A2E"/>
            </a:solidFill>
          </a:ln>
        </p:spPr>
      </p:cxnSp>
      <p:cxnSp>
        <p:nvCxnSpPr>
          <p:cNvPr id="291" name="BL2"/>
          <p:cNvCxnSpPr/>
          <p:nvPr/>
        </p:nvCxnSpPr>
        <p:spPr>
          <a:xfrm>
            <a:off x="0" y="6667500"/>
            <a:ext cx="12192000" cy="0"/>
          </a:xfrm>
          <a:prstGeom prst="line">
            <a:avLst/>
          </a:prstGeom>
          <a:ln w="38100">
            <a:solidFill>
              <a:srgbClr val="1B2A4A"/>
            </a:solidFill>
          </a:ln>
        </p:spPr>
      </p:cxnSp>
    </p:spTree>
    <p:extLst>
      <p:ext uri="{BB962C8B-B14F-4D97-AF65-F5344CB8AC3E}">
        <p14:creationId xmlns:p14="http://schemas.microsoft.com/office/powerpoint/2010/main" val="34733676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H"/>
          <p:cNvSpPr/>
          <p:nvPr/>
        </p:nvSpPr>
        <p:spPr>
          <a:xfrm>
            <a:off x="0" y="0"/>
            <a:ext cx="12192000" cy="660400"/>
          </a:xfrm>
          <a:prstGeom prst="rect">
            <a:avLst/>
          </a:prstGeom>
          <a:solidFill>
            <a:srgbClr val="7B5EA7"/>
          </a:solidFill>
          <a:ln>
            <a:noFill/>
          </a:ln>
        </p:spPr>
        <p:txBody>
          <a:bodyPr lIns="216000" anchor="ctr"/>
          <a:lstStyle/>
          <a:p>
            <a:pPr>
              <a:buNone/>
            </a:pPr>
            <a:r>
              <a:rPr lang="en-US" sz="1800" b="1" dirty="0">
                <a:solidFill>
                  <a:srgbClr val="FFFFFF"/>
                </a:solidFill>
                <a:latin typeface="Segoe UI"/>
              </a:rPr>
              <a:t>Steps 4 &amp; 5 — Poll Status Register &amp; Confirm Completion</a:t>
            </a:r>
          </a:p>
        </p:txBody>
      </p:sp>
      <p:cxnSp>
        <p:nvCxnSpPr>
          <p:cNvPr id="101" name="AL"/>
          <p:cNvCxnSpPr/>
          <p:nvPr/>
        </p:nvCxnSpPr>
        <p:spPr>
          <a:xfrm>
            <a:off x="0" y="660400"/>
            <a:ext cx="12192000" cy="0"/>
          </a:xfrm>
          <a:prstGeom prst="line">
            <a:avLst/>
          </a:prstGeom>
          <a:ln w="25400">
            <a:solidFill>
              <a:srgbClr val="D46A2E"/>
            </a:solidFill>
          </a:ln>
        </p:spPr>
      </p:cxnSp>
      <p:sp>
        <p:nvSpPr>
          <p:cNvPr id="110" name="F1"/>
          <p:cNvSpPr/>
          <p:nvPr/>
        </p:nvSpPr>
        <p:spPr>
          <a:xfrm>
            <a:off x="444500" y="889000"/>
            <a:ext cx="5334000" cy="533400"/>
          </a:xfrm>
          <a:prstGeom prst="roundRect">
            <a:avLst>
              <a:gd name="adj" fmla="val 10000"/>
            </a:avLst>
          </a:prstGeom>
          <a:solidFill>
            <a:srgbClr val="1B2A4A"/>
          </a:solidFill>
          <a:ln>
            <a:noFill/>
          </a:ln>
        </p:spPr>
        <p:txBody>
          <a:bodyPr lIns="72000" anchor="ctr"/>
          <a:lstStyle/>
          <a:p>
            <a:pPr algn="ctr">
              <a:buNone/>
            </a:pPr>
            <a:r>
              <a:rPr lang="en-US" sz="1400" b="1" dirty="0">
                <a:solidFill>
                  <a:srgbClr val="FFFFFF"/>
                </a:solidFill>
                <a:latin typeface="Segoe UI"/>
              </a:rPr>
              <a:t>STEP 4: Initialize poll variables</a:t>
            </a:r>
          </a:p>
          <a:p>
            <a:pPr algn="ctr">
              <a:buNone/>
            </a:pPr>
            <a:r>
              <a:rPr lang="en-US" sz="1100" dirty="0">
                <a:solidFill>
                  <a:srgbClr val="94A3B8"/>
                </a:solidFill>
                <a:latin typeface="Consolas"/>
              </a:rPr>
              <a:t>xdata = 0   k = 0</a:t>
            </a:r>
          </a:p>
        </p:txBody>
      </p:sp>
      <p:cxnSp>
        <p:nvCxnSpPr>
          <p:cNvPr id="111" name="A1"/>
          <p:cNvCxnSpPr/>
          <p:nvPr/>
        </p:nvCxnSpPr>
        <p:spPr>
          <a:xfrm>
            <a:off x="3111500" y="1422400"/>
            <a:ext cx="0" cy="152400"/>
          </a:xfrm>
          <a:prstGeom prst="line">
            <a:avLst/>
          </a:prstGeom>
          <a:ln w="19050">
            <a:solidFill>
              <a:srgbClr val="D46A2E"/>
            </a:solidFill>
            <a:tailEnd type="triangle" w="med" len="med"/>
          </a:ln>
        </p:spPr>
      </p:cxnSp>
      <p:sp>
        <p:nvSpPr>
          <p:cNvPr id="112" name="F2"/>
          <p:cNvSpPr/>
          <p:nvPr/>
        </p:nvSpPr>
        <p:spPr>
          <a:xfrm>
            <a:off x="444500" y="1574800"/>
            <a:ext cx="5334000" cy="889000"/>
          </a:xfrm>
          <a:prstGeom prst="roundRect">
            <a:avLst>
              <a:gd name="adj" fmla="val 6000"/>
            </a:avLst>
          </a:prstGeom>
          <a:solidFill>
            <a:srgbClr val="EDE9FE"/>
          </a:solidFill>
          <a:ln w="12700">
            <a:solidFill>
              <a:srgbClr val="7B5EA7"/>
            </a:solidFill>
          </a:ln>
        </p:spPr>
        <p:txBody>
          <a:bodyPr lIns="72000" tIns="36000" rIns="72000" bIns="36000" anchor="ctr"/>
          <a:lstStyle/>
          <a:p>
            <a:pPr algn="ctr">
              <a:buNone/>
            </a:pPr>
            <a:r>
              <a:rPr lang="en-US" sz="1400" b="1" dirty="0">
                <a:solidFill>
                  <a:srgbClr val="7B5EA7"/>
                </a:solidFill>
                <a:latin typeface="Segoe UI"/>
              </a:rPr>
              <a:t>do-while Poll Loop</a:t>
            </a:r>
          </a:p>
          <a:p>
            <a:pPr algn="ctr">
              <a:spcBef>
                <a:spcPts val="200"/>
              </a:spcBef>
              <a:buNone/>
            </a:pPr>
            <a:r>
              <a:rPr lang="en-US" sz="1200" dirty="0">
                <a:solidFill>
                  <a:srgbClr val="6B7280"/>
                </a:solidFill>
                <a:latin typeface="Segoe UI"/>
              </a:rPr>
              <a:t>1. Set rnum = 0xFF (query mode)</a:t>
            </a:r>
          </a:p>
          <a:p>
            <a:pPr algn="ctr">
              <a:buNone/>
            </a:pPr>
            <a:r>
              <a:rPr lang="en-US" sz="1200" dirty="0">
                <a:solidFill>
                  <a:srgbClr val="6B7280"/>
                </a:solidFill>
                <a:latin typeface="Segoe UI"/>
              </a:rPr>
              <a:t>2. write(fd) + read(fd) → get xdata</a:t>
            </a:r>
          </a:p>
          <a:p>
            <a:pPr algn="ctr">
              <a:buNone/>
            </a:pPr>
            <a:r>
              <a:rPr lang="en-US" sz="1200" dirty="0">
                <a:solidFill>
                  <a:srgbClr val="6B7280"/>
                </a:solidFill>
                <a:latin typeface="Segoe UI"/>
              </a:rPr>
              <a:t>3. Increment k</a:t>
            </a:r>
          </a:p>
        </p:txBody>
      </p:sp>
      <p:cxnSp>
        <p:nvCxnSpPr>
          <p:cNvPr id="113" name="A2"/>
          <p:cNvCxnSpPr/>
          <p:nvPr/>
        </p:nvCxnSpPr>
        <p:spPr>
          <a:xfrm>
            <a:off x="3111500" y="2463800"/>
            <a:ext cx="0" cy="152400"/>
          </a:xfrm>
          <a:prstGeom prst="line">
            <a:avLst/>
          </a:prstGeom>
          <a:ln w="19050">
            <a:solidFill>
              <a:srgbClr val="D46A2E"/>
            </a:solidFill>
            <a:tailEnd type="triangle" w="med" len="med"/>
          </a:ln>
        </p:spPr>
      </p:cxnSp>
      <p:sp>
        <p:nvSpPr>
          <p:cNvPr id="114" name="Dec"/>
          <p:cNvSpPr/>
          <p:nvPr/>
        </p:nvSpPr>
        <p:spPr>
          <a:xfrm>
            <a:off x="444500" y="2616200"/>
            <a:ext cx="5334000" cy="635000"/>
          </a:xfrm>
          <a:prstGeom prst="roundRect">
            <a:avLst>
              <a:gd name="adj" fmla="val 25000"/>
            </a:avLst>
          </a:prstGeom>
          <a:solidFill>
            <a:srgbClr val="FFF3E0"/>
          </a:solidFill>
          <a:ln w="12700">
            <a:solidFill>
              <a:srgbClr val="D46A2E"/>
            </a:solidFill>
          </a:ln>
        </p:spPr>
        <p:txBody>
          <a:bodyPr lIns="72000" tIns="18000" rIns="72000" bIns="18000" anchor="ctr"/>
          <a:lstStyle/>
          <a:p>
            <a:pPr algn="ctr">
              <a:buNone/>
            </a:pPr>
            <a:r>
              <a:rPr lang="en-US" sz="1400" b="1" dirty="0">
                <a:solidFill>
                  <a:srgbClr val="D46A2E"/>
                </a:solidFill>
                <a:latin typeface="Segoe UI"/>
              </a:rPr>
              <a:t>STEP 5: Check exit conditions</a:t>
            </a:r>
          </a:p>
          <a:p>
            <a:pPr algn="ctr">
              <a:buNone/>
            </a:pPr>
            <a:r>
              <a:rPr lang="en-US" sz="1200" dirty="0">
                <a:solidFill>
                  <a:srgbClr val="6B7280"/>
                </a:solidFill>
                <a:latin typeface="Consolas"/>
              </a:rPr>
              <a:t>(xdata &amp; 0x01)==0 AND k&lt;1000 ?</a:t>
            </a:r>
          </a:p>
        </p:txBody>
      </p:sp>
      <p:sp>
        <p:nvSpPr>
          <p:cNvPr id="120" name="Done"/>
          <p:cNvSpPr/>
          <p:nvPr/>
        </p:nvSpPr>
        <p:spPr>
          <a:xfrm>
            <a:off x="444500" y="3556000"/>
            <a:ext cx="2540000" cy="762000"/>
          </a:xfrm>
          <a:prstGeom prst="roundRect">
            <a:avLst>
              <a:gd name="adj" fmla="val 10000"/>
            </a:avLst>
          </a:prstGeom>
          <a:solidFill>
            <a:srgbClr val="F0FDF4"/>
          </a:solidFill>
          <a:ln w="12700">
            <a:solidFill>
              <a:srgbClr val="2D6E4F"/>
            </a:solidFill>
          </a:ln>
        </p:spPr>
        <p:txBody>
          <a:bodyPr lIns="54000" tIns="36000" rIns="54000" bIns="36000" anchor="ctr"/>
          <a:lstStyle/>
          <a:p>
            <a:pPr algn="ctr">
              <a:buNone/>
            </a:pPr>
            <a:r>
              <a:rPr lang="en-US" sz="1400" b="1" dirty="0">
                <a:solidFill>
                  <a:srgbClr val="2D6E4F"/>
                </a:solidFill>
                <a:latin typeface="Segoe UI"/>
              </a:rPr>
              <a:t>✓ SPI Done</a:t>
            </a:r>
          </a:p>
          <a:p>
            <a:pPr algn="ctr">
              <a:buNone/>
            </a:pPr>
            <a:r>
              <a:rPr lang="en-US" sz="1100" dirty="0">
                <a:solidFill>
                  <a:srgbClr val="6B7280"/>
                </a:solidFill>
                <a:latin typeface="Segoe UI"/>
              </a:rPr>
              <a:t>bit0 = 1 → complete</a:t>
            </a:r>
          </a:p>
        </p:txBody>
      </p:sp>
      <p:sp>
        <p:nvSpPr>
          <p:cNvPr id="121" name="Timeout"/>
          <p:cNvSpPr/>
          <p:nvPr/>
        </p:nvSpPr>
        <p:spPr>
          <a:xfrm>
            <a:off x="3238500" y="3556000"/>
            <a:ext cx="2540000" cy="762000"/>
          </a:xfrm>
          <a:prstGeom prst="roundRect">
            <a:avLst>
              <a:gd name="adj" fmla="val 10000"/>
            </a:avLst>
          </a:prstGeom>
          <a:solidFill>
            <a:srgbClr val="FEE2E2"/>
          </a:solidFill>
          <a:ln w="12700">
            <a:solidFill>
              <a:srgbClr val="DC2626"/>
            </a:solidFill>
          </a:ln>
        </p:spPr>
        <p:txBody>
          <a:bodyPr lIns="54000" tIns="36000" rIns="54000" bIns="36000" anchor="ctr"/>
          <a:lstStyle/>
          <a:p>
            <a:pPr algn="ctr">
              <a:buNone/>
            </a:pPr>
            <a:r>
              <a:rPr lang="en-US" sz="1400" b="1" dirty="0">
                <a:solidFill>
                  <a:srgbClr val="DC2626"/>
                </a:solidFill>
                <a:latin typeface="Segoe UI"/>
              </a:rPr>
              <a:t>✗ Timeout</a:t>
            </a:r>
          </a:p>
          <a:p>
            <a:pPr algn="ctr">
              <a:buNone/>
            </a:pPr>
            <a:r>
              <a:rPr lang="en-US" sz="1100" dirty="0">
                <a:solidFill>
                  <a:srgbClr val="6B7280"/>
                </a:solidFill>
                <a:latin typeface="Segoe UI"/>
              </a:rPr>
              <a:t>k ≥ 1000 → error</a:t>
            </a:r>
          </a:p>
        </p:txBody>
      </p:sp>
      <p:cxnSp>
        <p:nvCxnSpPr>
          <p:cNvPr id="125" name="AD1"/>
          <p:cNvCxnSpPr/>
          <p:nvPr/>
        </p:nvCxnSpPr>
        <p:spPr>
          <a:xfrm>
            <a:off x="1714500" y="3251200"/>
            <a:ext cx="0" cy="304800"/>
          </a:xfrm>
          <a:prstGeom prst="line">
            <a:avLst/>
          </a:prstGeom>
          <a:ln w="19050">
            <a:solidFill>
              <a:srgbClr val="2D6E4F"/>
            </a:solidFill>
            <a:tailEnd type="triangle" w="med" len="med"/>
          </a:ln>
        </p:spPr>
      </p:cxnSp>
      <p:cxnSp>
        <p:nvCxnSpPr>
          <p:cNvPr id="126" name="AD2"/>
          <p:cNvCxnSpPr/>
          <p:nvPr/>
        </p:nvCxnSpPr>
        <p:spPr>
          <a:xfrm>
            <a:off x="4508500" y="3251200"/>
            <a:ext cx="0" cy="304800"/>
          </a:xfrm>
          <a:prstGeom prst="line">
            <a:avLst/>
          </a:prstGeom>
          <a:ln w="19050">
            <a:solidFill>
              <a:srgbClr val="DC2626"/>
            </a:solidFill>
            <a:tailEnd type="triangle" w="med" len="med"/>
          </a:ln>
        </p:spPr>
      </p:cxnSp>
      <p:sp>
        <p:nvSpPr>
          <p:cNvPr id="270" name="CL"/>
          <p:cNvSpPr/>
          <p:nvPr/>
        </p:nvSpPr>
        <p:spPr>
          <a:xfrm>
            <a:off x="6223000" y="863600"/>
            <a:ext cx="2540000" cy="279400"/>
          </a:xfrm>
          <a:prstGeom prst="roundRect">
            <a:avLst>
              <a:gd name="adj" fmla="val 25000"/>
            </a:avLst>
          </a:prstGeom>
          <a:solidFill>
            <a:srgbClr val="D46A2E"/>
          </a:solidFill>
          <a:ln>
            <a:noFill/>
          </a:ln>
        </p:spPr>
        <p:txBody>
          <a:bodyPr lIns="54000" tIns="0" rIns="54000" bIns="0" anchor="ctr"/>
          <a:lstStyle/>
          <a:p>
            <a:pPr algn="ctr">
              <a:buNone/>
            </a:pPr>
            <a:r>
              <a:rPr lang="en-US" sz="1000" b="1" dirty="0">
                <a:solidFill>
                  <a:srgbClr val="FFFFFF"/>
                </a:solidFill>
                <a:latin typeface="Segoe UI"/>
              </a:rPr>
              <a:t>utils.c — Lines 91-99</a:t>
            </a:r>
          </a:p>
        </p:txBody>
      </p:sp>
      <p:sp>
        <p:nvSpPr>
          <p:cNvPr id="271" name="CB"/>
          <p:cNvSpPr/>
          <p:nvPr/>
        </p:nvSpPr>
        <p:spPr>
          <a:xfrm>
            <a:off x="6223000" y="1168400"/>
            <a:ext cx="5588000" cy="3683000"/>
          </a:xfrm>
          <a:prstGeom prst="roundRect">
            <a:avLst>
              <a:gd name="adj" fmla="val 3000"/>
            </a:avLst>
          </a:prstGeom>
          <a:solidFill>
            <a:srgbClr val="1E293B"/>
          </a:solidFill>
          <a:ln>
            <a:noFill/>
          </a:ln>
        </p:spPr>
        <p:txBody>
          <a:bodyPr lIns="108000" tIns="54000" rIns="72000" bIns="54000" anchor="t"/>
          <a:lstStyle/>
          <a:p>
            <a:pPr>
              <a:buNone/>
            </a:pPr>
            <a:r>
              <a:rPr lang="en-US" sz="1100" dirty="0">
                <a:solidFill>
                  <a:srgbClr val="94A3B8"/>
                </a:solidFill>
                <a:latin typeface="Consolas"/>
              </a:rPr>
              <a:t>// STEP 4: Init poll vars</a:t>
            </a:r>
          </a:p>
          <a:p>
            <a:pPr>
              <a:buNone/>
            </a:pPr>
            <a:r>
              <a:rPr lang="en-US" sz="1100" dirty="0">
                <a:solidFill>
                  <a:srgbClr val="E2E8F0"/>
                </a:solidFill>
                <a:latin typeface="Consolas"/>
              </a:rPr>
              <a:t>xdata = 0; k = 0;</a:t>
            </a:r>
          </a:p>
          <a:p>
            <a:pPr>
              <a:spcBef>
                <a:spcPts val="300"/>
              </a:spcBef>
              <a:buNone/>
            </a:pPr>
            <a:r>
              <a:rPr lang="en-US" sz="1100" dirty="0">
                <a:solidFill>
                  <a:srgbClr val="94A3B8"/>
                </a:solidFill>
                <a:latin typeface="Consolas"/>
              </a:rPr>
              <a:t>// STEP 5: Poll loop</a:t>
            </a:r>
          </a:p>
          <a:p>
            <a:pPr>
              <a:buNone/>
            </a:pPr>
            <a:r>
              <a:rPr lang="en-US" sz="1100" dirty="0">
                <a:solidFill>
                  <a:srgbClr val="C084FC"/>
                </a:solidFill>
                <a:latin typeface="Consolas"/>
              </a:rPr>
              <a:t>do</a:t>
            </a:r>
            <a:r>
              <a:rPr lang="en-US" sz="1100" dirty="0">
                <a:solidFill>
                  <a:srgbClr val="E2E8F0"/>
                </a:solidFill>
                <a:latin typeface="Consolas"/>
              </a:rPr>
              <a:t> {</a:t>
            </a:r>
          </a:p>
          <a:p>
            <a:pPr>
              <a:buNone/>
            </a:pPr>
            <a:r>
              <a:rPr lang="en-US" sz="1100" dirty="0">
                <a:solidFill>
                  <a:srgbClr val="E2E8F0"/>
                </a:solidFill>
                <a:latin typeface="Consolas"/>
              </a:rPr>
              <a:t>  tf_obj_snd.rnum = 0xFF;</a:t>
            </a:r>
          </a:p>
          <a:p>
            <a:pPr>
              <a:buNone/>
            </a:pPr>
            <a:r>
              <a:rPr lang="en-US" sz="1100" dirty="0">
                <a:solidFill>
                  <a:srgbClr val="E2E8F0"/>
                </a:solidFill>
                <a:latin typeface="Consolas"/>
              </a:rPr>
              <a:t>  write(fd, &amp;tf_obj_snd,</a:t>
            </a:r>
          </a:p>
          <a:p>
            <a:pPr>
              <a:buNone/>
            </a:pPr>
            <a:r>
              <a:rPr lang="en-US" sz="1100" dirty="0">
                <a:solidFill>
                  <a:srgbClr val="E2E8F0"/>
                </a:solidFill>
                <a:latin typeface="Consolas"/>
              </a:rPr>
              <a:t>        MEASOBJ_SIZE);</a:t>
            </a:r>
          </a:p>
          <a:p>
            <a:pPr>
              <a:buNone/>
            </a:pPr>
            <a:r>
              <a:rPr lang="en-US" sz="1100" dirty="0">
                <a:solidFill>
                  <a:srgbClr val="E2E8F0"/>
                </a:solidFill>
                <a:latin typeface="Consolas"/>
              </a:rPr>
              <a:t>  read(fd, &amp;tf_obj_rcv,</a:t>
            </a:r>
          </a:p>
          <a:p>
            <a:pPr>
              <a:buNone/>
            </a:pPr>
            <a:r>
              <a:rPr lang="en-US" sz="1100" dirty="0">
                <a:solidFill>
                  <a:srgbClr val="E2E8F0"/>
                </a:solidFill>
                <a:latin typeface="Consolas"/>
              </a:rPr>
              <a:t>        MEASOBJ_SIZE);</a:t>
            </a:r>
          </a:p>
          <a:p>
            <a:pPr>
              <a:buNone/>
            </a:pPr>
            <a:r>
              <a:rPr lang="en-US" sz="1100" dirty="0">
                <a:solidFill>
                  <a:srgbClr val="E2E8F0"/>
                </a:solidFill>
                <a:latin typeface="Consolas"/>
              </a:rPr>
              <a:t>  xdata = tf_obj_rcv.rvalue;</a:t>
            </a:r>
          </a:p>
          <a:p>
            <a:pPr>
              <a:buNone/>
            </a:pPr>
            <a:r>
              <a:rPr lang="en-US" sz="1100" dirty="0">
                <a:solidFill>
                  <a:srgbClr val="E2E8F0"/>
                </a:solidFill>
                <a:latin typeface="Consolas"/>
              </a:rPr>
              <a:t>  k++;</a:t>
            </a:r>
          </a:p>
          <a:p>
            <a:pPr>
              <a:buNone/>
            </a:pPr>
            <a:r>
              <a:rPr lang="en-US" sz="1100" dirty="0">
                <a:solidFill>
                  <a:srgbClr val="E2E8F0"/>
                </a:solidFill>
                <a:latin typeface="Consolas"/>
              </a:rPr>
              <a:t>} </a:t>
            </a:r>
            <a:r>
              <a:rPr lang="en-US" sz="1100" dirty="0">
                <a:solidFill>
                  <a:srgbClr val="C084FC"/>
                </a:solidFill>
                <a:latin typeface="Consolas"/>
              </a:rPr>
              <a:t>while</a:t>
            </a:r>
            <a:r>
              <a:rPr lang="en-US" sz="1100" dirty="0">
                <a:solidFill>
                  <a:srgbClr val="E2E8F0"/>
                </a:solidFill>
                <a:latin typeface="Consolas"/>
              </a:rPr>
              <a:t>((xdata &amp; 0x01)==0</a:t>
            </a:r>
          </a:p>
          <a:p>
            <a:pPr>
              <a:buNone/>
            </a:pPr>
            <a:r>
              <a:rPr lang="en-US" sz="1100" dirty="0">
                <a:solidFill>
                  <a:srgbClr val="E2E8F0"/>
                </a:solidFill>
                <a:latin typeface="Consolas"/>
              </a:rPr>
              <a:t>       &amp;&amp; k &lt; 1000);</a:t>
            </a:r>
          </a:p>
          <a:p>
            <a:pPr>
              <a:spcBef>
                <a:spcPts val="300"/>
              </a:spcBef>
              <a:buNone/>
            </a:pPr>
            <a:r>
              <a:rPr lang="en-US" sz="1100" dirty="0">
                <a:solidFill>
                  <a:srgbClr val="94A3B8"/>
                </a:solidFill>
                <a:latin typeface="Consolas"/>
              </a:rPr>
              <a:t>// if k &lt; 1000: confirmed</a:t>
            </a:r>
          </a:p>
          <a:p>
            <a:pPr>
              <a:buNone/>
            </a:pPr>
            <a:r>
              <a:rPr lang="en-US" sz="1100" dirty="0">
                <a:solidFill>
                  <a:srgbClr val="94A3B8"/>
                </a:solidFill>
                <a:latin typeface="Consolas"/>
              </a:rPr>
              <a:t>// if k &gt;= 1000: timeout!</a:t>
            </a:r>
          </a:p>
        </p:txBody>
      </p:sp>
      <p:sp>
        <p:nvSpPr>
          <p:cNvPr id="280" name="Key"/>
          <p:cNvSpPr/>
          <p:nvPr/>
        </p:nvSpPr>
        <p:spPr>
          <a:xfrm>
            <a:off x="444500" y="4635500"/>
            <a:ext cx="11366500" cy="698500"/>
          </a:xfrm>
          <a:prstGeom prst="roundRect">
            <a:avLst>
              <a:gd name="adj" fmla="val 8000"/>
            </a:avLst>
          </a:prstGeom>
          <a:solidFill>
            <a:srgbClr val="EDE9FE"/>
          </a:solidFill>
          <a:ln w="12700">
            <a:solidFill>
              <a:srgbClr val="7B5EA7"/>
            </a:solidFill>
          </a:ln>
        </p:spPr>
        <p:txBody>
          <a:bodyPr lIns="108000" tIns="36000" rIns="108000" bIns="36000" anchor="ctr"/>
          <a:lstStyle/>
          <a:p>
            <a:pPr>
              <a:buNone/>
            </a:pPr>
            <a:r>
              <a:rPr lang="en-US" sz="1400" b="1" dirty="0">
                <a:solidFill>
                  <a:srgbClr val="7B5EA7"/>
                </a:solidFill>
                <a:latin typeface="Segoe UI"/>
              </a:rPr>
              <a:t>Key Insight: </a:t>
            </a:r>
            <a:r>
              <a:rPr lang="en-US" sz="1400" dirty="0">
                <a:solidFill>
                  <a:srgbClr val="2D3748"/>
                </a:solidFill>
                <a:latin typeface="Segoe UI"/>
              </a:rPr>
              <a:t>The poll loop is identical for both write and read operations — only the initial setup differs. The loop checks bit 0 of the status register to detect SPI completion.</a:t>
            </a:r>
          </a:p>
        </p:txBody>
      </p:sp>
      <p:cxnSp>
        <p:nvCxnSpPr>
          <p:cNvPr id="290" name="BL1"/>
          <p:cNvCxnSpPr/>
          <p:nvPr/>
        </p:nvCxnSpPr>
        <p:spPr>
          <a:xfrm>
            <a:off x="0" y="6578600"/>
            <a:ext cx="12192000" cy="0"/>
          </a:xfrm>
          <a:prstGeom prst="line">
            <a:avLst/>
          </a:prstGeom>
          <a:ln w="25400">
            <a:solidFill>
              <a:srgbClr val="D46A2E"/>
            </a:solidFill>
          </a:ln>
        </p:spPr>
      </p:cxnSp>
      <p:cxnSp>
        <p:nvCxnSpPr>
          <p:cNvPr id="291" name="BL2"/>
          <p:cNvCxnSpPr/>
          <p:nvPr/>
        </p:nvCxnSpPr>
        <p:spPr>
          <a:xfrm>
            <a:off x="0" y="6667500"/>
            <a:ext cx="12192000" cy="0"/>
          </a:xfrm>
          <a:prstGeom prst="line">
            <a:avLst/>
          </a:prstGeom>
          <a:ln w="38100">
            <a:solidFill>
              <a:srgbClr val="1B2A4A"/>
            </a:solidFill>
          </a:ln>
        </p:spPr>
      </p:cxnSp>
    </p:spTree>
    <p:extLst>
      <p:ext uri="{BB962C8B-B14F-4D97-AF65-F5344CB8AC3E}">
        <p14:creationId xmlns:p14="http://schemas.microsoft.com/office/powerpoint/2010/main" val="22058246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H"/>
          <p:cNvSpPr/>
          <p:nvPr/>
        </p:nvSpPr>
        <p:spPr>
          <a:xfrm>
            <a:off x="0" y="0"/>
            <a:ext cx="12192000" cy="660400"/>
          </a:xfrm>
          <a:prstGeom prst="rect">
            <a:avLst/>
          </a:prstGeom>
          <a:solidFill>
            <a:srgbClr val="B8532E"/>
          </a:solidFill>
          <a:ln>
            <a:noFill/>
          </a:ln>
        </p:spPr>
        <p:txBody>
          <a:bodyPr lIns="216000" anchor="ctr"/>
          <a:lstStyle/>
          <a:p>
            <a:pPr>
              <a:buNone/>
            </a:pPr>
            <a:r>
              <a:rPr lang="en-US" sz="1800" b="1" dirty="0">
                <a:solidFill>
                  <a:srgbClr val="FFFFFF"/>
                </a:solidFill>
                <a:latin typeface="Segoe UI"/>
              </a:rPr>
              <a:t>Config Register Bits &amp; Poll Verification</a:t>
            </a:r>
          </a:p>
        </p:txBody>
      </p:sp>
      <p:cxnSp>
        <p:nvCxnSpPr>
          <p:cNvPr id="101" name="AL"/>
          <p:cNvCxnSpPr/>
          <p:nvPr/>
        </p:nvCxnSpPr>
        <p:spPr>
          <a:xfrm>
            <a:off x="0" y="660400"/>
            <a:ext cx="12192000" cy="0"/>
          </a:xfrm>
          <a:prstGeom prst="line">
            <a:avLst/>
          </a:prstGeom>
          <a:ln w="25400">
            <a:solidFill>
              <a:srgbClr val="D46A2E"/>
            </a:solidFill>
          </a:ln>
        </p:spPr>
      </p:cxnSp>
      <p:sp>
        <p:nvSpPr>
          <p:cNvPr id="110" name="ST"/>
          <p:cNvSpPr txBox="1"/>
          <p:nvPr/>
        </p:nvSpPr>
        <p:spPr>
          <a:xfrm>
            <a:off x="444500" y="787400"/>
            <a:ext cx="11303000" cy="317500"/>
          </a:xfrm>
          <a:prstGeom prst="rect">
            <a:avLst/>
          </a:prstGeom>
          <a:noFill/>
          <a:ln>
            <a:noFill/>
          </a:ln>
        </p:spPr>
        <p:txBody>
          <a:bodyPr anchor="ctr"/>
          <a:lstStyle/>
          <a:p>
            <a:pPr>
              <a:buNone/>
            </a:pPr>
            <a:r>
              <a:rPr lang="en-US" sz="1600" b="1" dirty="0">
                <a:solidFill>
                  <a:srgbClr val="1B2A4A"/>
                </a:solidFill>
                <a:latin typeface="Segoe UI"/>
              </a:rPr>
              <a:t>Configuration Value 0xA1 = 1010 0001 (binary)</a:t>
            </a:r>
          </a:p>
        </p:txBody>
      </p:sp>
      <p:sp>
        <p:nvSpPr>
          <p:cNvPr id="120" name="B0"/>
          <p:cNvSpPr/>
          <p:nvPr/>
        </p:nvSpPr>
        <p:spPr>
          <a:xfrm>
            <a:off x="533400" y="1206500"/>
            <a:ext cx="1270000" cy="889000"/>
          </a:xfrm>
          <a:prstGeom prst="roundRect">
            <a:avLst>
              <a:gd name="adj" fmla="val 8000"/>
            </a:avLst>
          </a:prstGeom>
          <a:solidFill>
            <a:srgbClr val="F0FDF4"/>
          </a:solidFill>
          <a:ln w="12700">
            <a:solidFill>
              <a:srgbClr val="2D6E4F"/>
            </a:solidFill>
          </a:ln>
        </p:spPr>
        <p:txBody>
          <a:bodyPr lIns="18000" tIns="18000" rIns="18000" bIns="18000" anchor="ctr"/>
          <a:lstStyle/>
          <a:p>
            <a:pPr algn="ctr">
              <a:buNone/>
            </a:pPr>
            <a:r>
              <a:rPr lang="en-US" sz="2000" b="1" dirty="0">
                <a:solidFill>
                  <a:srgbClr val="2D6E4F"/>
                </a:solidFill>
                <a:latin typeface="Consolas"/>
              </a:rPr>
              <a:t>1</a:t>
            </a:r>
          </a:p>
          <a:p>
            <a:pPr algn="ctr">
              <a:buNone/>
            </a:pPr>
            <a:r>
              <a:rPr lang="en-US" sz="900" dirty="0">
                <a:solidFill>
                  <a:srgbClr val="2D6E4F"/>
                </a:solidFill>
                <a:latin typeface="Segoe UI"/>
              </a:rPr>
              <a:t>VBIAS</a:t>
            </a:r>
          </a:p>
        </p:txBody>
      </p:sp>
      <p:sp>
        <p:nvSpPr>
          <p:cNvPr id="121" name="B1"/>
          <p:cNvSpPr/>
          <p:nvPr/>
        </p:nvSpPr>
        <p:spPr>
          <a:xfrm>
            <a:off x="1905000" y="1206500"/>
            <a:ext cx="1270000" cy="889000"/>
          </a:xfrm>
          <a:prstGeom prst="roundRect">
            <a:avLst>
              <a:gd name="adj" fmla="val 8000"/>
            </a:avLst>
          </a:prstGeom>
          <a:solidFill>
            <a:srgbClr val="F5F5F5"/>
          </a:solidFill>
          <a:ln w="12700">
            <a:solidFill>
              <a:srgbClr val="6B7280"/>
            </a:solidFill>
          </a:ln>
        </p:spPr>
        <p:txBody>
          <a:bodyPr lIns="18000" tIns="18000" rIns="18000" bIns="18000" anchor="ctr"/>
          <a:lstStyle/>
          <a:p>
            <a:pPr algn="ctr">
              <a:buNone/>
            </a:pPr>
            <a:r>
              <a:rPr lang="en-US" sz="2000" b="1" dirty="0">
                <a:solidFill>
                  <a:srgbClr val="6B7280"/>
                </a:solidFill>
                <a:latin typeface="Consolas"/>
              </a:rPr>
              <a:t>0</a:t>
            </a:r>
          </a:p>
          <a:p>
            <a:pPr algn="ctr">
              <a:buNone/>
            </a:pPr>
            <a:r>
              <a:rPr lang="en-US" sz="900" dirty="0">
                <a:solidFill>
                  <a:srgbClr val="6B7280"/>
                </a:solidFill>
                <a:latin typeface="Segoe UI"/>
              </a:rPr>
              <a:t>CONV</a:t>
            </a:r>
          </a:p>
        </p:txBody>
      </p:sp>
      <p:sp>
        <p:nvSpPr>
          <p:cNvPr id="122" name="B2"/>
          <p:cNvSpPr/>
          <p:nvPr/>
        </p:nvSpPr>
        <p:spPr>
          <a:xfrm>
            <a:off x="3276600" y="1206500"/>
            <a:ext cx="1270000" cy="889000"/>
          </a:xfrm>
          <a:prstGeom prst="roundRect">
            <a:avLst>
              <a:gd name="adj" fmla="val 8000"/>
            </a:avLst>
          </a:prstGeom>
          <a:solidFill>
            <a:srgbClr val="F0FDF4"/>
          </a:solidFill>
          <a:ln w="12700">
            <a:solidFill>
              <a:srgbClr val="2D6E4F"/>
            </a:solidFill>
          </a:ln>
        </p:spPr>
        <p:txBody>
          <a:bodyPr lIns="18000" tIns="18000" rIns="18000" bIns="18000" anchor="ctr"/>
          <a:lstStyle/>
          <a:p>
            <a:pPr algn="ctr">
              <a:buNone/>
            </a:pPr>
            <a:r>
              <a:rPr lang="en-US" sz="2000" b="1" dirty="0">
                <a:solidFill>
                  <a:srgbClr val="2D6E4F"/>
                </a:solidFill>
                <a:latin typeface="Consolas"/>
              </a:rPr>
              <a:t>1</a:t>
            </a:r>
          </a:p>
          <a:p>
            <a:pPr algn="ctr">
              <a:buNone/>
            </a:pPr>
            <a:r>
              <a:rPr lang="en-US" sz="900" dirty="0">
                <a:solidFill>
                  <a:srgbClr val="2D6E4F"/>
                </a:solidFill>
                <a:latin typeface="Segoe UI"/>
              </a:rPr>
              <a:t>1SHOT</a:t>
            </a:r>
          </a:p>
        </p:txBody>
      </p:sp>
      <p:sp>
        <p:nvSpPr>
          <p:cNvPr id="123" name="B3"/>
          <p:cNvSpPr/>
          <p:nvPr/>
        </p:nvSpPr>
        <p:spPr>
          <a:xfrm>
            <a:off x="4648200" y="1206500"/>
            <a:ext cx="1270000" cy="889000"/>
          </a:xfrm>
          <a:prstGeom prst="roundRect">
            <a:avLst>
              <a:gd name="adj" fmla="val 8000"/>
            </a:avLst>
          </a:prstGeom>
          <a:solidFill>
            <a:srgbClr val="F5F5F5"/>
          </a:solidFill>
          <a:ln w="12700">
            <a:solidFill>
              <a:srgbClr val="6B7280"/>
            </a:solidFill>
          </a:ln>
        </p:spPr>
        <p:txBody>
          <a:bodyPr lIns="18000" tIns="18000" rIns="18000" bIns="18000" anchor="ctr"/>
          <a:lstStyle/>
          <a:p>
            <a:pPr algn="ctr">
              <a:buNone/>
            </a:pPr>
            <a:r>
              <a:rPr lang="en-US" sz="2000" b="1" dirty="0">
                <a:solidFill>
                  <a:srgbClr val="6B7280"/>
                </a:solidFill>
                <a:latin typeface="Consolas"/>
              </a:rPr>
              <a:t>0</a:t>
            </a:r>
          </a:p>
          <a:p>
            <a:pPr algn="ctr">
              <a:buNone/>
            </a:pPr>
            <a:r>
              <a:rPr lang="en-US" sz="900" dirty="0">
                <a:solidFill>
                  <a:srgbClr val="6B7280"/>
                </a:solidFill>
                <a:latin typeface="Segoe UI"/>
              </a:rPr>
              <a:t>3WIRE</a:t>
            </a:r>
          </a:p>
        </p:txBody>
      </p:sp>
      <p:sp>
        <p:nvSpPr>
          <p:cNvPr id="124" name="B4"/>
          <p:cNvSpPr/>
          <p:nvPr/>
        </p:nvSpPr>
        <p:spPr>
          <a:xfrm>
            <a:off x="6019800" y="1206500"/>
            <a:ext cx="1270000" cy="889000"/>
          </a:xfrm>
          <a:prstGeom prst="roundRect">
            <a:avLst>
              <a:gd name="adj" fmla="val 8000"/>
            </a:avLst>
          </a:prstGeom>
          <a:solidFill>
            <a:srgbClr val="F5F5F5"/>
          </a:solidFill>
          <a:ln w="12700">
            <a:solidFill>
              <a:srgbClr val="6B7280"/>
            </a:solidFill>
          </a:ln>
        </p:spPr>
        <p:txBody>
          <a:bodyPr lIns="18000" tIns="18000" rIns="18000" bIns="18000" anchor="ctr"/>
          <a:lstStyle/>
          <a:p>
            <a:pPr algn="ctr">
              <a:buNone/>
            </a:pPr>
            <a:r>
              <a:rPr lang="en-US" sz="2000" b="1" dirty="0">
                <a:solidFill>
                  <a:srgbClr val="6B7280"/>
                </a:solidFill>
                <a:latin typeface="Consolas"/>
              </a:rPr>
              <a:t>0</a:t>
            </a:r>
          </a:p>
          <a:p>
            <a:pPr algn="ctr">
              <a:buNone/>
            </a:pPr>
            <a:r>
              <a:rPr lang="en-US" sz="900" dirty="0">
                <a:solidFill>
                  <a:srgbClr val="6B7280"/>
                </a:solidFill>
                <a:latin typeface="Segoe UI"/>
              </a:rPr>
              <a:t>Fault
D1:D0</a:t>
            </a:r>
          </a:p>
        </p:txBody>
      </p:sp>
      <p:sp>
        <p:nvSpPr>
          <p:cNvPr id="125" name="B5"/>
          <p:cNvSpPr/>
          <p:nvPr/>
        </p:nvSpPr>
        <p:spPr>
          <a:xfrm>
            <a:off x="7391400" y="1206500"/>
            <a:ext cx="1270000" cy="889000"/>
          </a:xfrm>
          <a:prstGeom prst="roundRect">
            <a:avLst>
              <a:gd name="adj" fmla="val 8000"/>
            </a:avLst>
          </a:prstGeom>
          <a:solidFill>
            <a:srgbClr val="F5F5F5"/>
          </a:solidFill>
          <a:ln w="12700">
            <a:solidFill>
              <a:srgbClr val="6B7280"/>
            </a:solidFill>
          </a:ln>
        </p:spPr>
        <p:txBody>
          <a:bodyPr lIns="18000" tIns="18000" rIns="18000" bIns="18000" anchor="ctr"/>
          <a:lstStyle/>
          <a:p>
            <a:pPr algn="ctr">
              <a:buNone/>
            </a:pPr>
            <a:r>
              <a:rPr lang="en-US" sz="2000" b="1" dirty="0">
                <a:solidFill>
                  <a:srgbClr val="6B7280"/>
                </a:solidFill>
                <a:latin typeface="Consolas"/>
              </a:rPr>
              <a:t>0</a:t>
            </a:r>
          </a:p>
          <a:p>
            <a:pPr algn="ctr">
              <a:buNone/>
            </a:pPr>
            <a:r>
              <a:rPr lang="en-US" sz="900" dirty="0">
                <a:solidFill>
                  <a:srgbClr val="6B7280"/>
                </a:solidFill>
                <a:latin typeface="Segoe UI"/>
              </a:rPr>
              <a:t>Fault
D1:D0</a:t>
            </a:r>
          </a:p>
        </p:txBody>
      </p:sp>
      <p:sp>
        <p:nvSpPr>
          <p:cNvPr id="126" name="B6"/>
          <p:cNvSpPr/>
          <p:nvPr/>
        </p:nvSpPr>
        <p:spPr>
          <a:xfrm>
            <a:off x="8763000" y="1206500"/>
            <a:ext cx="1270000" cy="889000"/>
          </a:xfrm>
          <a:prstGeom prst="roundRect">
            <a:avLst>
              <a:gd name="adj" fmla="val 8000"/>
            </a:avLst>
          </a:prstGeom>
          <a:solidFill>
            <a:srgbClr val="F5F5F5"/>
          </a:solidFill>
          <a:ln w="12700">
            <a:solidFill>
              <a:srgbClr val="6B7280"/>
            </a:solidFill>
          </a:ln>
        </p:spPr>
        <p:txBody>
          <a:bodyPr lIns="18000" tIns="18000" rIns="18000" bIns="18000" anchor="ctr"/>
          <a:lstStyle/>
          <a:p>
            <a:pPr algn="ctr">
              <a:buNone/>
            </a:pPr>
            <a:r>
              <a:rPr lang="en-US" sz="2000" b="1" dirty="0">
                <a:solidFill>
                  <a:srgbClr val="6B7280"/>
                </a:solidFill>
                <a:latin typeface="Consolas"/>
              </a:rPr>
              <a:t>0</a:t>
            </a:r>
          </a:p>
          <a:p>
            <a:pPr algn="ctr">
              <a:buNone/>
            </a:pPr>
            <a:r>
              <a:rPr lang="en-US" sz="900" dirty="0">
                <a:solidFill>
                  <a:srgbClr val="6B7280"/>
                </a:solidFill>
                <a:latin typeface="Segoe UI"/>
              </a:rPr>
              <a:t>FILT
CLR</a:t>
            </a:r>
          </a:p>
        </p:txBody>
      </p:sp>
      <p:sp>
        <p:nvSpPr>
          <p:cNvPr id="127" name="B7"/>
          <p:cNvSpPr/>
          <p:nvPr/>
        </p:nvSpPr>
        <p:spPr>
          <a:xfrm>
            <a:off x="10134600" y="1206500"/>
            <a:ext cx="1270000" cy="889000"/>
          </a:xfrm>
          <a:prstGeom prst="roundRect">
            <a:avLst>
              <a:gd name="adj" fmla="val 8000"/>
            </a:avLst>
          </a:prstGeom>
          <a:solidFill>
            <a:srgbClr val="EFF6FF"/>
          </a:solidFill>
          <a:ln w="12700">
            <a:solidFill>
              <a:srgbClr val="2B5EA7"/>
            </a:solidFill>
          </a:ln>
        </p:spPr>
        <p:txBody>
          <a:bodyPr lIns="18000" tIns="18000" rIns="18000" bIns="18000" anchor="ctr"/>
          <a:lstStyle/>
          <a:p>
            <a:pPr algn="ctr">
              <a:buNone/>
            </a:pPr>
            <a:r>
              <a:rPr lang="en-US" sz="2000" b="1" dirty="0">
                <a:solidFill>
                  <a:srgbClr val="2B5EA7"/>
                </a:solidFill>
                <a:latin typeface="Consolas"/>
              </a:rPr>
              <a:t>1</a:t>
            </a:r>
          </a:p>
          <a:p>
            <a:pPr algn="ctr">
              <a:buNone/>
            </a:pPr>
            <a:r>
              <a:rPr lang="en-US" sz="900" dirty="0">
                <a:solidFill>
                  <a:srgbClr val="2B5EA7"/>
                </a:solidFill>
                <a:latin typeface="Segoe UI"/>
              </a:rPr>
              <a:t>50Hz</a:t>
            </a:r>
          </a:p>
        </p:txBody>
      </p:sp>
      <p:sp>
        <p:nvSpPr>
          <p:cNvPr id="140" name="HW"/>
          <p:cNvSpPr txBox="1"/>
          <p:nvPr/>
        </p:nvSpPr>
        <p:spPr>
          <a:xfrm>
            <a:off x="444500" y="2286000"/>
            <a:ext cx="11303000" cy="317500"/>
          </a:xfrm>
          <a:prstGeom prst="rect">
            <a:avLst/>
          </a:prstGeom>
          <a:noFill/>
          <a:ln>
            <a:noFill/>
          </a:ln>
        </p:spPr>
        <p:txBody>
          <a:bodyPr anchor="ctr"/>
          <a:lstStyle/>
          <a:p>
            <a:pPr>
              <a:buNone/>
            </a:pPr>
            <a:r>
              <a:rPr lang="en-US" sz="1600" b="1" dirty="0">
                <a:solidFill>
                  <a:srgbClr val="1B2A4A"/>
                </a:solidFill>
                <a:latin typeface="Segoe UI"/>
              </a:rPr>
              <a:t>How the Poll Check Works:  xdata &amp; 0x01</a:t>
            </a:r>
          </a:p>
        </p:txBody>
      </p:sp>
      <p:sp>
        <p:nvSpPr>
          <p:cNvPr id="150" name="It0"/>
          <p:cNvSpPr/>
          <p:nvPr/>
        </p:nvSpPr>
        <p:spPr>
          <a:xfrm>
            <a:off x="444500" y="2730500"/>
            <a:ext cx="11303000" cy="736600"/>
          </a:xfrm>
          <a:prstGeom prst="roundRect">
            <a:avLst>
              <a:gd name="adj" fmla="val 6000"/>
            </a:avLst>
          </a:prstGeom>
          <a:solidFill>
            <a:srgbClr val="FFF3E0"/>
          </a:solidFill>
          <a:ln w="12700">
            <a:solidFill>
              <a:srgbClr val="D46A2E"/>
            </a:solidFill>
          </a:ln>
        </p:spPr>
        <p:txBody>
          <a:bodyPr lIns="108000" tIns="36000" rIns="72000" bIns="36000" anchor="ctr"/>
          <a:lstStyle/>
          <a:p>
            <a:pPr>
              <a:buNone/>
            </a:pPr>
            <a:r>
              <a:rPr lang="en-US" sz="1400" b="1" dirty="0">
                <a:solidFill>
                  <a:srgbClr val="D46A2E"/>
                </a:solidFill>
                <a:latin typeface="Segoe UI"/>
              </a:rPr>
              <a:t>Iteration 1 (SPI still busy)</a:t>
            </a:r>
          </a:p>
          <a:p>
            <a:pPr>
              <a:buNone/>
            </a:pPr>
            <a:r>
              <a:rPr lang="en-US" sz="1200" dirty="0">
                <a:solidFill>
                  <a:srgbClr val="2D3748"/>
                </a:solidFill>
                <a:latin typeface="Consolas"/>
              </a:rPr>
              <a:t>xdata = 0xC0000000    0xC0000000 &amp; 0x01 = 0 → bit0=0 → loop again</a:t>
            </a:r>
          </a:p>
        </p:txBody>
      </p:sp>
      <p:sp>
        <p:nvSpPr>
          <p:cNvPr id="151" name="It1"/>
          <p:cNvSpPr/>
          <p:nvPr/>
        </p:nvSpPr>
        <p:spPr>
          <a:xfrm>
            <a:off x="444500" y="3619500"/>
            <a:ext cx="11303000" cy="736600"/>
          </a:xfrm>
          <a:prstGeom prst="roundRect">
            <a:avLst>
              <a:gd name="adj" fmla="val 6000"/>
            </a:avLst>
          </a:prstGeom>
          <a:solidFill>
            <a:srgbClr val="F0FDF4"/>
          </a:solidFill>
          <a:ln w="12700">
            <a:solidFill>
              <a:srgbClr val="2D6E4F"/>
            </a:solidFill>
          </a:ln>
        </p:spPr>
        <p:txBody>
          <a:bodyPr lIns="108000" tIns="36000" rIns="72000" bIns="36000" anchor="ctr"/>
          <a:lstStyle/>
          <a:p>
            <a:pPr>
              <a:buNone/>
            </a:pPr>
            <a:r>
              <a:rPr lang="en-US" sz="1400" b="1" dirty="0">
                <a:solidFill>
                  <a:srgbClr val="2D6E4F"/>
                </a:solidFill>
                <a:latin typeface="Segoe UI"/>
              </a:rPr>
              <a:t>Iteration 2 (SPI complete)</a:t>
            </a:r>
          </a:p>
          <a:p>
            <a:pPr>
              <a:buNone/>
            </a:pPr>
            <a:r>
              <a:rPr lang="en-US" sz="1200" dirty="0">
                <a:solidFill>
                  <a:srgbClr val="2D3748"/>
                </a:solidFill>
                <a:latin typeface="Consolas"/>
              </a:rPr>
              <a:t>xdata = 0xC0000001    0xC0000001 &amp; 0x01 = 1 → bit0=1 → done!</a:t>
            </a:r>
          </a:p>
        </p:txBody>
      </p:sp>
      <p:sp>
        <p:nvSpPr>
          <p:cNvPr id="160" name="ADC"/>
          <p:cNvSpPr/>
          <p:nvPr/>
        </p:nvSpPr>
        <p:spPr>
          <a:xfrm>
            <a:off x="444500" y="4635500"/>
            <a:ext cx="11303000" cy="698500"/>
          </a:xfrm>
          <a:prstGeom prst="roundRect">
            <a:avLst>
              <a:gd name="adj" fmla="val 8000"/>
            </a:avLst>
          </a:prstGeom>
          <a:solidFill>
            <a:srgbClr val="EDE9FE"/>
          </a:solidFill>
          <a:ln w="12700">
            <a:solidFill>
              <a:srgbClr val="7B5EA7"/>
            </a:solidFill>
          </a:ln>
        </p:spPr>
        <p:txBody>
          <a:bodyPr lIns="108000" tIns="36000" rIns="108000" bIns="36000" anchor="ctr"/>
          <a:lstStyle/>
          <a:p>
            <a:pPr>
              <a:buNone/>
            </a:pPr>
            <a:r>
              <a:rPr lang="en-US" sz="1400" b="1" dirty="0">
                <a:solidFill>
                  <a:srgbClr val="7B5EA7"/>
                </a:solidFill>
                <a:latin typeface="Segoe UI"/>
              </a:rPr>
              <a:t>Result: </a:t>
            </a:r>
            <a:r>
              <a:rPr lang="en-US" sz="1400" dirty="0">
                <a:solidFill>
                  <a:srgbClr val="2D3748"/>
                </a:solidFill>
                <a:latin typeface="Segoe UI"/>
              </a:rPr>
              <a:t>SPI write confirmed complete. Config register now holds 0xA1 — VBIAS enabled, 1-shot conversion triggered, 50Hz filter active. ADC conversion has started!</a:t>
            </a:r>
          </a:p>
        </p:txBody>
      </p:sp>
      <p:cxnSp>
        <p:nvCxnSpPr>
          <p:cNvPr id="290" name="BL1"/>
          <p:cNvCxnSpPr/>
          <p:nvPr/>
        </p:nvCxnSpPr>
        <p:spPr>
          <a:xfrm>
            <a:off x="0" y="6578600"/>
            <a:ext cx="12192000" cy="0"/>
          </a:xfrm>
          <a:prstGeom prst="line">
            <a:avLst/>
          </a:prstGeom>
          <a:ln w="25400">
            <a:solidFill>
              <a:srgbClr val="D46A2E"/>
            </a:solidFill>
          </a:ln>
        </p:spPr>
      </p:cxnSp>
      <p:cxnSp>
        <p:nvCxnSpPr>
          <p:cNvPr id="291" name="BL2"/>
          <p:cNvCxnSpPr/>
          <p:nvPr/>
        </p:nvCxnSpPr>
        <p:spPr>
          <a:xfrm>
            <a:off x="0" y="6667500"/>
            <a:ext cx="12192000" cy="0"/>
          </a:xfrm>
          <a:prstGeom prst="line">
            <a:avLst/>
          </a:prstGeom>
          <a:ln w="38100">
            <a:solidFill>
              <a:srgbClr val="1B2A4A"/>
            </a:solidFill>
          </a:ln>
        </p:spPr>
      </p:cxnSp>
    </p:spTree>
    <p:extLst>
      <p:ext uri="{BB962C8B-B14F-4D97-AF65-F5344CB8AC3E}">
        <p14:creationId xmlns:p14="http://schemas.microsoft.com/office/powerpoint/2010/main" val="5466983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H"/>
          <p:cNvSpPr/>
          <p:nvPr/>
        </p:nvSpPr>
        <p:spPr>
          <a:xfrm>
            <a:off x="0" y="0"/>
            <a:ext cx="12192000" cy="660400"/>
          </a:xfrm>
          <a:prstGeom prst="rect">
            <a:avLst/>
          </a:prstGeom>
          <a:solidFill>
            <a:srgbClr val="1B2A4A"/>
          </a:solidFill>
          <a:ln>
            <a:noFill/>
          </a:ln>
        </p:spPr>
        <p:txBody>
          <a:bodyPr lIns="216000" anchor="ctr"/>
          <a:lstStyle/>
          <a:p>
            <a:pPr>
              <a:buNone/>
            </a:pPr>
            <a:r>
              <a:rPr lang="en-US" sz="1800" b="1" dirty="0">
                <a:solidFill>
                  <a:srgbClr val="FFFFFF"/>
                </a:solidFill>
                <a:latin typeface="Segoe UI"/>
              </a:rPr>
              <a:t>readMAXSpiInterface() — SPI Read Overview</a:t>
            </a:r>
          </a:p>
        </p:txBody>
      </p:sp>
      <p:cxnSp>
        <p:nvCxnSpPr>
          <p:cNvPr id="101" name="AL"/>
          <p:cNvCxnSpPr/>
          <p:nvPr/>
        </p:nvCxnSpPr>
        <p:spPr>
          <a:xfrm>
            <a:off x="0" y="660400"/>
            <a:ext cx="12192000" cy="0"/>
          </a:xfrm>
          <a:prstGeom prst="line">
            <a:avLst/>
          </a:prstGeom>
          <a:ln w="25400">
            <a:solidFill>
              <a:srgbClr val="D46A2E"/>
            </a:solidFill>
          </a:ln>
        </p:spPr>
      </p:cxnSp>
      <p:sp>
        <p:nvSpPr>
          <p:cNvPr id="102" name="Warn"/>
          <p:cNvSpPr/>
          <p:nvPr/>
        </p:nvSpPr>
        <p:spPr>
          <a:xfrm>
            <a:off x="406400" y="787400"/>
            <a:ext cx="11379200" cy="533400"/>
          </a:xfrm>
          <a:prstGeom prst="roundRect">
            <a:avLst>
              <a:gd name="adj" fmla="val 8000"/>
            </a:avLst>
          </a:prstGeom>
          <a:solidFill>
            <a:srgbClr val="FEE2E2"/>
          </a:solidFill>
          <a:ln w="12700">
            <a:solidFill>
              <a:srgbClr val="DC2626"/>
            </a:solidFill>
          </a:ln>
        </p:spPr>
        <p:txBody>
          <a:bodyPr lIns="108000" tIns="18000" rIns="108000" bIns="18000" anchor="ctr"/>
          <a:lstStyle/>
          <a:p>
            <a:pPr>
              <a:buNone/>
            </a:pPr>
            <a:r>
              <a:rPr lang="en-US" sz="1400" b="1" dirty="0">
                <a:solidFill>
                  <a:srgbClr val="DC2626"/>
                </a:solidFill>
                <a:latin typeface="Segoe UI"/>
              </a:rPr>
              <a:t>Why is READ a two-phase protocol?  </a:t>
            </a:r>
            <a:r>
              <a:rPr lang="en-US" sz="1300" dirty="0">
                <a:solidFill>
                  <a:srgbClr val="2D3748"/>
                </a:solidFill>
                <a:latin typeface="Segoe UI"/>
              </a:rPr>
              <a:t>Phase 1 tells the chip WHICH register to read.  Phase 2 retrieves the actual data.</a:t>
            </a:r>
          </a:p>
        </p:txBody>
      </p:sp>
      <p:sp>
        <p:nvSpPr>
          <p:cNvPr id="103" name="PL1"/>
          <p:cNvSpPr/>
          <p:nvPr/>
        </p:nvSpPr>
        <p:spPr>
          <a:xfrm>
            <a:off x="406400" y="1422400"/>
            <a:ext cx="6667500" cy="279400"/>
          </a:xfrm>
          <a:prstGeom prst="roundRect">
            <a:avLst>
              <a:gd name="adj" fmla="val 15000"/>
            </a:avLst>
          </a:prstGeom>
          <a:solidFill>
            <a:srgbClr val="2B5EA7"/>
          </a:solidFill>
          <a:ln>
            <a:noFill/>
          </a:ln>
        </p:spPr>
        <p:txBody>
          <a:bodyPr lIns="72000" tIns="0" bIns="0" anchor="ctr"/>
          <a:lstStyle/>
          <a:p>
            <a:pPr algn="ctr">
              <a:buNone/>
            </a:pPr>
            <a:r>
              <a:rPr lang="en-US" sz="1100" b="1" dirty="0">
                <a:solidFill>
                  <a:srgbClr val="FFFFFF"/>
                </a:solidFill>
                <a:latin typeface="Segoe UI"/>
              </a:rPr>
              <a:t>PHASE 1: Request Register + Poll</a:t>
            </a:r>
          </a:p>
        </p:txBody>
      </p:sp>
      <p:sp>
        <p:nvSpPr>
          <p:cNvPr id="104" name="PL2"/>
          <p:cNvSpPr/>
          <p:nvPr/>
        </p:nvSpPr>
        <p:spPr>
          <a:xfrm>
            <a:off x="7200900" y="1422400"/>
            <a:ext cx="4584700" cy="279400"/>
          </a:xfrm>
          <a:prstGeom prst="roundRect">
            <a:avLst>
              <a:gd name="adj" fmla="val 15000"/>
            </a:avLst>
          </a:prstGeom>
          <a:solidFill>
            <a:srgbClr val="7B5EA7"/>
          </a:solidFill>
          <a:ln>
            <a:noFill/>
          </a:ln>
        </p:spPr>
        <p:txBody>
          <a:bodyPr lIns="72000" tIns="0" bIns="0" anchor="ctr"/>
          <a:lstStyle/>
          <a:p>
            <a:pPr algn="ctr">
              <a:buNone/>
            </a:pPr>
            <a:r>
              <a:rPr lang="en-US" sz="1100" b="1" dirty="0">
                <a:solidFill>
                  <a:srgbClr val="FFFFFF"/>
                </a:solidFill>
                <a:latin typeface="Segoe UI"/>
              </a:rPr>
              <a:t>PHASE 2: Retrieve Data</a:t>
            </a:r>
          </a:p>
        </p:txBody>
      </p:sp>
      <p:sp>
        <p:nvSpPr>
          <p:cNvPr id="110" name="S0"/>
          <p:cNvSpPr/>
          <p:nvPr/>
        </p:nvSpPr>
        <p:spPr>
          <a:xfrm>
            <a:off x="406400" y="1803400"/>
            <a:ext cx="2057400" cy="1778000"/>
          </a:xfrm>
          <a:prstGeom prst="roundRect">
            <a:avLst>
              <a:gd name="adj" fmla="val 8000"/>
            </a:avLst>
          </a:prstGeom>
          <a:solidFill>
            <a:srgbClr val="2B5EA7"/>
          </a:solidFill>
          <a:ln>
            <a:noFill/>
          </a:ln>
          <a:effectLst>
            <a:outerShdw blurRad="40000" dist="20000" dir="5400000" rotWithShape="0">
              <a:srgbClr val="000000">
                <a:alpha val="23000"/>
              </a:srgbClr>
            </a:outerShdw>
          </a:effectLst>
        </p:spPr>
        <p:txBody>
          <a:bodyPr lIns="72000" tIns="54000" rIns="72000" bIns="54000" anchor="t"/>
          <a:lstStyle/>
          <a:p>
            <a:pPr algn="ctr">
              <a:buNone/>
            </a:pPr>
            <a:r>
              <a:rPr lang="en-US" sz="1100" dirty="0">
                <a:solidFill>
                  <a:srgbClr val="FFFFFF">
                    <a:alpha val="70000"/>
                  </a:srgbClr>
                </a:solidFill>
                <a:latin typeface="Segoe UI"/>
              </a:rPr>
              <a:t>Step 1</a:t>
            </a:r>
          </a:p>
          <a:p>
            <a:pPr algn="ctr">
              <a:spcBef>
                <a:spcPts val="200"/>
              </a:spcBef>
              <a:buNone/>
            </a:pPr>
            <a:r>
              <a:rPr lang="en-US" sz="1600" b="1" dirty="0">
                <a:solidFill>
                  <a:srgbClr val="FFFFFF"/>
                </a:solidFill>
                <a:latin typeface="Segoe UI"/>
              </a:rPr>
              <a:t>Shift Address</a:t>
            </a:r>
          </a:p>
          <a:p>
            <a:pPr algn="ctr">
              <a:spcBef>
                <a:spcPts val="400"/>
              </a:spcBef>
              <a:buNone/>
            </a:pPr>
            <a:r>
              <a:rPr lang="en-US" sz="1100" dirty="0">
                <a:solidFill>
                  <a:srgbClr val="FFFFFF">
                    <a:alpha val="85000"/>
                  </a:srgbClr>
                </a:solidFill>
                <a:latin typeface="Consolas"/>
              </a:rPr>
              <a:t>mreg &lt;&lt;= 8
Shift register addr
into upper byte</a:t>
            </a:r>
          </a:p>
        </p:txBody>
      </p:sp>
      <p:cxnSp>
        <p:nvCxnSpPr>
          <p:cNvPr id="120" name="A0"/>
          <p:cNvCxnSpPr/>
          <p:nvPr/>
        </p:nvCxnSpPr>
        <p:spPr>
          <a:xfrm>
            <a:off x="2463800" y="2692400"/>
            <a:ext cx="177800" cy="0"/>
          </a:xfrm>
          <a:prstGeom prst="line">
            <a:avLst/>
          </a:prstGeom>
          <a:ln w="19050">
            <a:solidFill>
              <a:srgbClr val="D46A2E"/>
            </a:solidFill>
            <a:tailEnd type="triangle" w="med" len="med"/>
          </a:ln>
        </p:spPr>
      </p:cxnSp>
      <p:sp>
        <p:nvSpPr>
          <p:cNvPr id="111" name="S1"/>
          <p:cNvSpPr/>
          <p:nvPr/>
        </p:nvSpPr>
        <p:spPr>
          <a:xfrm>
            <a:off x="2641600" y="1803400"/>
            <a:ext cx="2057400" cy="1778000"/>
          </a:xfrm>
          <a:prstGeom prst="roundRect">
            <a:avLst>
              <a:gd name="adj" fmla="val 8000"/>
            </a:avLst>
          </a:prstGeom>
          <a:solidFill>
            <a:srgbClr val="1B7A8A"/>
          </a:solidFill>
          <a:ln>
            <a:noFill/>
          </a:ln>
          <a:effectLst>
            <a:outerShdw blurRad="40000" dist="20000" dir="5400000" rotWithShape="0">
              <a:srgbClr val="000000">
                <a:alpha val="23000"/>
              </a:srgbClr>
            </a:outerShdw>
          </a:effectLst>
        </p:spPr>
        <p:txBody>
          <a:bodyPr lIns="72000" tIns="54000" rIns="72000" bIns="54000" anchor="t"/>
          <a:lstStyle/>
          <a:p>
            <a:pPr algn="ctr">
              <a:buNone/>
            </a:pPr>
            <a:r>
              <a:rPr lang="en-US" sz="1100" dirty="0">
                <a:solidFill>
                  <a:srgbClr val="FFFFFF">
                    <a:alpha val="70000"/>
                  </a:srgbClr>
                </a:solidFill>
                <a:latin typeface="Segoe UI"/>
              </a:rPr>
              <a:t>Step 2</a:t>
            </a:r>
          </a:p>
          <a:p>
            <a:pPr algn="ctr">
              <a:spcBef>
                <a:spcPts val="200"/>
              </a:spcBef>
              <a:buNone/>
            </a:pPr>
            <a:r>
              <a:rPr lang="en-US" sz="1600" b="1" dirty="0">
                <a:solidFill>
                  <a:srgbClr val="FFFFFF"/>
                </a:solidFill>
                <a:latin typeface="Segoe UI"/>
              </a:rPr>
              <a:t>Send Request</a:t>
            </a:r>
          </a:p>
          <a:p>
            <a:pPr algn="ctr">
              <a:spcBef>
                <a:spcPts val="400"/>
              </a:spcBef>
              <a:buNone/>
            </a:pPr>
            <a:r>
              <a:rPr lang="en-US" sz="1100" dirty="0">
                <a:solidFill>
                  <a:srgbClr val="FFFFFF">
                    <a:alpha val="85000"/>
                  </a:srgbClr>
                </a:solidFill>
                <a:latin typeface="Consolas"/>
              </a:rPr>
              <a:t>rvalue=1, write(fd)
Send read request
via kernel module</a:t>
            </a:r>
          </a:p>
        </p:txBody>
      </p:sp>
      <p:cxnSp>
        <p:nvCxnSpPr>
          <p:cNvPr id="121" name="A1"/>
          <p:cNvCxnSpPr/>
          <p:nvPr/>
        </p:nvCxnSpPr>
        <p:spPr>
          <a:xfrm>
            <a:off x="4699000" y="2692400"/>
            <a:ext cx="177800" cy="0"/>
          </a:xfrm>
          <a:prstGeom prst="line">
            <a:avLst/>
          </a:prstGeom>
          <a:ln w="19050">
            <a:solidFill>
              <a:srgbClr val="D46A2E"/>
            </a:solidFill>
            <a:tailEnd type="triangle" w="med" len="med"/>
          </a:ln>
        </p:spPr>
      </p:cxnSp>
      <p:sp>
        <p:nvSpPr>
          <p:cNvPr id="112" name="S2"/>
          <p:cNvSpPr/>
          <p:nvPr/>
        </p:nvSpPr>
        <p:spPr>
          <a:xfrm>
            <a:off x="4876800" y="1803400"/>
            <a:ext cx="2057400" cy="1778000"/>
          </a:xfrm>
          <a:prstGeom prst="roundRect">
            <a:avLst>
              <a:gd name="adj" fmla="val 8000"/>
            </a:avLst>
          </a:prstGeom>
          <a:solidFill>
            <a:srgbClr val="2D6E4F"/>
          </a:solidFill>
          <a:ln>
            <a:noFill/>
          </a:ln>
          <a:effectLst>
            <a:outerShdw blurRad="40000" dist="20000" dir="5400000" rotWithShape="0">
              <a:srgbClr val="000000">
                <a:alpha val="23000"/>
              </a:srgbClr>
            </a:outerShdw>
          </a:effectLst>
        </p:spPr>
        <p:txBody>
          <a:bodyPr lIns="72000" tIns="54000" rIns="72000" bIns="54000" anchor="t"/>
          <a:lstStyle/>
          <a:p>
            <a:pPr algn="ctr">
              <a:buNone/>
            </a:pPr>
            <a:r>
              <a:rPr lang="en-US" sz="1100" dirty="0">
                <a:solidFill>
                  <a:srgbClr val="FFFFFF">
                    <a:alpha val="70000"/>
                  </a:srgbClr>
                </a:solidFill>
                <a:latin typeface="Segoe UI"/>
              </a:rPr>
              <a:t>Step 3 (Poll)</a:t>
            </a:r>
          </a:p>
          <a:p>
            <a:pPr algn="ctr">
              <a:spcBef>
                <a:spcPts val="200"/>
              </a:spcBef>
              <a:buNone/>
            </a:pPr>
            <a:r>
              <a:rPr lang="en-US" sz="1600" b="1" dirty="0">
                <a:solidFill>
                  <a:srgbClr val="FFFFFF"/>
                </a:solidFill>
                <a:latin typeface="Segoe UI"/>
              </a:rPr>
              <a:t>Poll Status</a:t>
            </a:r>
          </a:p>
          <a:p>
            <a:pPr algn="ctr">
              <a:spcBef>
                <a:spcPts val="400"/>
              </a:spcBef>
              <a:buNone/>
            </a:pPr>
            <a:r>
              <a:rPr lang="en-US" sz="1100" dirty="0">
                <a:solidFill>
                  <a:srgbClr val="FFFFFF">
                    <a:alpha val="85000"/>
                  </a:srgbClr>
                </a:solidFill>
                <a:latin typeface="Consolas"/>
              </a:rPr>
              <a:t>do-while loop
Poll until SPI
complete or timeout</a:t>
            </a:r>
          </a:p>
        </p:txBody>
      </p:sp>
      <p:cxnSp>
        <p:nvCxnSpPr>
          <p:cNvPr id="122" name="A2"/>
          <p:cNvCxnSpPr/>
          <p:nvPr/>
        </p:nvCxnSpPr>
        <p:spPr>
          <a:xfrm>
            <a:off x="6934200" y="2692400"/>
            <a:ext cx="177800" cy="0"/>
          </a:xfrm>
          <a:prstGeom prst="line">
            <a:avLst/>
          </a:prstGeom>
          <a:ln w="19050">
            <a:solidFill>
              <a:srgbClr val="D46A2E"/>
            </a:solidFill>
            <a:tailEnd type="triangle" w="med" len="med"/>
          </a:ln>
        </p:spPr>
      </p:cxnSp>
      <p:sp>
        <p:nvSpPr>
          <p:cNvPr id="113" name="S3"/>
          <p:cNvSpPr/>
          <p:nvPr/>
        </p:nvSpPr>
        <p:spPr>
          <a:xfrm>
            <a:off x="7112000" y="1803400"/>
            <a:ext cx="2057400" cy="1778000"/>
          </a:xfrm>
          <a:prstGeom prst="roundRect">
            <a:avLst>
              <a:gd name="adj" fmla="val 8000"/>
            </a:avLst>
          </a:prstGeom>
          <a:solidFill>
            <a:srgbClr val="7B5EA7"/>
          </a:solidFill>
          <a:ln>
            <a:noFill/>
          </a:ln>
          <a:effectLst>
            <a:outerShdw blurRad="40000" dist="20000" dir="5400000" rotWithShape="0">
              <a:srgbClr val="000000">
                <a:alpha val="23000"/>
              </a:srgbClr>
            </a:outerShdw>
          </a:effectLst>
        </p:spPr>
        <p:txBody>
          <a:bodyPr lIns="72000" tIns="54000" rIns="72000" bIns="54000" anchor="t"/>
          <a:lstStyle/>
          <a:p>
            <a:pPr algn="ctr">
              <a:buNone/>
            </a:pPr>
            <a:r>
              <a:rPr lang="en-US" sz="1100" dirty="0">
                <a:solidFill>
                  <a:srgbClr val="FFFFFF">
                    <a:alpha val="70000"/>
                  </a:srgbClr>
                </a:solidFill>
                <a:latin typeface="Segoe UI"/>
              </a:rPr>
              <a:t>Step 4</a:t>
            </a:r>
          </a:p>
          <a:p>
            <a:pPr algn="ctr">
              <a:spcBef>
                <a:spcPts val="200"/>
              </a:spcBef>
              <a:buNone/>
            </a:pPr>
            <a:r>
              <a:rPr lang="en-US" sz="1600" b="1" dirty="0">
                <a:solidFill>
                  <a:srgbClr val="FFFFFF"/>
                </a:solidFill>
                <a:latin typeface="Segoe UI"/>
              </a:rPr>
              <a:t>Request Data</a:t>
            </a:r>
          </a:p>
          <a:p>
            <a:pPr algn="ctr">
              <a:spcBef>
                <a:spcPts val="400"/>
              </a:spcBef>
              <a:buNone/>
            </a:pPr>
            <a:r>
              <a:rPr lang="en-US" sz="1100" dirty="0">
                <a:solidFill>
                  <a:srgbClr val="FFFFFF">
                    <a:alpha val="85000"/>
                  </a:srgbClr>
                </a:solidFill>
                <a:latin typeface="Consolas"/>
              </a:rPr>
              <a:t>rvalue=2, write(fd)
read(fd) to get
captured data</a:t>
            </a:r>
          </a:p>
        </p:txBody>
      </p:sp>
      <p:cxnSp>
        <p:nvCxnSpPr>
          <p:cNvPr id="123" name="A3"/>
          <p:cNvCxnSpPr/>
          <p:nvPr/>
        </p:nvCxnSpPr>
        <p:spPr>
          <a:xfrm>
            <a:off x="9169400" y="2692400"/>
            <a:ext cx="177800" cy="0"/>
          </a:xfrm>
          <a:prstGeom prst="line">
            <a:avLst/>
          </a:prstGeom>
          <a:ln w="19050">
            <a:solidFill>
              <a:srgbClr val="D46A2E"/>
            </a:solidFill>
            <a:tailEnd type="triangle" w="med" len="med"/>
          </a:ln>
        </p:spPr>
      </p:cxnSp>
      <p:sp>
        <p:nvSpPr>
          <p:cNvPr id="114" name="S4"/>
          <p:cNvSpPr/>
          <p:nvPr/>
        </p:nvSpPr>
        <p:spPr>
          <a:xfrm>
            <a:off x="9347200" y="1803400"/>
            <a:ext cx="2057400" cy="1778000"/>
          </a:xfrm>
          <a:prstGeom prst="roundRect">
            <a:avLst>
              <a:gd name="adj" fmla="val 8000"/>
            </a:avLst>
          </a:prstGeom>
          <a:solidFill>
            <a:srgbClr val="B8532E"/>
          </a:solidFill>
          <a:ln>
            <a:noFill/>
          </a:ln>
          <a:effectLst>
            <a:outerShdw blurRad="40000" dist="20000" dir="5400000" rotWithShape="0">
              <a:srgbClr val="000000">
                <a:alpha val="23000"/>
              </a:srgbClr>
            </a:outerShdw>
          </a:effectLst>
        </p:spPr>
        <p:txBody>
          <a:bodyPr lIns="72000" tIns="54000" rIns="72000" bIns="54000" anchor="t"/>
          <a:lstStyle/>
          <a:p>
            <a:pPr algn="ctr">
              <a:buNone/>
            </a:pPr>
            <a:r>
              <a:rPr lang="en-US" sz="1100" dirty="0">
                <a:solidFill>
                  <a:srgbClr val="FFFFFF">
                    <a:alpha val="70000"/>
                  </a:srgbClr>
                </a:solidFill>
                <a:latin typeface="Segoe UI"/>
              </a:rPr>
              <a:t>Step 5</a:t>
            </a:r>
          </a:p>
          <a:p>
            <a:pPr algn="ctr">
              <a:spcBef>
                <a:spcPts val="200"/>
              </a:spcBef>
              <a:buNone/>
            </a:pPr>
            <a:r>
              <a:rPr lang="en-US" sz="1600" b="1" dirty="0">
                <a:solidFill>
                  <a:srgbClr val="FFFFFF"/>
                </a:solidFill>
                <a:latin typeface="Segoe UI"/>
              </a:rPr>
              <a:t>Mask &amp; Return</a:t>
            </a:r>
          </a:p>
          <a:p>
            <a:pPr algn="ctr">
              <a:spcBef>
                <a:spcPts val="400"/>
              </a:spcBef>
              <a:buNone/>
            </a:pPr>
            <a:r>
              <a:rPr lang="en-US" sz="1100" dirty="0">
                <a:solidFill>
                  <a:srgbClr val="FFFFFF">
                    <a:alpha val="85000"/>
                  </a:srgbClr>
                </a:solidFill>
                <a:latin typeface="Consolas"/>
              </a:rPr>
              <a:t>xdata &amp;= 0xFF
Return lower 8 bits
as the register value</a:t>
            </a:r>
          </a:p>
        </p:txBody>
      </p:sp>
      <p:sp>
        <p:nvSpPr>
          <p:cNvPr id="130" name="CL"/>
          <p:cNvSpPr/>
          <p:nvPr/>
        </p:nvSpPr>
        <p:spPr>
          <a:xfrm>
            <a:off x="406400" y="3873500"/>
            <a:ext cx="2540000" cy="279400"/>
          </a:xfrm>
          <a:prstGeom prst="roundRect">
            <a:avLst>
              <a:gd name="adj" fmla="val 25000"/>
            </a:avLst>
          </a:prstGeom>
          <a:solidFill>
            <a:srgbClr val="D46A2E"/>
          </a:solidFill>
          <a:ln>
            <a:noFill/>
          </a:ln>
        </p:spPr>
        <p:txBody>
          <a:bodyPr lIns="54000" tIns="0" rIns="54000" bIns="0" anchor="ctr"/>
          <a:lstStyle/>
          <a:p>
            <a:pPr algn="ctr">
              <a:buNone/>
            </a:pPr>
            <a:r>
              <a:rPr lang="en-US" sz="1000" b="1" dirty="0">
                <a:solidFill>
                  <a:srgbClr val="FFFFFF"/>
                </a:solidFill>
                <a:latin typeface="Segoe UI"/>
              </a:rPr>
              <a:t>utils.c — Function</a:t>
            </a:r>
          </a:p>
        </p:txBody>
      </p:sp>
      <p:sp>
        <p:nvSpPr>
          <p:cNvPr id="131" name="CB"/>
          <p:cNvSpPr/>
          <p:nvPr/>
        </p:nvSpPr>
        <p:spPr>
          <a:xfrm>
            <a:off x="406400" y="4165600"/>
            <a:ext cx="11379200" cy="1270000"/>
          </a:xfrm>
          <a:prstGeom prst="roundRect">
            <a:avLst>
              <a:gd name="adj" fmla="val 3000"/>
            </a:avLst>
          </a:prstGeom>
          <a:solidFill>
            <a:srgbClr val="1E293B"/>
          </a:solidFill>
          <a:ln>
            <a:noFill/>
          </a:ln>
        </p:spPr>
        <p:txBody>
          <a:bodyPr lIns="144000" tIns="54000" rIns="144000" bIns="54000" anchor="t"/>
          <a:lstStyle/>
          <a:p>
            <a:pPr>
              <a:buNone/>
            </a:pPr>
            <a:r>
              <a:rPr lang="en-US" sz="1400" dirty="0">
                <a:solidFill>
                  <a:srgbClr val="7DD3FC"/>
                </a:solidFill>
                <a:latin typeface="Consolas"/>
              </a:rPr>
              <a:t>unsigned int</a:t>
            </a:r>
            <a:r>
              <a:rPr lang="en-US" sz="1400" dirty="0">
                <a:solidFill>
                  <a:srgbClr val="E2E8F0"/>
                </a:solidFill>
                <a:latin typeface="Consolas"/>
              </a:rPr>
              <a:t> readMAXSpiInterface(</a:t>
            </a:r>
            <a:r>
              <a:rPr lang="en-US" sz="1400" dirty="0">
                <a:solidFill>
                  <a:srgbClr val="7DD3FC"/>
                </a:solidFill>
                <a:latin typeface="Consolas"/>
              </a:rPr>
              <a:t>int</a:t>
            </a:r>
            <a:r>
              <a:rPr lang="en-US" sz="1400" dirty="0">
                <a:solidFill>
                  <a:srgbClr val="E2E8F0"/>
                </a:solidFill>
                <a:latin typeface="Consolas"/>
              </a:rPr>
              <a:t> fd, </a:t>
            </a:r>
            <a:r>
              <a:rPr lang="en-US" sz="1400" dirty="0">
                <a:solidFill>
                  <a:srgbClr val="7DD3FC"/>
                </a:solidFill>
                <a:latin typeface="Consolas"/>
              </a:rPr>
              <a:t>unsigned int</a:t>
            </a:r>
            <a:r>
              <a:rPr lang="en-US" sz="1400" dirty="0">
                <a:solidFill>
                  <a:srgbClr val="E2E8F0"/>
                </a:solidFill>
                <a:latin typeface="Consolas"/>
              </a:rPr>
              <a:t> mreg)</a:t>
            </a:r>
          </a:p>
          <a:p>
            <a:pPr>
              <a:spcBef>
                <a:spcPts val="300"/>
              </a:spcBef>
              <a:buNone/>
            </a:pPr>
            <a:r>
              <a:rPr lang="en-US" sz="1200" dirty="0">
                <a:solidFill>
                  <a:srgbClr val="94A3B8"/>
                </a:solidFill>
                <a:latin typeface="Consolas"/>
              </a:rPr>
              <a:t>// Called as: readMAXSpiInterface(fd, 0x01)  → read register 0x01</a:t>
            </a:r>
          </a:p>
        </p:txBody>
      </p:sp>
      <p:sp>
        <p:nvSpPr>
          <p:cNvPr id="132" name="FN"/>
          <p:cNvSpPr txBox="1"/>
          <p:nvPr/>
        </p:nvSpPr>
        <p:spPr>
          <a:xfrm>
            <a:off x="444500" y="5588000"/>
            <a:ext cx="11303000" cy="317500"/>
          </a:xfrm>
          <a:prstGeom prst="rect">
            <a:avLst/>
          </a:prstGeom>
          <a:noFill/>
          <a:ln>
            <a:noFill/>
          </a:ln>
        </p:spPr>
        <p:txBody>
          <a:bodyPr anchor="ctr"/>
          <a:lstStyle/>
          <a:p>
            <a:pPr>
              <a:buNone/>
            </a:pPr>
            <a:r>
              <a:rPr lang="en-US" sz="1200" i="1" dirty="0">
                <a:solidFill>
                  <a:srgbClr val="9CA3AF"/>
                </a:solidFill>
                <a:latin typeface="Segoe UI"/>
              </a:rPr>
              <a:t>Each step is detailed on the following slides </a:t>
            </a:r>
          </a:p>
        </p:txBody>
      </p:sp>
      <p:cxnSp>
        <p:nvCxnSpPr>
          <p:cNvPr id="290" name="BL1"/>
          <p:cNvCxnSpPr/>
          <p:nvPr/>
        </p:nvCxnSpPr>
        <p:spPr>
          <a:xfrm>
            <a:off x="0" y="6578600"/>
            <a:ext cx="12192000" cy="0"/>
          </a:xfrm>
          <a:prstGeom prst="line">
            <a:avLst/>
          </a:prstGeom>
          <a:ln w="25400">
            <a:solidFill>
              <a:srgbClr val="D46A2E"/>
            </a:solidFill>
          </a:ln>
        </p:spPr>
      </p:cxnSp>
      <p:cxnSp>
        <p:nvCxnSpPr>
          <p:cNvPr id="291" name="BL2"/>
          <p:cNvCxnSpPr/>
          <p:nvPr/>
        </p:nvCxnSpPr>
        <p:spPr>
          <a:xfrm>
            <a:off x="0" y="6667500"/>
            <a:ext cx="12192000" cy="0"/>
          </a:xfrm>
          <a:prstGeom prst="line">
            <a:avLst/>
          </a:prstGeom>
          <a:ln w="38100">
            <a:solidFill>
              <a:srgbClr val="1B2A4A"/>
            </a:solidFill>
          </a:ln>
        </p:spPr>
      </p:cxnSp>
    </p:spTree>
    <p:extLst>
      <p:ext uri="{BB962C8B-B14F-4D97-AF65-F5344CB8AC3E}">
        <p14:creationId xmlns:p14="http://schemas.microsoft.com/office/powerpoint/2010/main" val="23445341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H"/>
          <p:cNvSpPr/>
          <p:nvPr/>
        </p:nvSpPr>
        <p:spPr>
          <a:xfrm>
            <a:off x="0" y="0"/>
            <a:ext cx="12192000" cy="660400"/>
          </a:xfrm>
          <a:prstGeom prst="rect">
            <a:avLst/>
          </a:prstGeom>
          <a:solidFill>
            <a:srgbClr val="2B5EA7"/>
          </a:solidFill>
          <a:ln>
            <a:noFill/>
          </a:ln>
        </p:spPr>
        <p:txBody>
          <a:bodyPr lIns="216000" anchor="ctr"/>
          <a:lstStyle/>
          <a:p>
            <a:pPr>
              <a:buNone/>
            </a:pPr>
            <a:r>
              <a:rPr lang="en-US" sz="1800" b="1" dirty="0">
                <a:solidFill>
                  <a:srgbClr val="FFFFFF"/>
                </a:solidFill>
                <a:latin typeface="Segoe UI"/>
              </a:rPr>
              <a:t>Read Step 1 — Shift Register Address &amp; Build rvalue</a:t>
            </a:r>
          </a:p>
        </p:txBody>
      </p:sp>
      <p:cxnSp>
        <p:nvCxnSpPr>
          <p:cNvPr id="101" name="AL"/>
          <p:cNvCxnSpPr/>
          <p:nvPr/>
        </p:nvCxnSpPr>
        <p:spPr>
          <a:xfrm>
            <a:off x="0" y="660400"/>
            <a:ext cx="12192000" cy="0"/>
          </a:xfrm>
          <a:prstGeom prst="line">
            <a:avLst/>
          </a:prstGeom>
          <a:ln w="25400">
            <a:solidFill>
              <a:srgbClr val="D46A2E"/>
            </a:solidFill>
          </a:ln>
        </p:spPr>
      </p:cxnSp>
      <p:sp>
        <p:nvSpPr>
          <p:cNvPr id="110" name="F1"/>
          <p:cNvSpPr/>
          <p:nvPr/>
        </p:nvSpPr>
        <p:spPr>
          <a:xfrm>
            <a:off x="381000" y="914400"/>
            <a:ext cx="5080000" cy="533400"/>
          </a:xfrm>
          <a:prstGeom prst="roundRect">
            <a:avLst>
              <a:gd name="adj" fmla="val 10000"/>
            </a:avLst>
          </a:prstGeom>
          <a:solidFill>
            <a:srgbClr val="1B2A4A"/>
          </a:solidFill>
          <a:ln>
            <a:noFill/>
          </a:ln>
        </p:spPr>
        <p:txBody>
          <a:bodyPr lIns="72000" anchor="ctr"/>
          <a:lstStyle/>
          <a:p>
            <a:pPr algn="ctr">
              <a:buNone/>
            </a:pPr>
            <a:r>
              <a:rPr lang="en-US" sz="1400" b="1" dirty="0">
                <a:solidFill>
                  <a:srgbClr val="FFFFFF"/>
                </a:solidFill>
                <a:latin typeface="Segoe UI"/>
              </a:rPr>
              <a:t>FUNCTION CALLED</a:t>
            </a:r>
          </a:p>
          <a:p>
            <a:pPr algn="ctr">
              <a:buNone/>
            </a:pPr>
            <a:r>
              <a:rPr lang="en-US" sz="1200" dirty="0">
                <a:solidFill>
                  <a:srgbClr val="94A3B8"/>
                </a:solidFill>
                <a:latin typeface="Consolas"/>
              </a:rPr>
              <a:t>readMAXSpiInterface(fd=3, mreg=0x01)</a:t>
            </a:r>
          </a:p>
        </p:txBody>
      </p:sp>
      <p:cxnSp>
        <p:nvCxnSpPr>
          <p:cNvPr id="111" name="A1"/>
          <p:cNvCxnSpPr/>
          <p:nvPr/>
        </p:nvCxnSpPr>
        <p:spPr>
          <a:xfrm>
            <a:off x="2921000" y="1447800"/>
            <a:ext cx="0" cy="152400"/>
          </a:xfrm>
          <a:prstGeom prst="line">
            <a:avLst/>
          </a:prstGeom>
          <a:ln w="19050">
            <a:solidFill>
              <a:srgbClr val="D46A2E"/>
            </a:solidFill>
            <a:tailEnd type="triangle" w="med" len="med"/>
          </a:ln>
        </p:spPr>
      </p:cxnSp>
      <p:sp>
        <p:nvSpPr>
          <p:cNvPr id="112" name="F2"/>
          <p:cNvSpPr/>
          <p:nvPr/>
        </p:nvSpPr>
        <p:spPr>
          <a:xfrm>
            <a:off x="381000" y="1600200"/>
            <a:ext cx="5080000" cy="698500"/>
          </a:xfrm>
          <a:prstGeom prst="roundRect">
            <a:avLst>
              <a:gd name="adj" fmla="val 8000"/>
            </a:avLst>
          </a:prstGeom>
          <a:solidFill>
            <a:srgbClr val="EFF6FF"/>
          </a:solidFill>
          <a:ln w="12700">
            <a:solidFill>
              <a:srgbClr val="2B5EA7"/>
            </a:solidFill>
          </a:ln>
        </p:spPr>
        <p:txBody>
          <a:bodyPr lIns="72000" tIns="36000" rIns="72000" bIns="36000" anchor="ctr"/>
          <a:lstStyle/>
          <a:p>
            <a:pPr algn="ctr">
              <a:buNone/>
            </a:pPr>
            <a:r>
              <a:rPr lang="en-US" sz="1200" b="1" dirty="0">
                <a:solidFill>
                  <a:srgbClr val="2B5EA7"/>
                </a:solidFill>
                <a:latin typeface="Segoe UI"/>
              </a:rPr>
              <a:t>Step 1: Shift address left 8 bits</a:t>
            </a:r>
          </a:p>
          <a:p>
            <a:pPr algn="ctr">
              <a:buNone/>
            </a:pPr>
            <a:r>
              <a:rPr lang="en-US" sz="1600" b="1" dirty="0">
                <a:solidFill>
                  <a:srgbClr val="1B2A4A"/>
                </a:solidFill>
                <a:latin typeface="Consolas"/>
              </a:rPr>
              <a:t>mreg &lt;&lt;= 8  →  0x0100</a:t>
            </a:r>
          </a:p>
        </p:txBody>
      </p:sp>
      <p:cxnSp>
        <p:nvCxnSpPr>
          <p:cNvPr id="113" name="A2"/>
          <p:cNvCxnSpPr/>
          <p:nvPr/>
        </p:nvCxnSpPr>
        <p:spPr>
          <a:xfrm>
            <a:off x="2921000" y="2298700"/>
            <a:ext cx="0" cy="152400"/>
          </a:xfrm>
          <a:prstGeom prst="line">
            <a:avLst/>
          </a:prstGeom>
          <a:ln w="19050">
            <a:solidFill>
              <a:srgbClr val="D46A2E"/>
            </a:solidFill>
            <a:tailEnd type="triangle" w="med" len="med"/>
          </a:ln>
        </p:spPr>
      </p:cxnSp>
      <p:sp>
        <p:nvSpPr>
          <p:cNvPr id="114" name="F3"/>
          <p:cNvSpPr/>
          <p:nvPr/>
        </p:nvSpPr>
        <p:spPr>
          <a:xfrm>
            <a:off x="381000" y="2451100"/>
            <a:ext cx="5080000" cy="698500"/>
          </a:xfrm>
          <a:prstGeom prst="roundRect">
            <a:avLst>
              <a:gd name="adj" fmla="val 8000"/>
            </a:avLst>
          </a:prstGeom>
          <a:solidFill>
            <a:srgbClr val="FFF3E0"/>
          </a:solidFill>
          <a:ln w="12700">
            <a:solidFill>
              <a:srgbClr val="D46A2E"/>
            </a:solidFill>
          </a:ln>
        </p:spPr>
        <p:txBody>
          <a:bodyPr lIns="72000" tIns="36000" rIns="72000" bIns="36000" anchor="ctr"/>
          <a:lstStyle/>
          <a:p>
            <a:pPr algn="ctr">
              <a:buNone/>
            </a:pPr>
            <a:r>
              <a:rPr lang="en-US" sz="1200" b="1" dirty="0">
                <a:solidFill>
                  <a:srgbClr val="D46A2E"/>
                </a:solidFill>
                <a:latin typeface="Segoe UI"/>
              </a:rPr>
              <a:t>Set rvalue = 1 (Phase 1 mode)</a:t>
            </a:r>
          </a:p>
          <a:p>
            <a:pPr algn="ctr">
              <a:buNone/>
            </a:pPr>
            <a:r>
              <a:rPr lang="en-US" sz="1400" b="1" dirty="0">
                <a:solidFill>
                  <a:srgbClr val="1B2A4A"/>
                </a:solidFill>
                <a:latin typeface="Consolas"/>
              </a:rPr>
              <a:t>rvalue = mreg | 0x01 = 0x0100</a:t>
            </a:r>
          </a:p>
        </p:txBody>
      </p:sp>
      <p:sp>
        <p:nvSpPr>
          <p:cNvPr id="115" name="Why"/>
          <p:cNvSpPr/>
          <p:nvPr/>
        </p:nvSpPr>
        <p:spPr>
          <a:xfrm>
            <a:off x="381000" y="3327400"/>
            <a:ext cx="5080000" cy="698500"/>
          </a:xfrm>
          <a:prstGeom prst="roundRect">
            <a:avLst>
              <a:gd name="adj" fmla="val 8000"/>
            </a:avLst>
          </a:prstGeom>
          <a:solidFill>
            <a:srgbClr val="FEE2E2"/>
          </a:solidFill>
          <a:ln w="12700">
            <a:solidFill>
              <a:srgbClr val="DC2626"/>
            </a:solidFill>
          </a:ln>
        </p:spPr>
        <p:txBody>
          <a:bodyPr lIns="72000" tIns="36000" rIns="72000" bIns="36000" anchor="ctr"/>
          <a:lstStyle/>
          <a:p>
            <a:pPr algn="ctr">
              <a:buNone/>
            </a:pPr>
            <a:r>
              <a:rPr lang="en-US" sz="1200" b="1" dirty="0">
                <a:solidFill>
                  <a:srgbClr val="DC2626"/>
                </a:solidFill>
                <a:latin typeface="Segoe UI"/>
              </a:rPr>
              <a:t>Why SHIFT (&lt;&lt;) not OR (|)?</a:t>
            </a:r>
          </a:p>
          <a:p>
            <a:pPr algn="ctr">
              <a:buNone/>
            </a:pPr>
            <a:r>
              <a:rPr lang="en-US" sz="1100" dirty="0">
                <a:solidFill>
                  <a:srgbClr val="2D3748"/>
                </a:solidFill>
                <a:latin typeface="Segoe UI"/>
              </a:rPr>
              <a:t>Read has no write bit — address goes to upper byte. Bit 7 stays 0 (no write flag).</a:t>
            </a:r>
          </a:p>
        </p:txBody>
      </p:sp>
      <p:sp>
        <p:nvSpPr>
          <p:cNvPr id="200" name="BT"/>
          <p:cNvSpPr txBox="1"/>
          <p:nvPr/>
        </p:nvSpPr>
        <p:spPr>
          <a:xfrm>
            <a:off x="5969000" y="863600"/>
            <a:ext cx="5969000" cy="317500"/>
          </a:xfrm>
          <a:prstGeom prst="rect">
            <a:avLst/>
          </a:prstGeom>
          <a:noFill/>
          <a:ln>
            <a:noFill/>
          </a:ln>
        </p:spPr>
        <p:txBody>
          <a:bodyPr anchor="ctr"/>
          <a:lstStyle/>
          <a:p>
            <a:pPr>
              <a:buNone/>
            </a:pPr>
            <a:r>
              <a:rPr lang="en-US" sz="1600" b="1" dirty="0">
                <a:solidFill>
                  <a:srgbClr val="1B2A4A"/>
                </a:solidFill>
                <a:latin typeface="Segoe UI"/>
              </a:rPr>
              <a:t>16-bit rvalue Layout (After Shift)</a:t>
            </a:r>
          </a:p>
        </p:txBody>
      </p:sp>
      <p:sp>
        <p:nvSpPr>
          <p:cNvPr id="201" name="UB"/>
          <p:cNvSpPr/>
          <p:nvPr/>
        </p:nvSpPr>
        <p:spPr>
          <a:xfrm>
            <a:off x="5969000" y="1270000"/>
            <a:ext cx="2857500" cy="533400"/>
          </a:xfrm>
          <a:prstGeom prst="roundRect">
            <a:avLst>
              <a:gd name="adj" fmla="val 12000"/>
            </a:avLst>
          </a:prstGeom>
          <a:solidFill>
            <a:srgbClr val="2B5EA7"/>
          </a:solidFill>
          <a:ln>
            <a:noFill/>
          </a:ln>
        </p:spPr>
        <p:txBody>
          <a:bodyPr lIns="36000" tIns="0" rIns="36000" bIns="0" anchor="ctr"/>
          <a:lstStyle/>
          <a:p>
            <a:pPr algn="ctr">
              <a:buNone/>
            </a:pPr>
            <a:r>
              <a:rPr lang="en-US" sz="1600" b="1" dirty="0">
                <a:solidFill>
                  <a:srgbClr val="FFFFFF"/>
                </a:solidFill>
                <a:latin typeface="Consolas"/>
              </a:rPr>
              <a:t>0x01</a:t>
            </a:r>
          </a:p>
          <a:p>
            <a:pPr algn="ctr">
              <a:buNone/>
            </a:pPr>
            <a:r>
              <a:rPr lang="en-US" sz="1000" dirty="0">
                <a:solidFill>
                  <a:srgbClr val="FFFFFF">
                    <a:alpha val="75000"/>
                  </a:srgbClr>
                </a:solidFill>
                <a:latin typeface="Segoe UI"/>
              </a:rPr>
              <a:t>Upper: register addr</a:t>
            </a:r>
          </a:p>
        </p:txBody>
      </p:sp>
      <p:sp>
        <p:nvSpPr>
          <p:cNvPr id="202" name="LB"/>
          <p:cNvSpPr/>
          <p:nvPr/>
        </p:nvSpPr>
        <p:spPr>
          <a:xfrm>
            <a:off x="9017000" y="1270000"/>
            <a:ext cx="2857500" cy="533400"/>
          </a:xfrm>
          <a:prstGeom prst="roundRect">
            <a:avLst>
              <a:gd name="adj" fmla="val 12000"/>
            </a:avLst>
          </a:prstGeom>
          <a:solidFill>
            <a:srgbClr val="6B7280"/>
          </a:solidFill>
          <a:ln>
            <a:noFill/>
          </a:ln>
        </p:spPr>
        <p:txBody>
          <a:bodyPr lIns="36000" tIns="0" rIns="36000" bIns="0" anchor="ctr"/>
          <a:lstStyle/>
          <a:p>
            <a:pPr algn="ctr">
              <a:buNone/>
            </a:pPr>
            <a:r>
              <a:rPr lang="en-US" sz="1600" b="1" dirty="0">
                <a:solidFill>
                  <a:srgbClr val="FFFFFF"/>
                </a:solidFill>
                <a:latin typeface="Consolas"/>
              </a:rPr>
              <a:t>0x00</a:t>
            </a:r>
          </a:p>
          <a:p>
            <a:pPr algn="ctr">
              <a:buNone/>
            </a:pPr>
            <a:r>
              <a:rPr lang="en-US" sz="1000" dirty="0">
                <a:solidFill>
                  <a:srgbClr val="FFFFFF">
                    <a:alpha val="75000"/>
                  </a:srgbClr>
                </a:solidFill>
                <a:latin typeface="Segoe UI"/>
              </a:rPr>
              <a:t>Lower: don’t care</a:t>
            </a:r>
          </a:p>
        </p:txBody>
      </p:sp>
      <p:sp>
        <p:nvSpPr>
          <p:cNvPr id="210" name="ET"/>
          <p:cNvSpPr/>
          <p:nvPr/>
        </p:nvSpPr>
        <p:spPr>
          <a:xfrm>
            <a:off x="5969000" y="2032000"/>
            <a:ext cx="5905500" cy="1968500"/>
          </a:xfrm>
          <a:prstGeom prst="roundRect">
            <a:avLst>
              <a:gd name="adj" fmla="val 5000"/>
            </a:avLst>
          </a:prstGeom>
          <a:solidFill>
            <a:srgbClr val="F8FAFC"/>
          </a:solidFill>
          <a:ln w="12700">
            <a:solidFill>
              <a:srgbClr val="1B2A4A"/>
            </a:solidFill>
          </a:ln>
        </p:spPr>
        <p:txBody>
          <a:bodyPr lIns="72000" tIns="54000" rIns="72000" bIns="54000" anchor="t"/>
          <a:lstStyle/>
          <a:p>
            <a:pPr>
              <a:buNone/>
            </a:pPr>
            <a:r>
              <a:rPr lang="en-US" sz="1400" b="1" dirty="0">
                <a:solidFill>
                  <a:srgbClr val="1B2A4A"/>
                </a:solidFill>
                <a:latin typeface="Segoe UI"/>
              </a:rPr>
              <a:t>Example Trace</a:t>
            </a:r>
          </a:p>
          <a:p>
            <a:pPr>
              <a:spcBef>
                <a:spcPts val="300"/>
              </a:spcBef>
              <a:buFont typeface="Arial"/>
              <a:buChar char="•"/>
            </a:pPr>
            <a:r>
              <a:rPr lang="en-US" sz="1200" dirty="0">
                <a:solidFill>
                  <a:srgbClr val="2D3748"/>
                </a:solidFill>
                <a:latin typeface="Segoe UI"/>
              </a:rPr>
              <a:t>mreg starts as 0x01</a:t>
            </a:r>
          </a:p>
          <a:p>
            <a:pPr>
              <a:spcBef>
                <a:spcPts val="200"/>
              </a:spcBef>
              <a:buFont typeface="Arial"/>
              <a:buChar char="•"/>
            </a:pPr>
            <a:r>
              <a:rPr lang="en-US" sz="1200" dirty="0">
                <a:solidFill>
                  <a:srgbClr val="2D3748"/>
                </a:solidFill>
                <a:latin typeface="Segoe UI"/>
              </a:rPr>
              <a:t>mreg &lt;&lt;= 8  →  0x0100</a:t>
            </a:r>
          </a:p>
          <a:p>
            <a:pPr>
              <a:spcBef>
                <a:spcPts val="200"/>
              </a:spcBef>
              <a:buFont typeface="Arial"/>
              <a:buChar char="•"/>
            </a:pPr>
            <a:r>
              <a:rPr lang="en-US" sz="1200" dirty="0">
                <a:solidFill>
                  <a:srgbClr val="2D3748"/>
                </a:solidFill>
                <a:latin typeface="Segoe UI"/>
              </a:rPr>
              <a:t>rvalue = 0x0100 (Phase 1 request)</a:t>
            </a:r>
          </a:p>
          <a:p>
            <a:pPr>
              <a:spcBef>
                <a:spcPts val="200"/>
              </a:spcBef>
              <a:buFont typeface="Arial"/>
              <a:buChar char="•"/>
            </a:pPr>
            <a:r>
              <a:rPr lang="en-US" sz="1200" dirty="0">
                <a:solidFill>
                  <a:srgbClr val="2D3748"/>
                </a:solidFill>
                <a:latin typeface="Segoe UI"/>
              </a:rPr>
              <a:t>SPI sends 0x01 on MOSI (read addr)</a:t>
            </a:r>
          </a:p>
          <a:p>
            <a:pPr>
              <a:spcBef>
                <a:spcPts val="200"/>
              </a:spcBef>
              <a:buFont typeface="Arial"/>
              <a:buChar char="•"/>
            </a:pPr>
            <a:r>
              <a:rPr lang="en-US" sz="1200" dirty="0">
                <a:solidFill>
                  <a:srgbClr val="2D3748"/>
                </a:solidFill>
                <a:latin typeface="Segoe UI"/>
              </a:rPr>
              <a:t>0x00 on second byte (don’t care)</a:t>
            </a:r>
          </a:p>
        </p:txBody>
      </p:sp>
      <p:sp>
        <p:nvSpPr>
          <p:cNvPr id="271" name="CB"/>
          <p:cNvSpPr/>
          <p:nvPr/>
        </p:nvSpPr>
        <p:spPr>
          <a:xfrm>
            <a:off x="381000" y="4381500"/>
            <a:ext cx="11430000" cy="1803400"/>
          </a:xfrm>
          <a:prstGeom prst="roundRect">
            <a:avLst>
              <a:gd name="adj" fmla="val 3000"/>
            </a:avLst>
          </a:prstGeom>
          <a:solidFill>
            <a:srgbClr val="1E293B"/>
          </a:solidFill>
          <a:ln>
            <a:noFill/>
          </a:ln>
        </p:spPr>
        <p:txBody>
          <a:bodyPr lIns="144000" tIns="54000" rIns="144000" bIns="54000" anchor="t"/>
          <a:lstStyle/>
          <a:p>
            <a:pPr>
              <a:buNone/>
            </a:pPr>
            <a:r>
              <a:rPr lang="en-US" sz="1200" dirty="0">
                <a:solidFill>
                  <a:srgbClr val="94A3B8"/>
                </a:solidFill>
                <a:latin typeface="Consolas"/>
              </a:rPr>
              <a:t>// utils.c — readMAXSpiInterface() lines 41-45</a:t>
            </a:r>
          </a:p>
          <a:p>
            <a:pPr>
              <a:spcBef>
                <a:spcPts val="300"/>
              </a:spcBef>
              <a:buNone/>
            </a:pPr>
            <a:r>
              <a:rPr lang="en-US" sz="1400" dirty="0">
                <a:solidFill>
                  <a:srgbClr val="E2E8F0"/>
                </a:solidFill>
                <a:latin typeface="Consolas"/>
              </a:rPr>
              <a:t>mreg &lt;&lt;= </a:t>
            </a:r>
            <a:r>
              <a:rPr lang="en-US" sz="1400" dirty="0">
                <a:solidFill>
                  <a:srgbClr val="FCD34D"/>
                </a:solidFill>
                <a:latin typeface="Consolas"/>
              </a:rPr>
              <a:t>8</a:t>
            </a:r>
            <a:r>
              <a:rPr lang="en-US" sz="1400" dirty="0">
                <a:solidFill>
                  <a:srgbClr val="E2E8F0"/>
                </a:solidFill>
                <a:latin typeface="Consolas"/>
              </a:rPr>
              <a:t>;  </a:t>
            </a:r>
            <a:r>
              <a:rPr lang="en-US" sz="1200" dirty="0">
                <a:solidFill>
                  <a:srgbClr val="94A3B8"/>
                </a:solidFill>
                <a:latin typeface="Consolas"/>
              </a:rPr>
              <a:t>// 0x01 → 0x0100 (addr in upper byte)</a:t>
            </a:r>
          </a:p>
          <a:p>
            <a:pPr>
              <a:spcBef>
                <a:spcPts val="200"/>
              </a:spcBef>
              <a:buNone/>
            </a:pPr>
            <a:r>
              <a:rPr lang="en-US" sz="1400" dirty="0">
                <a:solidFill>
                  <a:srgbClr val="E2E8F0"/>
                </a:solidFill>
                <a:latin typeface="Consolas"/>
              </a:rPr>
              <a:t>tf_obj_snd.rnum = </a:t>
            </a:r>
            <a:r>
              <a:rPr lang="en-US" sz="1400" dirty="0">
                <a:solidFill>
                  <a:srgbClr val="FCD34D"/>
                </a:solidFill>
                <a:latin typeface="Consolas"/>
              </a:rPr>
              <a:t>1</a:t>
            </a:r>
            <a:r>
              <a:rPr lang="en-US" sz="1400" dirty="0">
                <a:solidFill>
                  <a:srgbClr val="E2E8F0"/>
                </a:solidFill>
                <a:latin typeface="Consolas"/>
              </a:rPr>
              <a:t>;</a:t>
            </a:r>
          </a:p>
          <a:p>
            <a:pPr>
              <a:buNone/>
            </a:pPr>
            <a:r>
              <a:rPr lang="en-US" sz="1400" dirty="0">
                <a:solidFill>
                  <a:srgbClr val="E2E8F0"/>
                </a:solidFill>
                <a:latin typeface="Consolas"/>
              </a:rPr>
              <a:t>tf_obj_snd.rvalue = mreg;</a:t>
            </a:r>
          </a:p>
        </p:txBody>
      </p:sp>
      <p:cxnSp>
        <p:nvCxnSpPr>
          <p:cNvPr id="290" name="BL1"/>
          <p:cNvCxnSpPr/>
          <p:nvPr/>
        </p:nvCxnSpPr>
        <p:spPr>
          <a:xfrm>
            <a:off x="0" y="6578600"/>
            <a:ext cx="12192000" cy="0"/>
          </a:xfrm>
          <a:prstGeom prst="line">
            <a:avLst/>
          </a:prstGeom>
          <a:ln w="25400">
            <a:solidFill>
              <a:srgbClr val="D46A2E"/>
            </a:solidFill>
          </a:ln>
        </p:spPr>
      </p:cxnSp>
      <p:cxnSp>
        <p:nvCxnSpPr>
          <p:cNvPr id="291" name="BL2"/>
          <p:cNvCxnSpPr/>
          <p:nvPr/>
        </p:nvCxnSpPr>
        <p:spPr>
          <a:xfrm>
            <a:off x="0" y="6667500"/>
            <a:ext cx="12192000" cy="0"/>
          </a:xfrm>
          <a:prstGeom prst="line">
            <a:avLst/>
          </a:prstGeom>
          <a:ln w="38100">
            <a:solidFill>
              <a:srgbClr val="1B2A4A"/>
            </a:solidFill>
          </a:ln>
        </p:spPr>
      </p:cxnSp>
    </p:spTree>
    <p:extLst>
      <p:ext uri="{BB962C8B-B14F-4D97-AF65-F5344CB8AC3E}">
        <p14:creationId xmlns:p14="http://schemas.microsoft.com/office/powerpoint/2010/main" val="21988559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H"/>
          <p:cNvSpPr/>
          <p:nvPr/>
        </p:nvSpPr>
        <p:spPr>
          <a:xfrm>
            <a:off x="0" y="0"/>
            <a:ext cx="12192000" cy="660400"/>
          </a:xfrm>
          <a:prstGeom prst="rect">
            <a:avLst/>
          </a:prstGeom>
          <a:solidFill>
            <a:srgbClr val="1B7A8A"/>
          </a:solidFill>
          <a:ln>
            <a:noFill/>
          </a:ln>
        </p:spPr>
        <p:txBody>
          <a:bodyPr lIns="216000" anchor="ctr"/>
          <a:lstStyle/>
          <a:p>
            <a:pPr>
              <a:buNone/>
            </a:pPr>
            <a:r>
              <a:rPr lang="en-US" sz="1800" b="1" dirty="0">
                <a:solidFill>
                  <a:srgbClr val="FFFFFF"/>
                </a:solidFill>
                <a:latin typeface="Segoe UI"/>
              </a:rPr>
              <a:t>Read Step 2 — Send Request via Kernel (Phase 1 Architecture)</a:t>
            </a:r>
          </a:p>
        </p:txBody>
      </p:sp>
      <p:cxnSp>
        <p:nvCxnSpPr>
          <p:cNvPr id="101" name="AL"/>
          <p:cNvCxnSpPr/>
          <p:nvPr/>
        </p:nvCxnSpPr>
        <p:spPr>
          <a:xfrm>
            <a:off x="0" y="660400"/>
            <a:ext cx="12192000" cy="0"/>
          </a:xfrm>
          <a:prstGeom prst="line">
            <a:avLst/>
          </a:prstGeom>
          <a:ln w="25400">
            <a:solidFill>
              <a:srgbClr val="D46A2E"/>
            </a:solidFill>
          </a:ln>
        </p:spPr>
      </p:cxnSp>
      <p:sp>
        <p:nvSpPr>
          <p:cNvPr id="110" name="L0"/>
          <p:cNvSpPr/>
          <p:nvPr/>
        </p:nvSpPr>
        <p:spPr>
          <a:xfrm>
            <a:off x="444500" y="921026"/>
            <a:ext cx="11303000" cy="1397000"/>
          </a:xfrm>
          <a:prstGeom prst="roundRect">
            <a:avLst>
              <a:gd name="adj" fmla="val 3000"/>
            </a:avLst>
          </a:prstGeom>
          <a:solidFill>
            <a:srgbClr val="EFF6FF"/>
          </a:solidFill>
          <a:ln w="12700">
            <a:solidFill>
              <a:srgbClr val="2B5EA7"/>
            </a:solidFill>
          </a:ln>
        </p:spPr>
        <p:txBody>
          <a:bodyPr lIns="72000" tIns="36000" anchor="t"/>
          <a:lstStyle/>
          <a:p>
            <a:pPr>
              <a:buNone/>
            </a:pPr>
            <a:r>
              <a:rPr lang="en-US" sz="1100" b="1" dirty="0">
                <a:solidFill>
                  <a:srgbClr val="2B5EA7"/>
                </a:solidFill>
                <a:latin typeface="Segoe UI"/>
              </a:rPr>
              <a:t>USER SPACE (utils.c)</a:t>
            </a:r>
          </a:p>
        </p:txBody>
      </p:sp>
      <p:sp>
        <p:nvSpPr>
          <p:cNvPr id="111" name="L1"/>
          <p:cNvSpPr/>
          <p:nvPr/>
        </p:nvSpPr>
        <p:spPr>
          <a:xfrm>
            <a:off x="444500" y="2476500"/>
            <a:ext cx="11303000" cy="1397000"/>
          </a:xfrm>
          <a:prstGeom prst="roundRect">
            <a:avLst>
              <a:gd name="adj" fmla="val 3000"/>
            </a:avLst>
          </a:prstGeom>
          <a:solidFill>
            <a:srgbClr val="FFF3E0"/>
          </a:solidFill>
          <a:ln w="12700">
            <a:solidFill>
              <a:srgbClr val="D46A2E"/>
            </a:solidFill>
          </a:ln>
        </p:spPr>
        <p:txBody>
          <a:bodyPr lIns="72000" tIns="36000" anchor="t"/>
          <a:lstStyle/>
          <a:p>
            <a:pPr>
              <a:buNone/>
            </a:pPr>
            <a:r>
              <a:rPr lang="en-US" sz="1100" b="1" dirty="0">
                <a:solidFill>
                  <a:srgbClr val="D46A2E"/>
                </a:solidFill>
                <a:latin typeface="Segoe UI"/>
              </a:rPr>
              <a:t>KERNEL SPACE (/dev/meascdd)</a:t>
            </a:r>
          </a:p>
        </p:txBody>
      </p:sp>
      <p:sp>
        <p:nvSpPr>
          <p:cNvPr id="112" name="L2"/>
          <p:cNvSpPr/>
          <p:nvPr/>
        </p:nvSpPr>
        <p:spPr>
          <a:xfrm>
            <a:off x="444500" y="4038600"/>
            <a:ext cx="11303000" cy="1270000"/>
          </a:xfrm>
          <a:prstGeom prst="roundRect">
            <a:avLst>
              <a:gd name="adj" fmla="val 3000"/>
            </a:avLst>
          </a:prstGeom>
          <a:solidFill>
            <a:srgbClr val="F0FDF4"/>
          </a:solidFill>
          <a:ln w="12700">
            <a:solidFill>
              <a:srgbClr val="2D6E4F"/>
            </a:solidFill>
          </a:ln>
        </p:spPr>
        <p:txBody>
          <a:bodyPr lIns="72000" tIns="36000" anchor="t"/>
          <a:lstStyle/>
          <a:p>
            <a:pPr>
              <a:buNone/>
            </a:pPr>
            <a:r>
              <a:rPr lang="en-US" sz="1100" b="1" dirty="0">
                <a:solidFill>
                  <a:srgbClr val="2D6E4F"/>
                </a:solidFill>
                <a:latin typeface="Segoe UI"/>
              </a:rPr>
              <a:t>HARDWARE (MAX31865 SPI)</a:t>
            </a:r>
          </a:p>
        </p:txBody>
      </p:sp>
      <p:sp>
        <p:nvSpPr>
          <p:cNvPr id="130" name="UB0"/>
          <p:cNvSpPr/>
          <p:nvPr/>
        </p:nvSpPr>
        <p:spPr>
          <a:xfrm>
            <a:off x="698500" y="1333500"/>
            <a:ext cx="3175000" cy="698500"/>
          </a:xfrm>
          <a:prstGeom prst="roundRect">
            <a:avLst>
              <a:gd name="adj" fmla="val 8000"/>
            </a:avLst>
          </a:prstGeom>
          <a:solidFill>
            <a:srgbClr val="2B5EA7"/>
          </a:solidFill>
          <a:ln>
            <a:noFill/>
          </a:ln>
        </p:spPr>
        <p:txBody>
          <a:bodyPr lIns="54000" tIns="36000" rIns="54000" bIns="36000" anchor="ctr"/>
          <a:lstStyle/>
          <a:p>
            <a:pPr algn="ctr">
              <a:buNone/>
            </a:pPr>
            <a:r>
              <a:rPr lang="en-US" sz="1100" dirty="0">
                <a:solidFill>
                  <a:srgbClr val="FFFFFF"/>
                </a:solidFill>
                <a:latin typeface="Segoe UI"/>
              </a:rPr>
              <a:t>readMAXSpiInterface(fd, 0x01)
Shifts addr: mreg = 0x0100
Sets rnum=1, rvalue=mreg</a:t>
            </a:r>
          </a:p>
        </p:txBody>
      </p:sp>
      <p:sp>
        <p:nvSpPr>
          <p:cNvPr id="131" name="UB1"/>
          <p:cNvSpPr/>
          <p:nvPr/>
        </p:nvSpPr>
        <p:spPr>
          <a:xfrm>
            <a:off x="4572000" y="1333500"/>
            <a:ext cx="3175000" cy="698500"/>
          </a:xfrm>
          <a:prstGeom prst="roundRect">
            <a:avLst>
              <a:gd name="adj" fmla="val 8000"/>
            </a:avLst>
          </a:prstGeom>
          <a:solidFill>
            <a:srgbClr val="2B5EA7"/>
          </a:solidFill>
          <a:ln>
            <a:noFill/>
          </a:ln>
        </p:spPr>
        <p:txBody>
          <a:bodyPr lIns="54000" tIns="36000" rIns="54000" bIns="36000" anchor="ctr"/>
          <a:lstStyle/>
          <a:p>
            <a:pPr algn="ctr">
              <a:buNone/>
            </a:pPr>
            <a:r>
              <a:rPr lang="en-US" sz="1100" dirty="0">
                <a:solidFill>
                  <a:srgbClr val="FFFFFF"/>
                </a:solidFill>
                <a:latin typeface="Segoe UI"/>
              </a:rPr>
              <a:t>write(fd, &amp;tf_obj_snd,
MEASOBJ_SIZE)
→ Sends Phase 1 request</a:t>
            </a:r>
          </a:p>
        </p:txBody>
      </p:sp>
      <p:sp>
        <p:nvSpPr>
          <p:cNvPr id="150" name="Bnd"/>
          <p:cNvSpPr/>
          <p:nvPr/>
        </p:nvSpPr>
        <p:spPr>
          <a:xfrm>
            <a:off x="4318000" y="2247900"/>
            <a:ext cx="3556000" cy="279400"/>
          </a:xfrm>
          <a:prstGeom prst="roundRect">
            <a:avLst>
              <a:gd name="adj" fmla="val 25000"/>
            </a:avLst>
          </a:prstGeom>
          <a:solidFill>
            <a:srgbClr val="FEE2E2"/>
          </a:solidFill>
          <a:ln w="12700">
            <a:solidFill>
              <a:srgbClr val="DC2626"/>
            </a:solidFill>
          </a:ln>
        </p:spPr>
        <p:txBody>
          <a:bodyPr lIns="36000" tIns="0" rIns="36000" bIns="0" anchor="ctr"/>
          <a:lstStyle/>
          <a:p>
            <a:pPr algn="ctr">
              <a:buNone/>
            </a:pPr>
            <a:r>
              <a:rPr lang="en-US" sz="1000" b="1" dirty="0">
                <a:solidFill>
                  <a:srgbClr val="DC2626"/>
                </a:solidFill>
                <a:latin typeface="Segoe UI"/>
              </a:rPr>
              <a:t>SYSTEM CALL BOUNDARY</a:t>
            </a:r>
          </a:p>
        </p:txBody>
      </p:sp>
      <p:sp>
        <p:nvSpPr>
          <p:cNvPr id="160" name="KB0"/>
          <p:cNvSpPr/>
          <p:nvPr/>
        </p:nvSpPr>
        <p:spPr>
          <a:xfrm>
            <a:off x="698500" y="2895600"/>
            <a:ext cx="3556000" cy="660400"/>
          </a:xfrm>
          <a:prstGeom prst="roundRect">
            <a:avLst>
              <a:gd name="adj" fmla="val 8000"/>
            </a:avLst>
          </a:prstGeom>
          <a:solidFill>
            <a:srgbClr val="D46A2E"/>
          </a:solidFill>
          <a:ln>
            <a:noFill/>
          </a:ln>
        </p:spPr>
        <p:txBody>
          <a:bodyPr lIns="54000" tIns="36000" rIns="54000" bIns="36000" anchor="ctr"/>
          <a:lstStyle/>
          <a:p>
            <a:pPr algn="ctr">
              <a:buNone/>
            </a:pPr>
            <a:r>
              <a:rPr lang="en-US" sz="1100" dirty="0">
                <a:solidFill>
                  <a:srgbClr val="FFFFFF"/>
                </a:solidFill>
                <a:latin typeface="Segoe UI"/>
              </a:rPr>
              <a:t>Kernel receives rnum=1
Executes SPI read transaction
Sends 0x01 on MOSI pin</a:t>
            </a:r>
          </a:p>
        </p:txBody>
      </p:sp>
      <p:sp>
        <p:nvSpPr>
          <p:cNvPr id="161" name="KB1"/>
          <p:cNvSpPr/>
          <p:nvPr/>
        </p:nvSpPr>
        <p:spPr>
          <a:xfrm>
            <a:off x="4953000" y="2895600"/>
            <a:ext cx="3556000" cy="660400"/>
          </a:xfrm>
          <a:prstGeom prst="roundRect">
            <a:avLst>
              <a:gd name="adj" fmla="val 8000"/>
            </a:avLst>
          </a:prstGeom>
          <a:solidFill>
            <a:srgbClr val="D46A2E"/>
          </a:solidFill>
          <a:ln>
            <a:noFill/>
          </a:ln>
        </p:spPr>
        <p:txBody>
          <a:bodyPr lIns="54000" tIns="36000" rIns="54000" bIns="36000" anchor="ctr"/>
          <a:lstStyle/>
          <a:p>
            <a:pPr algn="ctr">
              <a:buNone/>
            </a:pPr>
            <a:r>
              <a:rPr lang="en-US" sz="1100" dirty="0">
                <a:solidFill>
                  <a:srgbClr val="FFFFFF"/>
                </a:solidFill>
                <a:latin typeface="Segoe UI"/>
              </a:rPr>
              <a:t>MAX31865 captures register
Data stored internally</a:t>
            </a:r>
          </a:p>
        </p:txBody>
      </p:sp>
      <p:sp>
        <p:nvSpPr>
          <p:cNvPr id="170" name="HB0"/>
          <p:cNvSpPr/>
          <p:nvPr/>
        </p:nvSpPr>
        <p:spPr>
          <a:xfrm>
            <a:off x="698500" y="4419600"/>
            <a:ext cx="3175000" cy="571500"/>
          </a:xfrm>
          <a:prstGeom prst="roundRect">
            <a:avLst>
              <a:gd name="adj" fmla="val 8000"/>
            </a:avLst>
          </a:prstGeom>
          <a:solidFill>
            <a:srgbClr val="2D6E4F"/>
          </a:solidFill>
          <a:ln>
            <a:noFill/>
          </a:ln>
        </p:spPr>
        <p:txBody>
          <a:bodyPr lIns="54000" tIns="36000" rIns="54000" bIns="36000" anchor="ctr"/>
          <a:lstStyle/>
          <a:p>
            <a:pPr algn="ctr">
              <a:buNone/>
            </a:pPr>
            <a:r>
              <a:rPr lang="en-US" sz="1100" dirty="0">
                <a:solidFill>
                  <a:srgbClr val="FFFFFF"/>
                </a:solidFill>
                <a:latin typeface="Segoe UI"/>
              </a:rPr>
              <a:t>MOSI: 0x01 (read reg 0x01)
</a:t>
            </a:r>
          </a:p>
        </p:txBody>
      </p:sp>
      <p:sp>
        <p:nvSpPr>
          <p:cNvPr id="171" name="HB1"/>
          <p:cNvSpPr/>
          <p:nvPr/>
        </p:nvSpPr>
        <p:spPr>
          <a:xfrm>
            <a:off x="4572000" y="4419600"/>
            <a:ext cx="3175000" cy="571500"/>
          </a:xfrm>
          <a:prstGeom prst="roundRect">
            <a:avLst>
              <a:gd name="adj" fmla="val 8000"/>
            </a:avLst>
          </a:prstGeom>
          <a:solidFill>
            <a:srgbClr val="2D6E4F"/>
          </a:solidFill>
          <a:ln>
            <a:noFill/>
          </a:ln>
        </p:spPr>
        <p:txBody>
          <a:bodyPr lIns="54000" tIns="36000" rIns="54000" bIns="36000" anchor="ctr"/>
          <a:lstStyle/>
          <a:p>
            <a:pPr algn="ctr">
              <a:buNone/>
            </a:pPr>
            <a:r>
              <a:rPr lang="en-US" sz="1100" dirty="0">
                <a:solidFill>
                  <a:srgbClr val="FFFFFF"/>
                </a:solidFill>
                <a:latin typeface="Segoe UI"/>
              </a:rPr>
              <a:t>Register 0x01 selected
Data captured for next read</a:t>
            </a:r>
          </a:p>
        </p:txBody>
      </p:sp>
      <p:sp>
        <p:nvSpPr>
          <p:cNvPr id="270" name="CR"/>
          <p:cNvSpPr/>
          <p:nvPr/>
        </p:nvSpPr>
        <p:spPr>
          <a:xfrm>
            <a:off x="444500" y="5461000"/>
            <a:ext cx="11303000" cy="736600"/>
          </a:xfrm>
          <a:prstGeom prst="roundRect">
            <a:avLst>
              <a:gd name="adj" fmla="val 5000"/>
            </a:avLst>
          </a:prstGeom>
          <a:solidFill>
            <a:srgbClr val="1E293B"/>
          </a:solidFill>
          <a:ln>
            <a:noFill/>
          </a:ln>
        </p:spPr>
        <p:txBody>
          <a:bodyPr lIns="144000" tIns="36000" rIns="144000" bIns="36000" anchor="ctr"/>
          <a:lstStyle/>
          <a:p>
            <a:pPr>
              <a:buNone/>
            </a:pPr>
            <a:r>
              <a:rPr lang="en-US" sz="1200" dirty="0">
                <a:solidFill>
                  <a:srgbClr val="94A3B8"/>
                </a:solidFill>
                <a:latin typeface="Consolas"/>
              </a:rPr>
              <a:t>// Phase 1: rnum=1 tells kernel “perform SPI read transaction for this register”</a:t>
            </a:r>
          </a:p>
          <a:p>
            <a:pPr>
              <a:spcBef>
                <a:spcPts val="100"/>
              </a:spcBef>
              <a:buNone/>
            </a:pPr>
            <a:r>
              <a:rPr lang="en-US" sz="1200" dirty="0">
                <a:solidFill>
                  <a:srgbClr val="E2E8F0"/>
                </a:solidFill>
                <a:latin typeface="Consolas"/>
              </a:rPr>
              <a:t>write(fd, &amp;tf_obj_snd, MEASOBJ_SIZE);  read(fd, &amp;tf_obj_rcv, MEASOBJ_SIZE);</a:t>
            </a:r>
          </a:p>
        </p:txBody>
      </p:sp>
      <p:cxnSp>
        <p:nvCxnSpPr>
          <p:cNvPr id="290" name="BL1"/>
          <p:cNvCxnSpPr/>
          <p:nvPr/>
        </p:nvCxnSpPr>
        <p:spPr>
          <a:xfrm>
            <a:off x="0" y="6578600"/>
            <a:ext cx="12192000" cy="0"/>
          </a:xfrm>
          <a:prstGeom prst="line">
            <a:avLst/>
          </a:prstGeom>
          <a:ln w="25400">
            <a:solidFill>
              <a:srgbClr val="D46A2E"/>
            </a:solidFill>
          </a:ln>
        </p:spPr>
      </p:cxnSp>
      <p:cxnSp>
        <p:nvCxnSpPr>
          <p:cNvPr id="291" name="BL2"/>
          <p:cNvCxnSpPr/>
          <p:nvPr/>
        </p:nvCxnSpPr>
        <p:spPr>
          <a:xfrm>
            <a:off x="0" y="6667500"/>
            <a:ext cx="12192000" cy="0"/>
          </a:xfrm>
          <a:prstGeom prst="line">
            <a:avLst/>
          </a:prstGeom>
          <a:ln w="38100">
            <a:solidFill>
              <a:srgbClr val="1B2A4A"/>
            </a:solidFill>
          </a:ln>
        </p:spPr>
      </p:cxnSp>
    </p:spTree>
    <p:extLst>
      <p:ext uri="{BB962C8B-B14F-4D97-AF65-F5344CB8AC3E}">
        <p14:creationId xmlns:p14="http://schemas.microsoft.com/office/powerpoint/2010/main" val="25857364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H"/>
          <p:cNvSpPr/>
          <p:nvPr/>
        </p:nvSpPr>
        <p:spPr>
          <a:xfrm>
            <a:off x="0" y="0"/>
            <a:ext cx="12192000" cy="660400"/>
          </a:xfrm>
          <a:prstGeom prst="rect">
            <a:avLst/>
          </a:prstGeom>
          <a:solidFill>
            <a:srgbClr val="2D6E4F"/>
          </a:solidFill>
          <a:ln>
            <a:noFill/>
          </a:ln>
        </p:spPr>
        <p:txBody>
          <a:bodyPr lIns="216000" anchor="ctr"/>
          <a:lstStyle/>
          <a:p>
            <a:pPr>
              <a:buNone/>
            </a:pPr>
            <a:r>
              <a:rPr lang="en-US" sz="1800" b="1" dirty="0">
                <a:solidFill>
                  <a:srgbClr val="FFFFFF"/>
                </a:solidFill>
                <a:latin typeface="Segoe UI"/>
              </a:rPr>
              <a:t>Read Step 3 — Poll Status (Identical to Write Poll)</a:t>
            </a:r>
          </a:p>
        </p:txBody>
      </p:sp>
      <p:cxnSp>
        <p:nvCxnSpPr>
          <p:cNvPr id="101" name="AL"/>
          <p:cNvCxnSpPr/>
          <p:nvPr/>
        </p:nvCxnSpPr>
        <p:spPr>
          <a:xfrm>
            <a:off x="0" y="660400"/>
            <a:ext cx="12192000" cy="0"/>
          </a:xfrm>
          <a:prstGeom prst="line">
            <a:avLst/>
          </a:prstGeom>
          <a:ln w="25400">
            <a:solidFill>
              <a:srgbClr val="D46A2E"/>
            </a:solidFill>
          </a:ln>
        </p:spPr>
      </p:cxnSp>
      <p:sp>
        <p:nvSpPr>
          <p:cNvPr id="102" name="KP"/>
          <p:cNvSpPr/>
          <p:nvPr/>
        </p:nvSpPr>
        <p:spPr>
          <a:xfrm>
            <a:off x="406400" y="787400"/>
            <a:ext cx="11379200" cy="533400"/>
          </a:xfrm>
          <a:prstGeom prst="roundRect">
            <a:avLst>
              <a:gd name="adj" fmla="val 8000"/>
            </a:avLst>
          </a:prstGeom>
          <a:solidFill>
            <a:srgbClr val="EDE9FE"/>
          </a:solidFill>
          <a:ln w="12700">
            <a:solidFill>
              <a:srgbClr val="7B5EA7"/>
            </a:solidFill>
          </a:ln>
        </p:spPr>
        <p:txBody>
          <a:bodyPr lIns="108000" tIns="18000" rIns="108000" bIns="18000" anchor="ctr"/>
          <a:lstStyle/>
          <a:p>
            <a:pPr>
              <a:buNone/>
            </a:pPr>
            <a:r>
              <a:rPr lang="en-US" sz="1400" b="1" dirty="0">
                <a:solidFill>
                  <a:srgbClr val="7B5EA7"/>
                </a:solidFill>
                <a:latin typeface="Segoe UI"/>
              </a:rPr>
              <a:t>Key: </a:t>
            </a:r>
            <a:r>
              <a:rPr lang="en-US" sz="1400" dirty="0">
                <a:solidFill>
                  <a:srgbClr val="2D3748"/>
                </a:solidFill>
                <a:latin typeface="Segoe UI"/>
              </a:rPr>
              <a:t>The poll loop for read is IDENTICAL to the write poll (same rnum=0xFF query, same do-while, same exit conditions)</a:t>
            </a:r>
          </a:p>
        </p:txBody>
      </p:sp>
      <p:sp>
        <p:nvSpPr>
          <p:cNvPr id="110" name="FC0"/>
          <p:cNvSpPr/>
          <p:nvPr/>
        </p:nvSpPr>
        <p:spPr>
          <a:xfrm>
            <a:off x="406400" y="1498600"/>
            <a:ext cx="5461000" cy="635000"/>
          </a:xfrm>
          <a:prstGeom prst="roundRect">
            <a:avLst>
              <a:gd name="adj" fmla="val 8000"/>
            </a:avLst>
          </a:prstGeom>
          <a:solidFill>
            <a:srgbClr val="1B2A4A"/>
          </a:solidFill>
          <a:ln>
            <a:noFill/>
          </a:ln>
        </p:spPr>
        <p:txBody>
          <a:bodyPr lIns="72000" tIns="36000" rIns="72000" bIns="36000" anchor="ctr"/>
          <a:lstStyle/>
          <a:p>
            <a:pPr algn="ctr">
              <a:buNone/>
            </a:pPr>
            <a:r>
              <a:rPr lang="en-US" sz="1200" dirty="0">
                <a:solidFill>
                  <a:srgbClr val="FFFFFF"/>
                </a:solidFill>
                <a:latin typeface="Segoe UI"/>
              </a:rPr>
              <a:t>After write(fd): SPI read running in hardware
Set rnum = 0xFF (query mode)</a:t>
            </a:r>
          </a:p>
        </p:txBody>
      </p:sp>
      <p:cxnSp>
        <p:nvCxnSpPr>
          <p:cNvPr id="115" name="FA0"/>
          <p:cNvCxnSpPr/>
          <p:nvPr/>
        </p:nvCxnSpPr>
        <p:spPr>
          <a:xfrm>
            <a:off x="3136900" y="2133600"/>
            <a:ext cx="0" cy="177800"/>
          </a:xfrm>
          <a:prstGeom prst="line">
            <a:avLst/>
          </a:prstGeom>
          <a:ln w="19050">
            <a:solidFill>
              <a:srgbClr val="D46A2E"/>
            </a:solidFill>
            <a:tailEnd type="triangle" w="med" len="med"/>
          </a:ln>
        </p:spPr>
      </p:cxnSp>
      <p:sp>
        <p:nvSpPr>
          <p:cNvPr id="111" name="FC1"/>
          <p:cNvSpPr/>
          <p:nvPr/>
        </p:nvSpPr>
        <p:spPr>
          <a:xfrm>
            <a:off x="406400" y="2311400"/>
            <a:ext cx="5461000" cy="914400"/>
          </a:xfrm>
          <a:prstGeom prst="roundRect">
            <a:avLst>
              <a:gd name="adj" fmla="val 8000"/>
            </a:avLst>
          </a:prstGeom>
          <a:solidFill>
            <a:srgbClr val="EDE9FE"/>
          </a:solidFill>
          <a:ln w="12700">
            <a:solidFill>
              <a:srgbClr val="7B5EA7"/>
            </a:solidFill>
          </a:ln>
        </p:spPr>
        <p:txBody>
          <a:bodyPr lIns="72000" tIns="36000" rIns="72000" bIns="36000" anchor="ctr"/>
          <a:lstStyle/>
          <a:p>
            <a:pPr algn="ctr">
              <a:buNone/>
            </a:pPr>
            <a:r>
              <a:rPr lang="en-US" sz="1200" dirty="0">
                <a:solidFill>
                  <a:srgbClr val="7B5EA7"/>
                </a:solidFill>
                <a:latin typeface="Segoe UI"/>
              </a:rPr>
              <a:t>do-while Poll Loop
1. write(fd) — send query
2. read(fd) — get xdata
3. k++</a:t>
            </a:r>
          </a:p>
        </p:txBody>
      </p:sp>
      <p:cxnSp>
        <p:nvCxnSpPr>
          <p:cNvPr id="116" name="FA1"/>
          <p:cNvCxnSpPr/>
          <p:nvPr/>
        </p:nvCxnSpPr>
        <p:spPr>
          <a:xfrm>
            <a:off x="3136900" y="3225800"/>
            <a:ext cx="0" cy="177800"/>
          </a:xfrm>
          <a:prstGeom prst="line">
            <a:avLst/>
          </a:prstGeom>
          <a:ln w="19050">
            <a:solidFill>
              <a:srgbClr val="D46A2E"/>
            </a:solidFill>
            <a:tailEnd type="triangle" w="med" len="med"/>
          </a:ln>
        </p:spPr>
      </p:cxnSp>
      <p:sp>
        <p:nvSpPr>
          <p:cNvPr id="112" name="FC2"/>
          <p:cNvSpPr/>
          <p:nvPr/>
        </p:nvSpPr>
        <p:spPr>
          <a:xfrm>
            <a:off x="406400" y="3403600"/>
            <a:ext cx="5461000" cy="635000"/>
          </a:xfrm>
          <a:prstGeom prst="roundRect">
            <a:avLst>
              <a:gd name="adj" fmla="val 8000"/>
            </a:avLst>
          </a:prstGeom>
          <a:solidFill>
            <a:srgbClr val="FFF3E0"/>
          </a:solidFill>
          <a:ln w="12700">
            <a:solidFill>
              <a:srgbClr val="D46A2E"/>
            </a:solidFill>
          </a:ln>
        </p:spPr>
        <p:txBody>
          <a:bodyPr lIns="72000" tIns="36000" rIns="72000" bIns="36000" anchor="ctr"/>
          <a:lstStyle/>
          <a:p>
            <a:pPr algn="ctr">
              <a:buNone/>
            </a:pPr>
            <a:r>
              <a:rPr lang="en-US" sz="1200" dirty="0">
                <a:solidFill>
                  <a:srgbClr val="D46A2E"/>
                </a:solidFill>
                <a:latin typeface="Segoe UI"/>
              </a:rPr>
              <a:t>Exit Condition
(xdata &amp; 0x01)==0 AND k&lt;1000 ?</a:t>
            </a:r>
          </a:p>
        </p:txBody>
      </p:sp>
      <p:sp>
        <p:nvSpPr>
          <p:cNvPr id="120" name="Done"/>
          <p:cNvSpPr/>
          <p:nvPr/>
        </p:nvSpPr>
        <p:spPr>
          <a:xfrm>
            <a:off x="406400" y="4254500"/>
            <a:ext cx="2667000" cy="635000"/>
          </a:xfrm>
          <a:prstGeom prst="roundRect">
            <a:avLst>
              <a:gd name="adj" fmla="val 10000"/>
            </a:avLst>
          </a:prstGeom>
          <a:solidFill>
            <a:srgbClr val="F0FDF4"/>
          </a:solidFill>
          <a:ln w="12700">
            <a:solidFill>
              <a:srgbClr val="2D6E4F"/>
            </a:solidFill>
          </a:ln>
        </p:spPr>
        <p:txBody>
          <a:bodyPr lIns="54000" tIns="18000" rIns="54000" bIns="18000" anchor="ctr"/>
          <a:lstStyle/>
          <a:p>
            <a:pPr algn="ctr">
              <a:buNone/>
            </a:pPr>
            <a:r>
              <a:rPr lang="en-US" sz="1400" b="1" dirty="0">
                <a:solidFill>
                  <a:srgbClr val="2D6E4F"/>
                </a:solidFill>
                <a:latin typeface="Segoe UI"/>
              </a:rPr>
              <a:t>✓ Done (bit0=1)</a:t>
            </a:r>
          </a:p>
          <a:p>
            <a:pPr algn="ctr">
              <a:buNone/>
            </a:pPr>
            <a:r>
              <a:rPr lang="en-US" sz="1100" dirty="0">
                <a:solidFill>
                  <a:srgbClr val="6B7280"/>
                </a:solidFill>
                <a:latin typeface="Segoe UI"/>
              </a:rPr>
              <a:t>→ Proceed to Phase 2</a:t>
            </a:r>
          </a:p>
        </p:txBody>
      </p:sp>
      <p:sp>
        <p:nvSpPr>
          <p:cNvPr id="121" name="TO"/>
          <p:cNvSpPr/>
          <p:nvPr/>
        </p:nvSpPr>
        <p:spPr>
          <a:xfrm>
            <a:off x="3200400" y="4254500"/>
            <a:ext cx="2667000" cy="635000"/>
          </a:xfrm>
          <a:prstGeom prst="roundRect">
            <a:avLst>
              <a:gd name="adj" fmla="val 10000"/>
            </a:avLst>
          </a:prstGeom>
          <a:solidFill>
            <a:srgbClr val="FEE2E2"/>
          </a:solidFill>
          <a:ln w="12700">
            <a:solidFill>
              <a:srgbClr val="DC2626"/>
            </a:solidFill>
          </a:ln>
        </p:spPr>
        <p:txBody>
          <a:bodyPr lIns="54000" tIns="18000" rIns="54000" bIns="18000" anchor="ctr"/>
          <a:lstStyle/>
          <a:p>
            <a:pPr algn="ctr">
              <a:buNone/>
            </a:pPr>
            <a:r>
              <a:rPr lang="en-US" sz="1400" b="1" dirty="0">
                <a:solidFill>
                  <a:srgbClr val="DC2626"/>
                </a:solidFill>
                <a:latin typeface="Segoe UI"/>
              </a:rPr>
              <a:t>✗ Timeout (k≥1000)</a:t>
            </a:r>
          </a:p>
          <a:p>
            <a:pPr algn="ctr">
              <a:buNone/>
            </a:pPr>
            <a:r>
              <a:rPr lang="en-US" sz="1100" dirty="0">
                <a:solidFill>
                  <a:srgbClr val="6B7280"/>
                </a:solidFill>
                <a:latin typeface="Segoe UI"/>
              </a:rPr>
              <a:t>→ Error returned</a:t>
            </a:r>
          </a:p>
        </p:txBody>
      </p:sp>
      <p:sp>
        <p:nvSpPr>
          <p:cNvPr id="271" name="CB"/>
          <p:cNvSpPr/>
          <p:nvPr/>
        </p:nvSpPr>
        <p:spPr>
          <a:xfrm>
            <a:off x="6223000" y="1498600"/>
            <a:ext cx="5588000" cy="3479800"/>
          </a:xfrm>
          <a:prstGeom prst="roundRect">
            <a:avLst>
              <a:gd name="adj" fmla="val 3000"/>
            </a:avLst>
          </a:prstGeom>
          <a:solidFill>
            <a:srgbClr val="1E293B"/>
          </a:solidFill>
          <a:ln>
            <a:noFill/>
          </a:ln>
        </p:spPr>
        <p:txBody>
          <a:bodyPr lIns="108000" tIns="54000" rIns="72000" bIns="54000" anchor="t"/>
          <a:lstStyle/>
          <a:p>
            <a:pPr>
              <a:buNone/>
            </a:pPr>
            <a:r>
              <a:rPr lang="en-US" sz="1100" dirty="0">
                <a:solidFill>
                  <a:srgbClr val="94A3B8"/>
                </a:solidFill>
                <a:latin typeface="Consolas"/>
              </a:rPr>
              <a:t>// Poll — Wait for SPI read to finish</a:t>
            </a:r>
          </a:p>
          <a:p>
            <a:pPr>
              <a:spcBef>
                <a:spcPts val="200"/>
              </a:spcBef>
              <a:buNone/>
            </a:pPr>
            <a:r>
              <a:rPr lang="en-US" sz="1100" dirty="0">
                <a:solidFill>
                  <a:srgbClr val="E2E8F0"/>
                </a:solidFill>
                <a:latin typeface="Consolas"/>
              </a:rPr>
              <a:t>tf_obj_snd.rnum = 0xFF;</a:t>
            </a:r>
          </a:p>
          <a:p>
            <a:pPr>
              <a:spcBef>
                <a:spcPts val="200"/>
              </a:spcBef>
              <a:buNone/>
            </a:pPr>
            <a:r>
              <a:rPr lang="en-US" sz="1100" dirty="0">
                <a:solidFill>
                  <a:srgbClr val="C084FC"/>
                </a:solidFill>
                <a:latin typeface="Consolas"/>
              </a:rPr>
              <a:t>do</a:t>
            </a:r>
            <a:r>
              <a:rPr lang="en-US" sz="1100" dirty="0">
                <a:solidFill>
                  <a:srgbClr val="E2E8F0"/>
                </a:solidFill>
                <a:latin typeface="Consolas"/>
              </a:rPr>
              <a:t> {</a:t>
            </a:r>
          </a:p>
          <a:p>
            <a:pPr>
              <a:buNone/>
            </a:pPr>
            <a:r>
              <a:rPr lang="en-US" sz="1100" dirty="0">
                <a:solidFill>
                  <a:srgbClr val="E2E8F0"/>
                </a:solidFill>
                <a:latin typeface="Consolas"/>
              </a:rPr>
              <a:t>  write(fd, &amp;tf_obj_snd, ...);</a:t>
            </a:r>
          </a:p>
          <a:p>
            <a:pPr>
              <a:buNone/>
            </a:pPr>
            <a:r>
              <a:rPr lang="en-US" sz="1100" dirty="0">
                <a:solidFill>
                  <a:srgbClr val="E2E8F0"/>
                </a:solidFill>
                <a:latin typeface="Consolas"/>
              </a:rPr>
              <a:t>  read(fd, &amp;tf_obj_rcv, ...);</a:t>
            </a:r>
          </a:p>
          <a:p>
            <a:pPr>
              <a:buNone/>
            </a:pPr>
            <a:r>
              <a:rPr lang="en-US" sz="1100" dirty="0">
                <a:solidFill>
                  <a:srgbClr val="E2E8F0"/>
                </a:solidFill>
                <a:latin typeface="Consolas"/>
              </a:rPr>
              <a:t>  xdata = tf_obj_rcv.rvalue;</a:t>
            </a:r>
          </a:p>
          <a:p>
            <a:pPr>
              <a:buNone/>
            </a:pPr>
            <a:r>
              <a:rPr lang="en-US" sz="1100" dirty="0">
                <a:solidFill>
                  <a:srgbClr val="E2E8F0"/>
                </a:solidFill>
                <a:latin typeface="Consolas"/>
              </a:rPr>
              <a:t>  k++;</a:t>
            </a:r>
          </a:p>
          <a:p>
            <a:pPr>
              <a:buNone/>
            </a:pPr>
            <a:r>
              <a:rPr lang="en-US" sz="1100" dirty="0">
                <a:solidFill>
                  <a:srgbClr val="E2E8F0"/>
                </a:solidFill>
                <a:latin typeface="Consolas"/>
              </a:rPr>
              <a:t>} </a:t>
            </a:r>
            <a:r>
              <a:rPr lang="en-US" sz="1100" dirty="0">
                <a:solidFill>
                  <a:srgbClr val="C084FC"/>
                </a:solidFill>
                <a:latin typeface="Consolas"/>
              </a:rPr>
              <a:t>while</a:t>
            </a:r>
            <a:r>
              <a:rPr lang="en-US" sz="1100" dirty="0">
                <a:solidFill>
                  <a:srgbClr val="E2E8F0"/>
                </a:solidFill>
                <a:latin typeface="Consolas"/>
              </a:rPr>
              <a:t>((xdata &amp; 0x01)==0</a:t>
            </a:r>
          </a:p>
          <a:p>
            <a:pPr>
              <a:buNone/>
            </a:pPr>
            <a:r>
              <a:rPr lang="en-US" sz="1100" dirty="0">
                <a:solidFill>
                  <a:srgbClr val="E2E8F0"/>
                </a:solidFill>
                <a:latin typeface="Consolas"/>
              </a:rPr>
              <a:t>       &amp;&amp; k &lt; 1000);</a:t>
            </a:r>
          </a:p>
          <a:p>
            <a:pPr>
              <a:spcBef>
                <a:spcPts val="300"/>
              </a:spcBef>
              <a:buNone/>
            </a:pPr>
            <a:r>
              <a:rPr lang="en-US" sz="1100" dirty="0">
                <a:solidFill>
                  <a:srgbClr val="94A3B8"/>
                </a:solidFill>
                <a:latin typeface="Consolas"/>
              </a:rPr>
              <a:t>// Same loop as writeMAXSpi...</a:t>
            </a:r>
          </a:p>
          <a:p>
            <a:pPr>
              <a:buNone/>
            </a:pPr>
            <a:r>
              <a:rPr lang="en-US" sz="1100" dirty="0">
                <a:solidFill>
                  <a:srgbClr val="94A3B8"/>
                </a:solidFill>
                <a:latin typeface="Consolas"/>
              </a:rPr>
              <a:t>// Exits when SPI read done</a:t>
            </a:r>
          </a:p>
        </p:txBody>
      </p:sp>
      <p:sp>
        <p:nvSpPr>
          <p:cNvPr id="270" name="CL"/>
          <p:cNvSpPr/>
          <p:nvPr/>
        </p:nvSpPr>
        <p:spPr>
          <a:xfrm>
            <a:off x="6223000" y="1219200"/>
            <a:ext cx="2794000" cy="279400"/>
          </a:xfrm>
          <a:prstGeom prst="roundRect">
            <a:avLst>
              <a:gd name="adj" fmla="val 25000"/>
            </a:avLst>
          </a:prstGeom>
          <a:solidFill>
            <a:srgbClr val="D46A2E"/>
          </a:solidFill>
          <a:ln>
            <a:noFill/>
          </a:ln>
        </p:spPr>
        <p:txBody>
          <a:bodyPr lIns="54000" tIns="0" rIns="54000" bIns="0" anchor="ctr"/>
          <a:lstStyle/>
          <a:p>
            <a:pPr algn="ctr">
              <a:buNone/>
            </a:pPr>
            <a:r>
              <a:rPr lang="en-US" sz="1000" b="1" dirty="0">
                <a:solidFill>
                  <a:srgbClr val="FFFFFF"/>
                </a:solidFill>
                <a:latin typeface="Segoe UI"/>
              </a:rPr>
              <a:t>utils.c — Lines 47-55</a:t>
            </a:r>
          </a:p>
        </p:txBody>
      </p:sp>
      <p:sp>
        <p:nvSpPr>
          <p:cNvPr id="280" name="Note"/>
          <p:cNvSpPr txBox="1"/>
          <p:nvPr/>
        </p:nvSpPr>
        <p:spPr>
          <a:xfrm>
            <a:off x="406400" y="5143500"/>
            <a:ext cx="11379200" cy="635000"/>
          </a:xfrm>
          <a:prstGeom prst="rect">
            <a:avLst/>
          </a:prstGeom>
          <a:noFill/>
          <a:ln>
            <a:noFill/>
          </a:ln>
        </p:spPr>
        <p:txBody>
          <a:bodyPr lIns="72000" anchor="t"/>
          <a:lstStyle/>
          <a:p>
            <a:pPr>
              <a:buNone/>
            </a:pPr>
            <a:r>
              <a:rPr lang="en-US" sz="1200" i="1" dirty="0">
                <a:solidFill>
                  <a:srgbClr val="9CA3AF"/>
                </a:solidFill>
                <a:latin typeface="Segoe UI"/>
              </a:rPr>
              <a:t>Note: writeMAXSpiInterface() lines 91–99 and readMAXSpiInterface()  identical poll logic. Code reuse is intentional — both operations need to confirm SPI bus completion.</a:t>
            </a:r>
          </a:p>
        </p:txBody>
      </p:sp>
      <p:cxnSp>
        <p:nvCxnSpPr>
          <p:cNvPr id="290" name="BL1"/>
          <p:cNvCxnSpPr/>
          <p:nvPr/>
        </p:nvCxnSpPr>
        <p:spPr>
          <a:xfrm>
            <a:off x="0" y="6578600"/>
            <a:ext cx="12192000" cy="0"/>
          </a:xfrm>
          <a:prstGeom prst="line">
            <a:avLst/>
          </a:prstGeom>
          <a:ln w="25400">
            <a:solidFill>
              <a:srgbClr val="D46A2E"/>
            </a:solidFill>
          </a:ln>
        </p:spPr>
      </p:cxnSp>
      <p:cxnSp>
        <p:nvCxnSpPr>
          <p:cNvPr id="291" name="BL2"/>
          <p:cNvCxnSpPr/>
          <p:nvPr/>
        </p:nvCxnSpPr>
        <p:spPr>
          <a:xfrm>
            <a:off x="0" y="6667500"/>
            <a:ext cx="12192000" cy="0"/>
          </a:xfrm>
          <a:prstGeom prst="line">
            <a:avLst/>
          </a:prstGeom>
          <a:ln w="38100">
            <a:solidFill>
              <a:srgbClr val="1B2A4A"/>
            </a:solidFill>
          </a:ln>
        </p:spPr>
      </p:cxnSp>
    </p:spTree>
    <p:extLst>
      <p:ext uri="{BB962C8B-B14F-4D97-AF65-F5344CB8AC3E}">
        <p14:creationId xmlns:p14="http://schemas.microsoft.com/office/powerpoint/2010/main" val="10325583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5FFBC-D066-D4AD-F000-48C83469871E}"/>
            </a:ext>
          </a:extLst>
        </p:cNvPr>
        <p:cNvGrpSpPr/>
        <p:nvPr/>
      </p:nvGrpSpPr>
      <p:grpSpPr>
        <a:xfrm>
          <a:off x="0" y="0"/>
          <a:ext cx="0" cy="0"/>
          <a:chOff x="0" y="0"/>
          <a:chExt cx="0" cy="0"/>
        </a:xfrm>
      </p:grpSpPr>
      <p:sp>
        <p:nvSpPr>
          <p:cNvPr id="100" name="H">
            <a:extLst>
              <a:ext uri="{FF2B5EF4-FFF2-40B4-BE49-F238E27FC236}">
                <a16:creationId xmlns:a16="http://schemas.microsoft.com/office/drawing/2014/main" id="{DFD93773-DAC3-D622-3D7D-56E356B2AAE9}"/>
              </a:ext>
            </a:extLst>
          </p:cNvPr>
          <p:cNvSpPr/>
          <p:nvPr/>
        </p:nvSpPr>
        <p:spPr>
          <a:xfrm>
            <a:off x="0" y="0"/>
            <a:ext cx="12192000" cy="660400"/>
          </a:xfrm>
          <a:prstGeom prst="rect">
            <a:avLst/>
          </a:prstGeom>
          <a:solidFill>
            <a:schemeClr val="accent1">
              <a:lumMod val="75000"/>
            </a:schemeClr>
          </a:solidFill>
          <a:ln>
            <a:noFill/>
          </a:ln>
        </p:spPr>
        <p:txBody>
          <a:bodyPr lIns="216000" anchor="ctr"/>
          <a:lstStyle/>
          <a:p>
            <a:pPr>
              <a:buNone/>
            </a:pPr>
            <a:r>
              <a:rPr lang="en-US" sz="1800" b="1" dirty="0">
                <a:solidFill>
                  <a:srgbClr val="FFFFFF"/>
                </a:solidFill>
                <a:latin typeface="Segoe UI"/>
              </a:rPr>
              <a:t>Phase 2-Read Step 4 of 5 — </a:t>
            </a:r>
            <a:r>
              <a:rPr kumimoji="0" lang="en-US" sz="19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Request Captured Data &amp; Mask to 8 bits  |  </a:t>
            </a:r>
            <a:r>
              <a:rPr kumimoji="0" lang="en-US" sz="1900" b="1"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rvalue</a:t>
            </a:r>
            <a:r>
              <a:rPr kumimoji="0" lang="en-US" sz="19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  →  </a:t>
            </a:r>
            <a:r>
              <a:rPr kumimoji="0" lang="en-US" sz="1900" b="1"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xdata</a:t>
            </a:r>
            <a:r>
              <a:rPr kumimoji="0" lang="en-US" sz="19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&amp;= 0xFF</a:t>
            </a:r>
            <a:endParaRPr lang="en-US" sz="1800" b="1" dirty="0">
              <a:solidFill>
                <a:srgbClr val="FFFFFF"/>
              </a:solidFill>
              <a:latin typeface="Segoe UI"/>
            </a:endParaRPr>
          </a:p>
        </p:txBody>
      </p:sp>
      <p:cxnSp>
        <p:nvCxnSpPr>
          <p:cNvPr id="101" name="AL">
            <a:extLst>
              <a:ext uri="{FF2B5EF4-FFF2-40B4-BE49-F238E27FC236}">
                <a16:creationId xmlns:a16="http://schemas.microsoft.com/office/drawing/2014/main" id="{9A5F924E-DC34-FC56-5A57-507285069B0B}"/>
              </a:ext>
            </a:extLst>
          </p:cNvPr>
          <p:cNvCxnSpPr/>
          <p:nvPr/>
        </p:nvCxnSpPr>
        <p:spPr>
          <a:xfrm>
            <a:off x="0" y="660400"/>
            <a:ext cx="12192000" cy="0"/>
          </a:xfrm>
          <a:prstGeom prst="line">
            <a:avLst/>
          </a:prstGeom>
          <a:ln w="25400">
            <a:solidFill>
              <a:srgbClr val="D46A2E"/>
            </a:solidFill>
          </a:ln>
        </p:spPr>
      </p:cxnSp>
      <p:sp>
        <p:nvSpPr>
          <p:cNvPr id="102" name="KP">
            <a:extLst>
              <a:ext uri="{FF2B5EF4-FFF2-40B4-BE49-F238E27FC236}">
                <a16:creationId xmlns:a16="http://schemas.microsoft.com/office/drawing/2014/main" id="{87F9E291-44D5-883A-26A3-2FEB1D3ADE5E}"/>
              </a:ext>
            </a:extLst>
          </p:cNvPr>
          <p:cNvSpPr/>
          <p:nvPr/>
        </p:nvSpPr>
        <p:spPr>
          <a:xfrm>
            <a:off x="406400" y="787400"/>
            <a:ext cx="11379200" cy="533400"/>
          </a:xfrm>
          <a:prstGeom prst="roundRect">
            <a:avLst>
              <a:gd name="adj" fmla="val 8000"/>
            </a:avLst>
          </a:prstGeom>
          <a:solidFill>
            <a:srgbClr val="EDE9FE"/>
          </a:solidFill>
          <a:ln w="12700">
            <a:solidFill>
              <a:srgbClr val="7B5EA7"/>
            </a:solidFill>
          </a:ln>
        </p:spPr>
        <p:txBody>
          <a:bodyPr lIns="108000" tIns="18000" rIns="108000" bIns="18000" anchor="ctr"/>
          <a:lstStyle/>
          <a:p>
            <a:pPr>
              <a:buNone/>
            </a:pPr>
            <a:r>
              <a:rPr lang="en-US" sz="1400" b="1" dirty="0">
                <a:solidFill>
                  <a:srgbClr val="7B5EA7"/>
                </a:solidFill>
                <a:latin typeface="Segoe UI"/>
              </a:rPr>
              <a:t>Key: </a:t>
            </a:r>
            <a:r>
              <a:rPr kumimoji="0" lang="en-US" sz="1400" b="1" i="0" u="none" strike="noStrike" kern="1200" cap="none" spc="0" normalizeH="0" baseline="0" noProof="0" dirty="0" err="1">
                <a:ln>
                  <a:noFill/>
                </a:ln>
                <a:effectLst/>
                <a:uLnTx/>
                <a:uFillTx/>
                <a:latin typeface="Calibri" pitchFamily="34" charset="0"/>
                <a:ea typeface="Calibri" pitchFamily="34" charset="-122"/>
                <a:cs typeface="Calibri" pitchFamily="34" charset="-120"/>
              </a:rPr>
              <a:t>rvalue</a:t>
            </a:r>
            <a:r>
              <a:rPr kumimoji="0" lang="en-US" sz="1400" b="1" i="0" u="none" strike="noStrike" kern="1200" cap="none" spc="0" normalizeH="0" baseline="0" noProof="0" dirty="0">
                <a:ln>
                  <a:noFill/>
                </a:ln>
                <a:effectLst/>
                <a:uLnTx/>
                <a:uFillTx/>
                <a:latin typeface="Calibri" pitchFamily="34" charset="0"/>
                <a:ea typeface="Calibri" pitchFamily="34" charset="-122"/>
                <a:cs typeface="Calibri" pitchFamily="34" charset="-120"/>
              </a:rPr>
              <a:t>=2 is the KEY difference that makes READ a two-phase protocol.  </a:t>
            </a:r>
            <a:r>
              <a:rPr kumimoji="0" lang="en-US" sz="1400" b="0" i="0" u="none" strike="noStrike" kern="1200" cap="none" spc="0" normalizeH="0" baseline="0" noProof="0" dirty="0" err="1">
                <a:ln>
                  <a:noFill/>
                </a:ln>
                <a:effectLst/>
                <a:uLnTx/>
                <a:uFillTx/>
                <a:latin typeface="Calibri" pitchFamily="34" charset="0"/>
                <a:ea typeface="Calibri" pitchFamily="34" charset="-122"/>
                <a:cs typeface="Calibri" pitchFamily="34" charset="-120"/>
              </a:rPr>
              <a:t>writeMAXSpiInterface</a:t>
            </a:r>
            <a:r>
              <a:rPr kumimoji="0" lang="en-US" sz="1400" b="0" i="0" u="none" strike="noStrike" kern="1200" cap="none" spc="0" normalizeH="0" baseline="0" noProof="0" dirty="0">
                <a:ln>
                  <a:noFill/>
                </a:ln>
                <a:effectLst/>
                <a:uLnTx/>
                <a:uFillTx/>
                <a:latin typeface="Calibri" pitchFamily="34" charset="0"/>
                <a:ea typeface="Calibri" pitchFamily="34" charset="-122"/>
                <a:cs typeface="Calibri" pitchFamily="34" charset="-120"/>
              </a:rPr>
              <a:t>() NEVER uses </a:t>
            </a:r>
            <a:r>
              <a:rPr kumimoji="0" lang="en-US" sz="1400" b="0" i="0" u="none" strike="noStrike" kern="1200" cap="none" spc="0" normalizeH="0" baseline="0" noProof="0" dirty="0" err="1">
                <a:ln>
                  <a:noFill/>
                </a:ln>
                <a:effectLst/>
                <a:uLnTx/>
                <a:uFillTx/>
                <a:latin typeface="Calibri" pitchFamily="34" charset="0"/>
                <a:ea typeface="Calibri" pitchFamily="34" charset="-122"/>
                <a:cs typeface="Calibri" pitchFamily="34" charset="-120"/>
              </a:rPr>
              <a:t>rvalue</a:t>
            </a:r>
            <a:r>
              <a:rPr kumimoji="0" lang="en-US" sz="1400" b="0" i="0" u="none" strike="noStrike" kern="1200" cap="none" spc="0" normalizeH="0" baseline="0" noProof="0" dirty="0">
                <a:ln>
                  <a:noFill/>
                </a:ln>
                <a:effectLst/>
                <a:uLnTx/>
                <a:uFillTx/>
                <a:latin typeface="Calibri" pitchFamily="34" charset="0"/>
                <a:ea typeface="Calibri" pitchFamily="34" charset="-122"/>
                <a:cs typeface="Calibri" pitchFamily="34" charset="-120"/>
              </a:rPr>
              <a:t>=2.  </a:t>
            </a:r>
            <a:r>
              <a:rPr kumimoji="0" lang="en-US" sz="1400" b="0" i="0" u="none" strike="noStrike" kern="1200" cap="none" spc="0" normalizeH="0" baseline="0" noProof="0" dirty="0" err="1">
                <a:ln>
                  <a:noFill/>
                </a:ln>
                <a:effectLst/>
                <a:uLnTx/>
                <a:uFillTx/>
                <a:latin typeface="Calibri" pitchFamily="34" charset="0"/>
                <a:ea typeface="Calibri" pitchFamily="34" charset="-122"/>
                <a:cs typeface="Calibri" pitchFamily="34" charset="-120"/>
              </a:rPr>
              <a:t>readMAXSpiInterface</a:t>
            </a:r>
            <a:r>
              <a:rPr kumimoji="0" lang="en-US" sz="1400" b="0" i="0" u="none" strike="noStrike" kern="1200" cap="none" spc="0" normalizeH="0" baseline="0" noProof="0" dirty="0">
                <a:ln>
                  <a:noFill/>
                </a:ln>
                <a:effectLst/>
                <a:uLnTx/>
                <a:uFillTx/>
                <a:latin typeface="Calibri" pitchFamily="34" charset="0"/>
                <a:ea typeface="Calibri" pitchFamily="34" charset="-122"/>
                <a:cs typeface="Calibri" pitchFamily="34" charset="-120"/>
              </a:rPr>
              <a:t>() uses </a:t>
            </a:r>
            <a:r>
              <a:rPr kumimoji="0" lang="en-US" sz="1400" b="0" i="0" u="none" strike="noStrike" kern="1200" cap="none" spc="0" normalizeH="0" baseline="0" noProof="0" dirty="0" err="1">
                <a:ln>
                  <a:noFill/>
                </a:ln>
                <a:effectLst/>
                <a:uLnTx/>
                <a:uFillTx/>
                <a:latin typeface="Calibri" pitchFamily="34" charset="0"/>
                <a:ea typeface="Calibri" pitchFamily="34" charset="-122"/>
                <a:cs typeface="Calibri" pitchFamily="34" charset="-120"/>
              </a:rPr>
              <a:t>rvalue</a:t>
            </a:r>
            <a:r>
              <a:rPr kumimoji="0" lang="en-US" sz="1400" b="0" i="0" u="none" strike="noStrike" kern="1200" cap="none" spc="0" normalizeH="0" baseline="0" noProof="0" dirty="0">
                <a:ln>
                  <a:noFill/>
                </a:ln>
                <a:effectLst/>
                <a:uLnTx/>
                <a:uFillTx/>
                <a:latin typeface="Calibri" pitchFamily="34" charset="0"/>
                <a:ea typeface="Calibri" pitchFamily="34" charset="-122"/>
                <a:cs typeface="Calibri" pitchFamily="34" charset="-120"/>
              </a:rPr>
              <a:t>=2 ONLY AFTER the poll confirms the SPI read is done.  </a:t>
            </a:r>
            <a:r>
              <a:rPr kumimoji="0" lang="en-US" sz="1400" b="0" i="0" u="none" strike="noStrike" kern="1200" cap="none" spc="0" normalizeH="0" baseline="0" noProof="0" dirty="0" err="1">
                <a:ln>
                  <a:noFill/>
                </a:ln>
                <a:effectLst/>
                <a:uLnTx/>
                <a:uFillTx/>
                <a:latin typeface="Calibri" pitchFamily="34" charset="0"/>
                <a:ea typeface="Calibri" pitchFamily="34" charset="-122"/>
                <a:cs typeface="Calibri" pitchFamily="34" charset="-120"/>
              </a:rPr>
              <a:t>rvalue</a:t>
            </a:r>
            <a:r>
              <a:rPr kumimoji="0" lang="en-US" sz="1400" b="0" i="0" u="none" strike="noStrike" kern="1200" cap="none" spc="0" normalizeH="0" baseline="0" noProof="0" dirty="0">
                <a:ln>
                  <a:noFill/>
                </a:ln>
                <a:effectLst/>
                <a:uLnTx/>
                <a:uFillTx/>
                <a:latin typeface="Calibri" pitchFamily="34" charset="0"/>
                <a:ea typeface="Calibri" pitchFamily="34" charset="-122"/>
                <a:cs typeface="Calibri" pitchFamily="34" charset="-120"/>
              </a:rPr>
              <a:t>=1 asks 'are you done?'  |  </a:t>
            </a:r>
            <a:r>
              <a:rPr kumimoji="0" lang="en-US" sz="1400" b="0" i="0" u="none" strike="noStrike" kern="1200" cap="none" spc="0" normalizeH="0" baseline="0" noProof="0" dirty="0" err="1">
                <a:ln>
                  <a:noFill/>
                </a:ln>
                <a:effectLst/>
                <a:uLnTx/>
                <a:uFillTx/>
                <a:latin typeface="Calibri" pitchFamily="34" charset="0"/>
                <a:ea typeface="Calibri" pitchFamily="34" charset="-122"/>
                <a:cs typeface="Calibri" pitchFamily="34" charset="-120"/>
              </a:rPr>
              <a:t>rvalue</a:t>
            </a:r>
            <a:r>
              <a:rPr kumimoji="0" lang="en-US" sz="1400" b="0" i="0" u="none" strike="noStrike" kern="1200" cap="none" spc="0" normalizeH="0" baseline="0" noProof="0" dirty="0">
                <a:ln>
                  <a:noFill/>
                </a:ln>
                <a:effectLst/>
                <a:uLnTx/>
                <a:uFillTx/>
                <a:latin typeface="Calibri" pitchFamily="34" charset="0"/>
                <a:ea typeface="Calibri" pitchFamily="34" charset="-122"/>
                <a:cs typeface="Calibri" pitchFamily="34" charset="-120"/>
              </a:rPr>
              <a:t>=2 asks 'give me the data you captured'.</a:t>
            </a:r>
            <a:endParaRPr lang="en-US" sz="1400" dirty="0">
              <a:latin typeface="Segoe UI"/>
            </a:endParaRPr>
          </a:p>
        </p:txBody>
      </p:sp>
      <p:sp>
        <p:nvSpPr>
          <p:cNvPr id="110" name="FC0">
            <a:extLst>
              <a:ext uri="{FF2B5EF4-FFF2-40B4-BE49-F238E27FC236}">
                <a16:creationId xmlns:a16="http://schemas.microsoft.com/office/drawing/2014/main" id="{D8037CA3-40A2-391D-A863-C0F710C9404F}"/>
              </a:ext>
            </a:extLst>
          </p:cNvPr>
          <p:cNvSpPr/>
          <p:nvPr/>
        </p:nvSpPr>
        <p:spPr>
          <a:xfrm>
            <a:off x="406400" y="1498600"/>
            <a:ext cx="5461000" cy="635000"/>
          </a:xfrm>
          <a:prstGeom prst="roundRect">
            <a:avLst>
              <a:gd name="adj" fmla="val 8000"/>
            </a:avLst>
          </a:prstGeom>
          <a:solidFill>
            <a:srgbClr val="1B2A4A"/>
          </a:solidFill>
          <a:ln>
            <a:noFill/>
          </a:ln>
        </p:spPr>
        <p:txBody>
          <a:bodyPr lIns="72000" tIns="36000" rIns="72000" bIns="36000" anchor="ctr"/>
          <a:lstStyle/>
          <a:p>
            <a:pPr algn="ctr"/>
            <a:r>
              <a:rPr lang="en-US" sz="1200" b="1" dirty="0">
                <a:solidFill>
                  <a:srgbClr val="FFFFFF"/>
                </a:solidFill>
                <a:latin typeface="Calibri" pitchFamily="34" charset="0"/>
                <a:ea typeface="Calibri" pitchFamily="34" charset="-122"/>
                <a:cs typeface="Calibri" pitchFamily="34" charset="-120"/>
              </a:rPr>
              <a:t>Poll loop exited (bit0=1 → SPI read done)</a:t>
            </a:r>
            <a:endParaRPr lang="en-US" sz="1200" dirty="0"/>
          </a:p>
          <a:p>
            <a:pPr algn="ctr"/>
            <a:r>
              <a:rPr lang="en-US" sz="1200" b="1" dirty="0">
                <a:solidFill>
                  <a:srgbClr val="FFFFFF"/>
                </a:solidFill>
                <a:latin typeface="Calibri" pitchFamily="34" charset="0"/>
                <a:ea typeface="Calibri" pitchFamily="34" charset="-122"/>
                <a:cs typeface="Calibri" pitchFamily="34" charset="-120"/>
              </a:rPr>
              <a:t>Kernel buffer holds 0x40 (captured from MAX31865)</a:t>
            </a:r>
            <a:endParaRPr lang="en-US" sz="1200" dirty="0"/>
          </a:p>
        </p:txBody>
      </p:sp>
      <p:cxnSp>
        <p:nvCxnSpPr>
          <p:cNvPr id="115" name="FA0">
            <a:extLst>
              <a:ext uri="{FF2B5EF4-FFF2-40B4-BE49-F238E27FC236}">
                <a16:creationId xmlns:a16="http://schemas.microsoft.com/office/drawing/2014/main" id="{61F78FEB-F3BA-1AF7-B742-1CA721AC8D4F}"/>
              </a:ext>
            </a:extLst>
          </p:cNvPr>
          <p:cNvCxnSpPr/>
          <p:nvPr/>
        </p:nvCxnSpPr>
        <p:spPr>
          <a:xfrm>
            <a:off x="3136900" y="2133600"/>
            <a:ext cx="0" cy="177800"/>
          </a:xfrm>
          <a:prstGeom prst="line">
            <a:avLst/>
          </a:prstGeom>
          <a:ln w="19050">
            <a:solidFill>
              <a:srgbClr val="D46A2E"/>
            </a:solidFill>
            <a:tailEnd type="triangle" w="med" len="med"/>
          </a:ln>
        </p:spPr>
      </p:cxnSp>
      <p:sp>
        <p:nvSpPr>
          <p:cNvPr id="111" name="FC1">
            <a:extLst>
              <a:ext uri="{FF2B5EF4-FFF2-40B4-BE49-F238E27FC236}">
                <a16:creationId xmlns:a16="http://schemas.microsoft.com/office/drawing/2014/main" id="{9EFD7939-BB0C-C85B-4515-E3928A992E60}"/>
              </a:ext>
            </a:extLst>
          </p:cNvPr>
          <p:cNvSpPr/>
          <p:nvPr/>
        </p:nvSpPr>
        <p:spPr>
          <a:xfrm>
            <a:off x="406400" y="2311400"/>
            <a:ext cx="5461000" cy="914400"/>
          </a:xfrm>
          <a:prstGeom prst="roundRect">
            <a:avLst>
              <a:gd name="adj" fmla="val 8000"/>
            </a:avLst>
          </a:prstGeom>
          <a:solidFill>
            <a:srgbClr val="EDE9FE"/>
          </a:solidFill>
          <a:ln w="12700">
            <a:solidFill>
              <a:srgbClr val="7B5EA7"/>
            </a:solidFill>
          </a:ln>
        </p:spPr>
        <p:txBody>
          <a:bodyPr lIns="72000" tIns="36000" rIns="72000" bIns="36000" anchor="ctr"/>
          <a:lstStyle/>
          <a:p>
            <a:pPr algn="ctr">
              <a:buNone/>
            </a:pPr>
            <a:r>
              <a:rPr lang="en-US" sz="1200" b="1" dirty="0">
                <a:solidFill>
                  <a:srgbClr val="7B5EA7"/>
                </a:solidFill>
                <a:latin typeface="Segoe UI"/>
              </a:rPr>
              <a:t>Phase2-Step 1:Request the captured data</a:t>
            </a:r>
          </a:p>
          <a:p>
            <a:pPr algn="ctr">
              <a:buNone/>
            </a:pPr>
            <a:r>
              <a:rPr lang="en-US" sz="1200" dirty="0" err="1">
                <a:solidFill>
                  <a:srgbClr val="7B5EA7"/>
                </a:solidFill>
                <a:latin typeface="Segoe UI"/>
              </a:rPr>
              <a:t>tf_obj_snd.rnum</a:t>
            </a:r>
            <a:r>
              <a:rPr lang="en-US" sz="1200" dirty="0">
                <a:solidFill>
                  <a:srgbClr val="7B5EA7"/>
                </a:solidFill>
                <a:latin typeface="Segoe UI"/>
              </a:rPr>
              <a:t>  = REGNUM_ID  (0xFF)</a:t>
            </a:r>
          </a:p>
          <a:p>
            <a:pPr algn="ctr">
              <a:buNone/>
            </a:pPr>
            <a:r>
              <a:rPr lang="en-US" sz="1200" dirty="0" err="1">
                <a:solidFill>
                  <a:srgbClr val="7B5EA7"/>
                </a:solidFill>
                <a:latin typeface="Segoe UI"/>
              </a:rPr>
              <a:t>tf_obj_snd.rvalue</a:t>
            </a:r>
            <a:r>
              <a:rPr lang="en-US" sz="1200" dirty="0">
                <a:solidFill>
                  <a:srgbClr val="7B5EA7"/>
                </a:solidFill>
                <a:latin typeface="Segoe UI"/>
              </a:rPr>
              <a:t> = 2  ← 'give me the data!'</a:t>
            </a:r>
          </a:p>
          <a:p>
            <a:pPr algn="ctr">
              <a:buNone/>
            </a:pPr>
            <a:r>
              <a:rPr lang="en-US" sz="1200" dirty="0">
                <a:solidFill>
                  <a:srgbClr val="7B5EA7"/>
                </a:solidFill>
                <a:latin typeface="Segoe UI"/>
              </a:rPr>
              <a:t>write(</a:t>
            </a:r>
            <a:r>
              <a:rPr lang="en-US" sz="1200" dirty="0" err="1">
                <a:solidFill>
                  <a:srgbClr val="7B5EA7"/>
                </a:solidFill>
                <a:latin typeface="Segoe UI"/>
              </a:rPr>
              <a:t>fd</a:t>
            </a:r>
            <a:r>
              <a:rPr lang="en-US" sz="1200" dirty="0">
                <a:solidFill>
                  <a:srgbClr val="7B5EA7"/>
                </a:solidFill>
                <a:latin typeface="Segoe UI"/>
              </a:rPr>
              <a:t>, &amp;</a:t>
            </a:r>
            <a:r>
              <a:rPr lang="en-US" sz="1200" dirty="0" err="1">
                <a:solidFill>
                  <a:srgbClr val="7B5EA7"/>
                </a:solidFill>
                <a:latin typeface="Segoe UI"/>
              </a:rPr>
              <a:t>tf_obj_snd</a:t>
            </a:r>
            <a:r>
              <a:rPr lang="en-US" sz="1200" dirty="0">
                <a:solidFill>
                  <a:srgbClr val="7B5EA7"/>
                </a:solidFill>
                <a:latin typeface="Segoe UI"/>
              </a:rPr>
              <a:t>, MEASOBJ_SIZE)</a:t>
            </a:r>
          </a:p>
        </p:txBody>
      </p:sp>
      <p:cxnSp>
        <p:nvCxnSpPr>
          <p:cNvPr id="116" name="FA1">
            <a:extLst>
              <a:ext uri="{FF2B5EF4-FFF2-40B4-BE49-F238E27FC236}">
                <a16:creationId xmlns:a16="http://schemas.microsoft.com/office/drawing/2014/main" id="{340DFE3B-31A8-ED03-B5E0-0F17A2F42948}"/>
              </a:ext>
            </a:extLst>
          </p:cNvPr>
          <p:cNvCxnSpPr/>
          <p:nvPr/>
        </p:nvCxnSpPr>
        <p:spPr>
          <a:xfrm>
            <a:off x="3136900" y="3225800"/>
            <a:ext cx="0" cy="177800"/>
          </a:xfrm>
          <a:prstGeom prst="line">
            <a:avLst/>
          </a:prstGeom>
          <a:ln w="19050">
            <a:solidFill>
              <a:srgbClr val="D46A2E"/>
            </a:solidFill>
            <a:tailEnd type="triangle" w="med" len="med"/>
          </a:ln>
        </p:spPr>
      </p:cxnSp>
      <p:sp>
        <p:nvSpPr>
          <p:cNvPr id="112" name="FC2">
            <a:extLst>
              <a:ext uri="{FF2B5EF4-FFF2-40B4-BE49-F238E27FC236}">
                <a16:creationId xmlns:a16="http://schemas.microsoft.com/office/drawing/2014/main" id="{8CE47539-BE91-EF3C-1E23-42D7E25C512F}"/>
              </a:ext>
            </a:extLst>
          </p:cNvPr>
          <p:cNvSpPr/>
          <p:nvPr/>
        </p:nvSpPr>
        <p:spPr>
          <a:xfrm>
            <a:off x="406400" y="4610099"/>
            <a:ext cx="5461000" cy="749297"/>
          </a:xfrm>
          <a:prstGeom prst="roundRect">
            <a:avLst>
              <a:gd name="adj" fmla="val 8000"/>
            </a:avLst>
          </a:prstGeom>
          <a:solidFill>
            <a:srgbClr val="FFF3E0"/>
          </a:solidFill>
          <a:ln w="12700">
            <a:solidFill>
              <a:srgbClr val="D46A2E"/>
            </a:solidFill>
          </a:ln>
        </p:spPr>
        <p:txBody>
          <a:bodyPr lIns="72000" tIns="36000" rIns="72000" bIns="36000" anchor="ctr"/>
          <a:lstStyle/>
          <a:p>
            <a:pPr algn="ctr">
              <a:buNone/>
            </a:pPr>
            <a:r>
              <a:rPr lang="en-US" sz="1200" b="1" dirty="0">
                <a:solidFill>
                  <a:srgbClr val="7B5EA7"/>
                </a:solidFill>
                <a:latin typeface="Segoe UI"/>
              </a:rPr>
              <a:t>Phase2-Step 3:Collect the response</a:t>
            </a:r>
          </a:p>
          <a:p>
            <a:pPr algn="ctr"/>
            <a:r>
              <a:rPr lang="en-US" sz="1400" b="1" dirty="0" err="1">
                <a:solidFill>
                  <a:schemeClr val="tx1">
                    <a:lumMod val="85000"/>
                    <a:lumOff val="15000"/>
                  </a:schemeClr>
                </a:solidFill>
                <a:latin typeface="Courier New" pitchFamily="34" charset="0"/>
                <a:ea typeface="Courier New" pitchFamily="34" charset="-122"/>
                <a:cs typeface="Courier New" pitchFamily="34" charset="-120"/>
              </a:rPr>
              <a:t>xdata</a:t>
            </a:r>
            <a:r>
              <a:rPr lang="en-US" sz="1400" b="1" dirty="0">
                <a:solidFill>
                  <a:schemeClr val="tx1">
                    <a:lumMod val="85000"/>
                    <a:lumOff val="15000"/>
                  </a:schemeClr>
                </a:solidFill>
                <a:latin typeface="Courier New" pitchFamily="34" charset="0"/>
                <a:ea typeface="Courier New" pitchFamily="34" charset="-122"/>
                <a:cs typeface="Courier New" pitchFamily="34" charset="-120"/>
              </a:rPr>
              <a:t> &amp;= 0x0FF
</a:t>
            </a:r>
            <a:r>
              <a:rPr lang="en-US" sz="1400" dirty="0">
                <a:solidFill>
                  <a:schemeClr val="tx1">
                    <a:lumMod val="85000"/>
                    <a:lumOff val="15000"/>
                  </a:schemeClr>
                </a:solidFill>
                <a:latin typeface="Courier New" pitchFamily="34" charset="0"/>
                <a:ea typeface="Courier New" pitchFamily="34" charset="-122"/>
                <a:cs typeface="Courier New" pitchFamily="34" charset="-120"/>
              </a:rPr>
              <a:t>0x00000040 &amp; 0xFF = 0x40 = 64</a:t>
            </a:r>
            <a:endParaRPr lang="en-US" sz="1400" dirty="0">
              <a:solidFill>
                <a:schemeClr val="tx1">
                  <a:lumMod val="85000"/>
                  <a:lumOff val="15000"/>
                </a:schemeClr>
              </a:solidFill>
            </a:endParaRPr>
          </a:p>
        </p:txBody>
      </p:sp>
      <p:sp>
        <p:nvSpPr>
          <p:cNvPr id="271" name="CB">
            <a:extLst>
              <a:ext uri="{FF2B5EF4-FFF2-40B4-BE49-F238E27FC236}">
                <a16:creationId xmlns:a16="http://schemas.microsoft.com/office/drawing/2014/main" id="{81CAC7A4-013C-E445-9750-6A0BE2F40CAE}"/>
              </a:ext>
            </a:extLst>
          </p:cNvPr>
          <p:cNvSpPr/>
          <p:nvPr/>
        </p:nvSpPr>
        <p:spPr>
          <a:xfrm>
            <a:off x="6257694" y="1816100"/>
            <a:ext cx="5588000" cy="4686300"/>
          </a:xfrm>
          <a:prstGeom prst="roundRect">
            <a:avLst>
              <a:gd name="adj" fmla="val 3000"/>
            </a:avLst>
          </a:prstGeom>
          <a:solidFill>
            <a:srgbClr val="1E293B"/>
          </a:solidFill>
          <a:ln>
            <a:noFill/>
          </a:ln>
        </p:spPr>
        <p:txBody>
          <a:bodyPr lIns="108000" tIns="54000" rIns="72000" bIns="54000" anchor="t"/>
          <a:lstStyle/>
          <a:p>
            <a:pPr>
              <a:buNone/>
            </a:pPr>
            <a:r>
              <a:rPr lang="en-US" sz="1100" b="1" dirty="0" err="1">
                <a:solidFill>
                  <a:srgbClr val="80CBC4"/>
                </a:solidFill>
                <a:latin typeface="Courier New" pitchFamily="34" charset="0"/>
                <a:ea typeface="Courier New" pitchFamily="34" charset="-122"/>
                <a:cs typeface="Courier New" pitchFamily="34" charset="-120"/>
              </a:rPr>
              <a:t>rvalue</a:t>
            </a:r>
            <a:r>
              <a:rPr lang="en-US" sz="1100" b="1" dirty="0">
                <a:solidFill>
                  <a:srgbClr val="80CBC4"/>
                </a:solidFill>
                <a:latin typeface="Courier New" pitchFamily="34" charset="0"/>
                <a:ea typeface="Courier New" pitchFamily="34" charset="-122"/>
                <a:cs typeface="Courier New" pitchFamily="34" charset="-120"/>
              </a:rPr>
              <a:t> = 1  →  'Are you done yet?'
</a:t>
            </a:r>
            <a:r>
              <a:rPr lang="en-US" sz="1100" dirty="0">
                <a:solidFill>
                  <a:srgbClr val="9090A0"/>
                </a:solidFill>
                <a:latin typeface="Courier New" pitchFamily="34" charset="0"/>
                <a:ea typeface="Courier New" pitchFamily="34" charset="-122"/>
                <a:cs typeface="Courier New" pitchFamily="34" charset="-120"/>
              </a:rPr>
              <a:t>  Kernel checks SPI completion flag
  Response: bit0=0 (no) or bit0=1 (yes)
  Used in: BOTH write AND read (poll loop)
</a:t>
            </a:r>
            <a:r>
              <a:rPr lang="en-US" sz="1100" b="1" dirty="0" err="1">
                <a:solidFill>
                  <a:srgbClr val="CE93D8"/>
                </a:solidFill>
                <a:latin typeface="Courier New" pitchFamily="34" charset="0"/>
                <a:ea typeface="Courier New" pitchFamily="34" charset="-122"/>
                <a:cs typeface="Courier New" pitchFamily="34" charset="-120"/>
              </a:rPr>
              <a:t>rvalue</a:t>
            </a:r>
            <a:r>
              <a:rPr lang="en-US" sz="1100" b="1" dirty="0">
                <a:solidFill>
                  <a:srgbClr val="CE93D8"/>
                </a:solidFill>
                <a:latin typeface="Courier New" pitchFamily="34" charset="0"/>
                <a:ea typeface="Courier New" pitchFamily="34" charset="-122"/>
                <a:cs typeface="Courier New" pitchFamily="34" charset="-120"/>
              </a:rPr>
              <a:t> = 2  →  'Give me the captured SPI data!'
</a:t>
            </a:r>
            <a:r>
              <a:rPr lang="en-US" sz="1100" dirty="0">
                <a:solidFill>
                  <a:srgbClr val="9090A0"/>
                </a:solidFill>
                <a:latin typeface="Courier New" pitchFamily="34" charset="0"/>
                <a:ea typeface="Courier New" pitchFamily="34" charset="-122"/>
                <a:cs typeface="Courier New" pitchFamily="34" charset="-120"/>
              </a:rPr>
              <a:t>  Kernel fetches 0x40 from its internal data register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DCDCAA"/>
                </a:solidFill>
                <a:effectLst/>
                <a:uLnTx/>
                <a:uFillTx/>
                <a:latin typeface="Courier New" pitchFamily="34" charset="0"/>
                <a:ea typeface="Courier New" pitchFamily="34" charset="-122"/>
                <a:cs typeface="Courier New" pitchFamily="34" charset="-120"/>
              </a:rPr>
              <a:t> else  // (k &lt; 1000 = SPI read succeeded)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DCDCAA"/>
                </a:solidFill>
                <a:effectLst/>
                <a:uLnTx/>
                <a:uFillTx/>
                <a:latin typeface="Courier New" pitchFamily="34" charset="0"/>
                <a:ea typeface="Courier New" pitchFamily="34" charset="-122"/>
                <a:cs typeface="Courier New" pitchFamily="34" charset="-120"/>
              </a:rPr>
              <a:t>    {</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A9955"/>
                </a:solidFill>
                <a:effectLst/>
                <a:uLnTx/>
                <a:uFillTx/>
                <a:latin typeface="Courier New" pitchFamily="34" charset="0"/>
                <a:ea typeface="Courier New" pitchFamily="34" charset="-122"/>
                <a:cs typeface="Courier New" pitchFamily="34" charset="-120"/>
              </a:rPr>
              <a:t>        // ── PHASE 2 STEP 1: REQUEST DATA ─────────</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E9178"/>
                </a:solidFill>
                <a:effectLst/>
                <a:uLnTx/>
                <a:uFillTx/>
                <a:latin typeface="Courier New" pitchFamily="34" charset="0"/>
                <a:ea typeface="Courier New" pitchFamily="34" charset="-122"/>
                <a:cs typeface="Courier New" pitchFamily="34" charset="-120"/>
              </a:rPr>
              <a:t>        tf_obj_snd.rnum  = REGNUM_ID;  // 0xFF</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EC9B0"/>
                </a:solidFill>
                <a:effectLst/>
                <a:uLnTx/>
                <a:uFillTx/>
                <a:latin typeface="Courier New" pitchFamily="34" charset="0"/>
                <a:ea typeface="Courier New" pitchFamily="34" charset="-122"/>
                <a:cs typeface="Courier New" pitchFamily="34" charset="-120"/>
              </a:rPr>
              <a:t>        </a:t>
            </a:r>
            <a:r>
              <a:rPr kumimoji="0" lang="en-US" sz="1100" b="0" i="0" u="none" strike="noStrike" kern="1200" cap="none" spc="0" normalizeH="0" baseline="0" noProof="0" dirty="0" err="1">
                <a:ln>
                  <a:noFill/>
                </a:ln>
                <a:solidFill>
                  <a:srgbClr val="4EC9B0"/>
                </a:solidFill>
                <a:effectLst/>
                <a:uLnTx/>
                <a:uFillTx/>
                <a:latin typeface="Courier New" pitchFamily="34" charset="0"/>
                <a:ea typeface="Courier New" pitchFamily="34" charset="-122"/>
                <a:cs typeface="Courier New" pitchFamily="34" charset="-120"/>
              </a:rPr>
              <a:t>tf_obj_snd.rvalue</a:t>
            </a:r>
            <a:r>
              <a:rPr kumimoji="0" lang="en-US" sz="1100" b="0" i="0" u="none" strike="noStrike" kern="1200" cap="none" spc="0" normalizeH="0" baseline="0" noProof="0" dirty="0">
                <a:ln>
                  <a:noFill/>
                </a:ln>
                <a:solidFill>
                  <a:srgbClr val="4EC9B0"/>
                </a:solidFill>
                <a:effectLst/>
                <a:uLnTx/>
                <a:uFillTx/>
                <a:latin typeface="Courier New" pitchFamily="34" charset="0"/>
                <a:ea typeface="Courier New" pitchFamily="34" charset="-122"/>
                <a:cs typeface="Courier New" pitchFamily="34" charset="-120"/>
              </a:rPr>
              <a:t> = 2;  // 'give me data!'</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9800"/>
                </a:solidFill>
                <a:effectLst/>
                <a:uLnTx/>
                <a:uFillTx/>
                <a:latin typeface="Courier New" pitchFamily="34" charset="0"/>
                <a:ea typeface="Courier New" pitchFamily="34" charset="-122"/>
                <a:cs typeface="Courier New" pitchFamily="34" charset="-120"/>
              </a:rPr>
              <a:t>        // ↑ This line is WHY READ is 2-phase!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9800"/>
                </a:solidFill>
                <a:effectLst/>
                <a:uLnTx/>
                <a:uFillTx/>
                <a:latin typeface="Courier New" pitchFamily="34" charset="0"/>
                <a:ea typeface="Courier New" pitchFamily="34" charset="-122"/>
                <a:cs typeface="Courier New" pitchFamily="34" charset="-120"/>
              </a:rPr>
              <a:t>        // </a:t>
            </a:r>
            <a:r>
              <a:rPr kumimoji="0" lang="en-US" sz="1100" b="0" i="0" u="none" strike="noStrike" kern="1200" cap="none" spc="0" normalizeH="0" baseline="0" noProof="0" dirty="0" err="1">
                <a:ln>
                  <a:noFill/>
                </a:ln>
                <a:solidFill>
                  <a:srgbClr val="FF9800"/>
                </a:solidFill>
                <a:effectLst/>
                <a:uLnTx/>
                <a:uFillTx/>
                <a:latin typeface="Courier New" pitchFamily="34" charset="0"/>
                <a:ea typeface="Courier New" pitchFamily="34" charset="-122"/>
                <a:cs typeface="Courier New" pitchFamily="34" charset="-120"/>
              </a:rPr>
              <a:t>writeMAXSpiInterface</a:t>
            </a:r>
            <a:r>
              <a:rPr kumimoji="0" lang="en-US" sz="1100" b="0" i="0" u="none" strike="noStrike" kern="1200" cap="none" spc="0" normalizeH="0" baseline="0" noProof="0" dirty="0">
                <a:ln>
                  <a:noFill/>
                </a:ln>
                <a:solidFill>
                  <a:srgbClr val="FF9800"/>
                </a:solidFill>
                <a:effectLst/>
                <a:uLnTx/>
                <a:uFillTx/>
                <a:latin typeface="Courier New" pitchFamily="34" charset="0"/>
                <a:ea typeface="Courier New" pitchFamily="34" charset="-122"/>
                <a:cs typeface="Courier New" pitchFamily="34" charset="-120"/>
              </a:rPr>
              <a:t>() NEVER has </a:t>
            </a:r>
            <a:r>
              <a:rPr kumimoji="0" lang="en-US" sz="1100" b="0" i="0" u="none" strike="noStrike" kern="1200" cap="none" spc="0" normalizeH="0" baseline="0" noProof="0" dirty="0" err="1">
                <a:ln>
                  <a:noFill/>
                </a:ln>
                <a:solidFill>
                  <a:srgbClr val="FF9800"/>
                </a:solidFill>
                <a:effectLst/>
                <a:uLnTx/>
                <a:uFillTx/>
                <a:latin typeface="Courier New" pitchFamily="34" charset="0"/>
                <a:ea typeface="Courier New" pitchFamily="34" charset="-122"/>
                <a:cs typeface="Courier New" pitchFamily="34" charset="-120"/>
              </a:rPr>
              <a:t>rvalue</a:t>
            </a:r>
            <a:r>
              <a:rPr kumimoji="0" lang="en-US" sz="1100" b="0" i="0" u="none" strike="noStrike" kern="1200" cap="none" spc="0" normalizeH="0" baseline="0" noProof="0" dirty="0">
                <a:ln>
                  <a:noFill/>
                </a:ln>
                <a:solidFill>
                  <a:srgbClr val="FF9800"/>
                </a:solidFill>
                <a:effectLst/>
                <a:uLnTx/>
                <a:uFillTx/>
                <a:latin typeface="Courier New" pitchFamily="34" charset="0"/>
                <a:ea typeface="Courier New" pitchFamily="34" charset="-122"/>
                <a:cs typeface="Courier New" pitchFamily="34" charset="-120"/>
              </a:rPr>
              <a:t>=2</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FC1FF"/>
                </a:solidFill>
                <a:effectLst/>
                <a:uLnTx/>
                <a:uFillTx/>
                <a:latin typeface="Courier New" pitchFamily="34" charset="0"/>
                <a:ea typeface="Courier New" pitchFamily="34" charset="-122"/>
                <a:cs typeface="Courier New" pitchFamily="34" charset="-120"/>
              </a:rPr>
              <a:t>        write(</a:t>
            </a:r>
            <a:r>
              <a:rPr kumimoji="0" lang="en-US" sz="1100" b="0" i="0" u="none" strike="noStrike" kern="1200" cap="none" spc="0" normalizeH="0" baseline="0" noProof="0" dirty="0" err="1">
                <a:ln>
                  <a:noFill/>
                </a:ln>
                <a:solidFill>
                  <a:srgbClr val="4FC1FF"/>
                </a:solidFill>
                <a:effectLst/>
                <a:uLnTx/>
                <a:uFillTx/>
                <a:latin typeface="Courier New" pitchFamily="34" charset="0"/>
                <a:ea typeface="Courier New" pitchFamily="34" charset="-122"/>
                <a:cs typeface="Courier New" pitchFamily="34" charset="-120"/>
              </a:rPr>
              <a:t>fd</a:t>
            </a:r>
            <a:r>
              <a:rPr kumimoji="0" lang="en-US" sz="1100" b="0" i="0" u="none" strike="noStrike" kern="1200" cap="none" spc="0" normalizeH="0" baseline="0" noProof="0" dirty="0">
                <a:ln>
                  <a:noFill/>
                </a:ln>
                <a:solidFill>
                  <a:srgbClr val="4FC1FF"/>
                </a:solidFill>
                <a:effectLst/>
                <a:uLnTx/>
                <a:uFillTx/>
                <a:latin typeface="Courier New" pitchFamily="34" charset="0"/>
                <a:ea typeface="Courier New" pitchFamily="34" charset="-122"/>
                <a:cs typeface="Courier New" pitchFamily="34" charset="-120"/>
              </a:rPr>
              <a:t>, &amp;</a:t>
            </a:r>
            <a:r>
              <a:rPr kumimoji="0" lang="en-US" sz="1100" b="0" i="0" u="none" strike="noStrike" kern="1200" cap="none" spc="0" normalizeH="0" baseline="0" noProof="0" dirty="0" err="1">
                <a:ln>
                  <a:noFill/>
                </a:ln>
                <a:solidFill>
                  <a:srgbClr val="4FC1FF"/>
                </a:solidFill>
                <a:effectLst/>
                <a:uLnTx/>
                <a:uFillTx/>
                <a:latin typeface="Courier New" pitchFamily="34" charset="0"/>
                <a:ea typeface="Courier New" pitchFamily="34" charset="-122"/>
                <a:cs typeface="Courier New" pitchFamily="34" charset="-120"/>
              </a:rPr>
              <a:t>tf_obj_snd</a:t>
            </a:r>
            <a:r>
              <a:rPr kumimoji="0" lang="en-US" sz="1100" b="0" i="0" u="none" strike="noStrike" kern="1200" cap="none" spc="0" normalizeH="0" baseline="0" noProof="0" dirty="0">
                <a:ln>
                  <a:noFill/>
                </a:ln>
                <a:solidFill>
                  <a:srgbClr val="4FC1FF"/>
                </a:solidFill>
                <a:effectLst/>
                <a:uLnTx/>
                <a:uFillTx/>
                <a:latin typeface="Courier New" pitchFamily="34" charset="0"/>
                <a:ea typeface="Courier New" pitchFamily="34" charset="-122"/>
                <a:cs typeface="Courier New" pitchFamily="34" charset="-120"/>
              </a:rPr>
              <a:t>, MEASOBJ_SIZE);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A9955"/>
                </a:solidFill>
                <a:effectLst/>
                <a:uLnTx/>
                <a:uFillTx/>
                <a:latin typeface="Courier New" pitchFamily="34" charset="0"/>
                <a:ea typeface="Courier New" pitchFamily="34" charset="-122"/>
                <a:cs typeface="Courier New" pitchFamily="34" charset="-120"/>
              </a:rPr>
              <a:t>        // ── PHASE 2 STEP 2: COLLECT RESPONSE ────</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FC1FF"/>
                </a:solidFill>
                <a:effectLst/>
                <a:uLnTx/>
                <a:uFillTx/>
                <a:latin typeface="Courier New" pitchFamily="34" charset="0"/>
                <a:ea typeface="Courier New" pitchFamily="34" charset="-122"/>
                <a:cs typeface="Courier New" pitchFamily="34" charset="-120"/>
              </a:rPr>
              <a:t>        read(</a:t>
            </a:r>
            <a:r>
              <a:rPr kumimoji="0" lang="en-US" sz="1100" b="0" i="0" u="none" strike="noStrike" kern="1200" cap="none" spc="0" normalizeH="0" baseline="0" noProof="0" dirty="0" err="1">
                <a:ln>
                  <a:noFill/>
                </a:ln>
                <a:solidFill>
                  <a:srgbClr val="4FC1FF"/>
                </a:solidFill>
                <a:effectLst/>
                <a:uLnTx/>
                <a:uFillTx/>
                <a:latin typeface="Courier New" pitchFamily="34" charset="0"/>
                <a:ea typeface="Courier New" pitchFamily="34" charset="-122"/>
                <a:cs typeface="Courier New" pitchFamily="34" charset="-120"/>
              </a:rPr>
              <a:t>fd</a:t>
            </a:r>
            <a:r>
              <a:rPr kumimoji="0" lang="en-US" sz="1100" b="0" i="0" u="none" strike="noStrike" kern="1200" cap="none" spc="0" normalizeH="0" baseline="0" noProof="0" dirty="0">
                <a:ln>
                  <a:noFill/>
                </a:ln>
                <a:solidFill>
                  <a:srgbClr val="4FC1FF"/>
                </a:solidFill>
                <a:effectLst/>
                <a:uLnTx/>
                <a:uFillTx/>
                <a:latin typeface="Courier New" pitchFamily="34" charset="0"/>
                <a:ea typeface="Courier New" pitchFamily="34" charset="-122"/>
                <a:cs typeface="Courier New" pitchFamily="34" charset="-120"/>
              </a:rPr>
              <a:t>, &amp;</a:t>
            </a:r>
            <a:r>
              <a:rPr kumimoji="0" lang="en-US" sz="1100" b="0" i="0" u="none" strike="noStrike" kern="1200" cap="none" spc="0" normalizeH="0" baseline="0" noProof="0" dirty="0" err="1">
                <a:ln>
                  <a:noFill/>
                </a:ln>
                <a:solidFill>
                  <a:srgbClr val="4FC1FF"/>
                </a:solidFill>
                <a:effectLst/>
                <a:uLnTx/>
                <a:uFillTx/>
                <a:latin typeface="Courier New" pitchFamily="34" charset="0"/>
                <a:ea typeface="Courier New" pitchFamily="34" charset="-122"/>
                <a:cs typeface="Courier New" pitchFamily="34" charset="-120"/>
              </a:rPr>
              <a:t>tf_obj_rcv</a:t>
            </a:r>
            <a:r>
              <a:rPr kumimoji="0" lang="en-US" sz="1100" b="0" i="0" u="none" strike="noStrike" kern="1200" cap="none" spc="0" normalizeH="0" baseline="0" noProof="0" dirty="0">
                <a:ln>
                  <a:noFill/>
                </a:ln>
                <a:solidFill>
                  <a:srgbClr val="4FC1FF"/>
                </a:solidFill>
                <a:effectLst/>
                <a:uLnTx/>
                <a:uFillTx/>
                <a:latin typeface="Courier New" pitchFamily="34" charset="0"/>
                <a:ea typeface="Courier New" pitchFamily="34" charset="-122"/>
                <a:cs typeface="Courier New" pitchFamily="34" charset="-120"/>
              </a:rPr>
              <a:t>, MEASOBJ_SIZE);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E9178"/>
                </a:solidFill>
                <a:effectLst/>
                <a:uLnTx/>
                <a:uFillTx/>
                <a:latin typeface="Courier New" pitchFamily="34" charset="0"/>
                <a:ea typeface="Courier New" pitchFamily="34" charset="-122"/>
                <a:cs typeface="Courier New" pitchFamily="34" charset="-120"/>
              </a:rPr>
              <a:t>        </a:t>
            </a:r>
            <a:r>
              <a:rPr kumimoji="0" lang="en-US" sz="1100" b="0" i="0" u="none" strike="noStrike" kern="1200" cap="none" spc="0" normalizeH="0" baseline="0" noProof="0" dirty="0" err="1">
                <a:ln>
                  <a:noFill/>
                </a:ln>
                <a:solidFill>
                  <a:srgbClr val="CE9178"/>
                </a:solidFill>
                <a:effectLst/>
                <a:uLnTx/>
                <a:uFillTx/>
                <a:latin typeface="Courier New" pitchFamily="34" charset="0"/>
                <a:ea typeface="Courier New" pitchFamily="34" charset="-122"/>
                <a:cs typeface="Courier New" pitchFamily="34" charset="-120"/>
              </a:rPr>
              <a:t>xdata</a:t>
            </a:r>
            <a:r>
              <a:rPr kumimoji="0" lang="en-US" sz="1100" b="0" i="0" u="none" strike="noStrike" kern="1200" cap="none" spc="0" normalizeH="0" baseline="0" noProof="0" dirty="0">
                <a:ln>
                  <a:noFill/>
                </a:ln>
                <a:solidFill>
                  <a:srgbClr val="CE9178"/>
                </a:solidFill>
                <a:effectLst/>
                <a:uLnTx/>
                <a:uFillTx/>
                <a:latin typeface="Courier New" pitchFamily="34" charset="0"/>
                <a:ea typeface="Courier New" pitchFamily="34" charset="-122"/>
                <a:cs typeface="Courier New" pitchFamily="34" charset="-120"/>
              </a:rPr>
              <a:t> = </a:t>
            </a:r>
            <a:r>
              <a:rPr kumimoji="0" lang="en-US" sz="1100" b="0" i="0" u="none" strike="noStrike" kern="1200" cap="none" spc="0" normalizeH="0" baseline="0" noProof="0" dirty="0" err="1">
                <a:ln>
                  <a:noFill/>
                </a:ln>
                <a:solidFill>
                  <a:srgbClr val="CE9178"/>
                </a:solidFill>
                <a:effectLst/>
                <a:uLnTx/>
                <a:uFillTx/>
                <a:latin typeface="Courier New" pitchFamily="34" charset="0"/>
                <a:ea typeface="Courier New" pitchFamily="34" charset="-122"/>
                <a:cs typeface="Courier New" pitchFamily="34" charset="-120"/>
              </a:rPr>
              <a:t>tf_obj_rcv.rvalue</a:t>
            </a:r>
            <a:r>
              <a:rPr kumimoji="0" lang="en-US" sz="1100" b="0" i="0" u="none" strike="noStrike" kern="1200" cap="none" spc="0" normalizeH="0" baseline="0" noProof="0" dirty="0">
                <a:ln>
                  <a:noFill/>
                </a:ln>
                <a:solidFill>
                  <a:srgbClr val="CE9178"/>
                </a:solidFill>
                <a:effectLst/>
                <a:uLnTx/>
                <a:uFillTx/>
                <a:latin typeface="Courier New" pitchFamily="34" charset="0"/>
                <a:ea typeface="Courier New" pitchFamily="34" charset="-122"/>
                <a:cs typeface="Courier New" pitchFamily="34" charset="-120"/>
              </a:rPr>
              <a:t>;  // = 0x00000040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A9955"/>
                </a:solidFill>
                <a:effectLst/>
                <a:uLnTx/>
                <a:uFillTx/>
                <a:latin typeface="Courier New" pitchFamily="34" charset="0"/>
                <a:ea typeface="Courier New" pitchFamily="34" charset="-122"/>
                <a:cs typeface="Courier New" pitchFamily="34" charset="-120"/>
              </a:rPr>
              <a:t>        // ── PHASE 2 STEP 3: MASK TO 8 BITS ──────</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EC9B0"/>
                </a:solidFill>
                <a:effectLst/>
                <a:uLnTx/>
                <a:uFillTx/>
                <a:latin typeface="Courier New" pitchFamily="34" charset="0"/>
                <a:ea typeface="Courier New" pitchFamily="34" charset="-122"/>
                <a:cs typeface="Courier New" pitchFamily="34" charset="-120"/>
              </a:rPr>
              <a:t>        </a:t>
            </a:r>
            <a:r>
              <a:rPr kumimoji="0" lang="en-US" sz="1100" b="0" i="0" u="none" strike="noStrike" kern="1200" cap="none" spc="0" normalizeH="0" baseline="0" noProof="0" dirty="0" err="1">
                <a:ln>
                  <a:noFill/>
                </a:ln>
                <a:solidFill>
                  <a:srgbClr val="4EC9B0"/>
                </a:solidFill>
                <a:effectLst/>
                <a:uLnTx/>
                <a:uFillTx/>
                <a:latin typeface="Courier New" pitchFamily="34" charset="0"/>
                <a:ea typeface="Courier New" pitchFamily="34" charset="-122"/>
                <a:cs typeface="Courier New" pitchFamily="34" charset="-120"/>
              </a:rPr>
              <a:t>xdata</a:t>
            </a:r>
            <a:r>
              <a:rPr kumimoji="0" lang="en-US" sz="1100" b="0" i="0" u="none" strike="noStrike" kern="1200" cap="none" spc="0" normalizeH="0" baseline="0" noProof="0" dirty="0">
                <a:ln>
                  <a:noFill/>
                </a:ln>
                <a:solidFill>
                  <a:srgbClr val="4EC9B0"/>
                </a:solidFill>
                <a:effectLst/>
                <a:uLnTx/>
                <a:uFillTx/>
                <a:latin typeface="Courier New" pitchFamily="34" charset="0"/>
                <a:ea typeface="Courier New" pitchFamily="34" charset="-122"/>
                <a:cs typeface="Courier New" pitchFamily="34" charset="-120"/>
              </a:rPr>
              <a:t> &amp;= 0x0ff;  // keep only 8 bits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A9955"/>
                </a:solidFill>
                <a:effectLst/>
                <a:uLnTx/>
                <a:uFillTx/>
                <a:latin typeface="Courier New" pitchFamily="34" charset="0"/>
                <a:ea typeface="Courier New" pitchFamily="34" charset="-122"/>
                <a:cs typeface="Courier New" pitchFamily="34" charset="-120"/>
              </a:rPr>
              <a:t>        // 0x00000040 &amp; 0xFF = 0x40 = 64</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DCDCAA"/>
                </a:solidFill>
                <a:effectLst/>
                <a:uLnTx/>
                <a:uFillTx/>
                <a:latin typeface="Courier New" pitchFamily="34" charset="0"/>
                <a:ea typeface="Courier New" pitchFamily="34" charset="-122"/>
                <a:cs typeface="Courier New" pitchFamily="34" charset="-120"/>
              </a:rPr>
              <a:t>    }</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EC9B0"/>
                </a:solidFill>
                <a:effectLst/>
                <a:uLnTx/>
                <a:uFillTx/>
                <a:latin typeface="Courier New" pitchFamily="34" charset="0"/>
                <a:ea typeface="Courier New" pitchFamily="34" charset="-122"/>
                <a:cs typeface="Courier New" pitchFamily="34" charset="-120"/>
              </a:rPr>
              <a:t>    return </a:t>
            </a:r>
            <a:r>
              <a:rPr kumimoji="0" lang="en-US" sz="1100" b="0" i="0" u="none" strike="noStrike" kern="1200" cap="none" spc="0" normalizeH="0" baseline="0" noProof="0" dirty="0" err="1">
                <a:ln>
                  <a:noFill/>
                </a:ln>
                <a:solidFill>
                  <a:srgbClr val="4EC9B0"/>
                </a:solidFill>
                <a:effectLst/>
                <a:uLnTx/>
                <a:uFillTx/>
                <a:latin typeface="Courier New" pitchFamily="34" charset="0"/>
                <a:ea typeface="Courier New" pitchFamily="34" charset="-122"/>
                <a:cs typeface="Courier New" pitchFamily="34" charset="-120"/>
              </a:rPr>
              <a:t>xdata</a:t>
            </a:r>
            <a:r>
              <a:rPr kumimoji="0" lang="en-US" sz="1100" b="0" i="0" u="none" strike="noStrike" kern="1200" cap="none" spc="0" normalizeH="0" baseline="0" noProof="0" dirty="0">
                <a:ln>
                  <a:noFill/>
                </a:ln>
                <a:solidFill>
                  <a:srgbClr val="4EC9B0"/>
                </a:solidFill>
                <a:effectLst/>
                <a:uLnTx/>
                <a:uFillTx/>
                <a:latin typeface="Courier New" pitchFamily="34" charset="0"/>
                <a:ea typeface="Courier New" pitchFamily="34" charset="-122"/>
                <a:cs typeface="Courier New" pitchFamily="34" charset="-120"/>
              </a:rPr>
              <a:t>;  // returns 0x40 = 64</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DCDCAA"/>
                </a:solidFill>
                <a:effectLst/>
                <a:uLnTx/>
                <a:uFillTx/>
                <a:latin typeface="Courier New" pitchFamily="34" charset="0"/>
                <a:ea typeface="Courier New" pitchFamily="34" charset="-122"/>
                <a:cs typeface="Courier New" pitchFamily="34" charset="-120"/>
              </a:rPr>
              <a:t>}</a:t>
            </a:r>
            <a:endParaRPr lang="en-US" sz="1100" dirty="0">
              <a:solidFill>
                <a:srgbClr val="94A3B8"/>
              </a:solidFill>
              <a:latin typeface="Consolas"/>
            </a:endParaRPr>
          </a:p>
        </p:txBody>
      </p:sp>
      <p:cxnSp>
        <p:nvCxnSpPr>
          <p:cNvPr id="290" name="BL1">
            <a:extLst>
              <a:ext uri="{FF2B5EF4-FFF2-40B4-BE49-F238E27FC236}">
                <a16:creationId xmlns:a16="http://schemas.microsoft.com/office/drawing/2014/main" id="{0EDC9FEF-9CE6-BCEE-9A4B-B4FC6C147A6B}"/>
              </a:ext>
            </a:extLst>
          </p:cNvPr>
          <p:cNvCxnSpPr/>
          <p:nvPr/>
        </p:nvCxnSpPr>
        <p:spPr>
          <a:xfrm>
            <a:off x="0" y="6578600"/>
            <a:ext cx="12192000" cy="0"/>
          </a:xfrm>
          <a:prstGeom prst="line">
            <a:avLst/>
          </a:prstGeom>
          <a:ln w="25400">
            <a:solidFill>
              <a:srgbClr val="D46A2E"/>
            </a:solidFill>
          </a:ln>
        </p:spPr>
      </p:cxnSp>
      <p:cxnSp>
        <p:nvCxnSpPr>
          <p:cNvPr id="291" name="BL2">
            <a:extLst>
              <a:ext uri="{FF2B5EF4-FFF2-40B4-BE49-F238E27FC236}">
                <a16:creationId xmlns:a16="http://schemas.microsoft.com/office/drawing/2014/main" id="{80A88F25-D81A-B46D-6277-D0816ABBFA30}"/>
              </a:ext>
            </a:extLst>
          </p:cNvPr>
          <p:cNvCxnSpPr/>
          <p:nvPr/>
        </p:nvCxnSpPr>
        <p:spPr>
          <a:xfrm>
            <a:off x="0" y="6667500"/>
            <a:ext cx="12192000" cy="0"/>
          </a:xfrm>
          <a:prstGeom prst="line">
            <a:avLst/>
          </a:prstGeom>
          <a:ln w="38100">
            <a:solidFill>
              <a:srgbClr val="1B2A4A"/>
            </a:solidFill>
          </a:ln>
        </p:spPr>
      </p:cxnSp>
      <p:sp>
        <p:nvSpPr>
          <p:cNvPr id="2" name="FC1">
            <a:extLst>
              <a:ext uri="{FF2B5EF4-FFF2-40B4-BE49-F238E27FC236}">
                <a16:creationId xmlns:a16="http://schemas.microsoft.com/office/drawing/2014/main" id="{63ACD8CE-1EB9-7C4D-92F2-8E9455B9C162}"/>
              </a:ext>
            </a:extLst>
          </p:cNvPr>
          <p:cNvSpPr/>
          <p:nvPr/>
        </p:nvSpPr>
        <p:spPr>
          <a:xfrm>
            <a:off x="406400" y="3435350"/>
            <a:ext cx="5461000" cy="914400"/>
          </a:xfrm>
          <a:prstGeom prst="roundRect">
            <a:avLst>
              <a:gd name="adj" fmla="val 8000"/>
            </a:avLst>
          </a:prstGeom>
          <a:solidFill>
            <a:srgbClr val="EDE9FE"/>
          </a:solidFill>
          <a:ln w="12700">
            <a:solidFill>
              <a:srgbClr val="7B5EA7"/>
            </a:solidFill>
          </a:ln>
        </p:spPr>
        <p:txBody>
          <a:bodyPr lIns="72000" tIns="36000" rIns="72000" bIns="36000" anchor="ctr"/>
          <a:lstStyle/>
          <a:p>
            <a:pPr algn="ctr">
              <a:buNone/>
            </a:pPr>
            <a:r>
              <a:rPr lang="en-US" sz="1200" b="1" dirty="0">
                <a:solidFill>
                  <a:srgbClr val="7B5EA7"/>
                </a:solidFill>
                <a:latin typeface="Segoe UI"/>
              </a:rPr>
              <a:t>Phase2-Step 2:Collect the response</a:t>
            </a:r>
          </a:p>
          <a:p>
            <a:pPr algn="ctr">
              <a:buNone/>
            </a:pPr>
            <a:r>
              <a:rPr lang="en-US" sz="1400" dirty="0">
                <a:solidFill>
                  <a:schemeClr val="tx1">
                    <a:lumMod val="85000"/>
                    <a:lumOff val="15000"/>
                  </a:schemeClr>
                </a:solidFill>
                <a:latin typeface="Courier New" pitchFamily="34" charset="0"/>
                <a:ea typeface="Courier New" pitchFamily="34" charset="-122"/>
                <a:cs typeface="Courier New" pitchFamily="34" charset="-120"/>
              </a:rPr>
              <a:t>read(</a:t>
            </a:r>
            <a:r>
              <a:rPr lang="en-US" sz="1400" dirty="0" err="1">
                <a:solidFill>
                  <a:schemeClr val="tx1">
                    <a:lumMod val="85000"/>
                    <a:lumOff val="15000"/>
                  </a:schemeClr>
                </a:solidFill>
                <a:latin typeface="Courier New" pitchFamily="34" charset="0"/>
                <a:ea typeface="Courier New" pitchFamily="34" charset="-122"/>
                <a:cs typeface="Courier New" pitchFamily="34" charset="-120"/>
              </a:rPr>
              <a:t>fd</a:t>
            </a:r>
            <a:r>
              <a:rPr lang="en-US" sz="1400" dirty="0">
                <a:solidFill>
                  <a:schemeClr val="tx1">
                    <a:lumMod val="85000"/>
                    <a:lumOff val="15000"/>
                  </a:schemeClr>
                </a:solidFill>
                <a:latin typeface="Courier New" pitchFamily="34" charset="0"/>
                <a:ea typeface="Courier New" pitchFamily="34" charset="-122"/>
                <a:cs typeface="Courier New" pitchFamily="34" charset="-120"/>
              </a:rPr>
              <a:t>, &amp;</a:t>
            </a:r>
            <a:r>
              <a:rPr lang="en-US" sz="1400" dirty="0" err="1">
                <a:solidFill>
                  <a:schemeClr val="tx1">
                    <a:lumMod val="85000"/>
                    <a:lumOff val="15000"/>
                  </a:schemeClr>
                </a:solidFill>
                <a:latin typeface="Courier New" pitchFamily="34" charset="0"/>
                <a:ea typeface="Courier New" pitchFamily="34" charset="-122"/>
                <a:cs typeface="Courier New" pitchFamily="34" charset="-120"/>
              </a:rPr>
              <a:t>tf_obj_rcv</a:t>
            </a:r>
            <a:r>
              <a:rPr lang="en-US" sz="1400" dirty="0">
                <a:solidFill>
                  <a:schemeClr val="tx1">
                    <a:lumMod val="85000"/>
                    <a:lumOff val="15000"/>
                  </a:schemeClr>
                </a:solidFill>
                <a:latin typeface="Courier New" pitchFamily="34" charset="0"/>
                <a:ea typeface="Courier New" pitchFamily="34" charset="-122"/>
                <a:cs typeface="Courier New" pitchFamily="34" charset="-120"/>
              </a:rPr>
              <a:t>, MEASOBJ_SIZE)
</a:t>
            </a:r>
            <a:r>
              <a:rPr lang="en-US" sz="1200" dirty="0" err="1">
                <a:solidFill>
                  <a:schemeClr val="tx1">
                    <a:lumMod val="85000"/>
                    <a:lumOff val="15000"/>
                  </a:schemeClr>
                </a:solidFill>
                <a:latin typeface="Courier New" pitchFamily="34" charset="0"/>
                <a:ea typeface="Courier New" pitchFamily="34" charset="-122"/>
                <a:cs typeface="Courier New" pitchFamily="34" charset="-120"/>
              </a:rPr>
              <a:t>xdata</a:t>
            </a:r>
            <a:r>
              <a:rPr lang="en-US" sz="1200" dirty="0">
                <a:solidFill>
                  <a:schemeClr val="tx1">
                    <a:lumMod val="85000"/>
                    <a:lumOff val="15000"/>
                  </a:schemeClr>
                </a:solidFill>
                <a:latin typeface="Courier New" pitchFamily="34" charset="0"/>
                <a:ea typeface="Courier New" pitchFamily="34" charset="-122"/>
                <a:cs typeface="Courier New" pitchFamily="34" charset="-120"/>
              </a:rPr>
              <a:t> = </a:t>
            </a:r>
            <a:r>
              <a:rPr lang="en-US" sz="1200" dirty="0" err="1">
                <a:solidFill>
                  <a:schemeClr val="tx1">
                    <a:lumMod val="85000"/>
                    <a:lumOff val="15000"/>
                  </a:schemeClr>
                </a:solidFill>
                <a:latin typeface="Courier New" pitchFamily="34" charset="0"/>
                <a:ea typeface="Courier New" pitchFamily="34" charset="-122"/>
                <a:cs typeface="Courier New" pitchFamily="34" charset="-120"/>
              </a:rPr>
              <a:t>tf_obj_rcv.rvalue</a:t>
            </a:r>
            <a:r>
              <a:rPr lang="en-US" sz="1200" dirty="0">
                <a:solidFill>
                  <a:schemeClr val="tx1">
                    <a:lumMod val="85000"/>
                    <a:lumOff val="15000"/>
                  </a:schemeClr>
                </a:solidFill>
                <a:latin typeface="Courier New" pitchFamily="34" charset="0"/>
                <a:ea typeface="Courier New" pitchFamily="34" charset="-122"/>
                <a:cs typeface="Courier New" pitchFamily="34" charset="-120"/>
              </a:rPr>
              <a:t>  →  0x00000040</a:t>
            </a:r>
            <a:endParaRPr lang="en-US" sz="1400" dirty="0">
              <a:solidFill>
                <a:schemeClr val="tx1">
                  <a:lumMod val="85000"/>
                  <a:lumOff val="15000"/>
                </a:schemeClr>
              </a:solidFill>
            </a:endParaRPr>
          </a:p>
          <a:p>
            <a:pPr algn="ctr">
              <a:buNone/>
            </a:pPr>
            <a:endParaRPr lang="en-US" sz="1200" dirty="0">
              <a:solidFill>
                <a:srgbClr val="7B5EA7"/>
              </a:solidFill>
              <a:latin typeface="Segoe UI"/>
            </a:endParaRPr>
          </a:p>
        </p:txBody>
      </p:sp>
      <p:cxnSp>
        <p:nvCxnSpPr>
          <p:cNvPr id="3" name="FA1">
            <a:extLst>
              <a:ext uri="{FF2B5EF4-FFF2-40B4-BE49-F238E27FC236}">
                <a16:creationId xmlns:a16="http://schemas.microsoft.com/office/drawing/2014/main" id="{A10394D0-D237-3F06-88A3-7EF7A54315B7}"/>
              </a:ext>
            </a:extLst>
          </p:cNvPr>
          <p:cNvCxnSpPr>
            <a:cxnSpLocks/>
            <a:stCxn id="2" idx="2"/>
            <a:endCxn id="112" idx="0"/>
          </p:cNvCxnSpPr>
          <p:nvPr/>
        </p:nvCxnSpPr>
        <p:spPr>
          <a:xfrm>
            <a:off x="3136900" y="4349750"/>
            <a:ext cx="0" cy="260349"/>
          </a:xfrm>
          <a:prstGeom prst="line">
            <a:avLst/>
          </a:prstGeom>
          <a:ln w="19050">
            <a:solidFill>
              <a:srgbClr val="D46A2E"/>
            </a:solidFill>
            <a:tailEnd type="triangle" w="med" len="med"/>
          </a:ln>
        </p:spPr>
      </p:cxnSp>
      <p:sp>
        <p:nvSpPr>
          <p:cNvPr id="7" name="FC2">
            <a:extLst>
              <a:ext uri="{FF2B5EF4-FFF2-40B4-BE49-F238E27FC236}">
                <a16:creationId xmlns:a16="http://schemas.microsoft.com/office/drawing/2014/main" id="{07D3FDF1-EABF-2ED4-8407-062F0EF1058F}"/>
              </a:ext>
            </a:extLst>
          </p:cNvPr>
          <p:cNvSpPr/>
          <p:nvPr/>
        </p:nvSpPr>
        <p:spPr>
          <a:xfrm>
            <a:off x="406400" y="5594349"/>
            <a:ext cx="5461000" cy="749297"/>
          </a:xfrm>
          <a:prstGeom prst="roundRect">
            <a:avLst>
              <a:gd name="adj" fmla="val 8000"/>
            </a:avLst>
          </a:prstGeom>
          <a:solidFill>
            <a:srgbClr val="FFF3E0"/>
          </a:solidFill>
          <a:ln w="12700">
            <a:solidFill>
              <a:srgbClr val="D46A2E"/>
            </a:solidFill>
          </a:ln>
        </p:spPr>
        <p:txBody>
          <a:bodyPr lIns="72000" tIns="36000" rIns="72000" bIns="36000" anchor="ctr"/>
          <a:lstStyle/>
          <a:p>
            <a:pPr algn="ctr"/>
            <a:r>
              <a:rPr lang="en-US" sz="1400" b="1" dirty="0">
                <a:solidFill>
                  <a:schemeClr val="tx1">
                    <a:lumMod val="85000"/>
                    <a:lumOff val="15000"/>
                  </a:schemeClr>
                </a:solidFill>
                <a:latin typeface="Calibri" pitchFamily="34" charset="0"/>
                <a:ea typeface="Calibri" pitchFamily="34" charset="-122"/>
                <a:cs typeface="Calibri" pitchFamily="34" charset="-120"/>
              </a:rPr>
              <a:t>return </a:t>
            </a:r>
            <a:r>
              <a:rPr lang="en-US" sz="1400" b="1" dirty="0" err="1">
                <a:solidFill>
                  <a:schemeClr val="tx1">
                    <a:lumMod val="85000"/>
                    <a:lumOff val="15000"/>
                  </a:schemeClr>
                </a:solidFill>
                <a:latin typeface="Calibri" pitchFamily="34" charset="0"/>
                <a:ea typeface="Calibri" pitchFamily="34" charset="-122"/>
                <a:cs typeface="Calibri" pitchFamily="34" charset="-120"/>
              </a:rPr>
              <a:t>xdata</a:t>
            </a:r>
            <a:r>
              <a:rPr lang="en-US" sz="1400" b="1" dirty="0">
                <a:solidFill>
                  <a:schemeClr val="tx1">
                    <a:lumMod val="85000"/>
                    <a:lumOff val="15000"/>
                  </a:schemeClr>
                </a:solidFill>
                <a:latin typeface="Calibri" pitchFamily="34" charset="0"/>
                <a:ea typeface="Calibri" pitchFamily="34" charset="-122"/>
                <a:cs typeface="Calibri" pitchFamily="34" charset="-120"/>
              </a:rPr>
              <a:t>  →  returns 0x40 = 64  to caller</a:t>
            </a:r>
            <a:endParaRPr lang="en-US" sz="1400" dirty="0">
              <a:solidFill>
                <a:schemeClr val="tx1">
                  <a:lumMod val="85000"/>
                  <a:lumOff val="15000"/>
                </a:schemeClr>
              </a:solidFill>
            </a:endParaRPr>
          </a:p>
          <a:p>
            <a:pPr algn="ctr"/>
            <a:r>
              <a:rPr lang="en-US" sz="1400" i="1" dirty="0" err="1">
                <a:solidFill>
                  <a:schemeClr val="tx1">
                    <a:lumMod val="85000"/>
                    <a:lumOff val="15000"/>
                  </a:schemeClr>
                </a:solidFill>
                <a:latin typeface="Calibri" pitchFamily="34" charset="0"/>
                <a:ea typeface="Calibri" pitchFamily="34" charset="-122"/>
                <a:cs typeface="Calibri" pitchFamily="34" charset="-120"/>
              </a:rPr>
              <a:t>msb</a:t>
            </a:r>
            <a:r>
              <a:rPr lang="en-US" sz="1400" i="1" dirty="0">
                <a:solidFill>
                  <a:schemeClr val="tx1">
                    <a:lumMod val="85000"/>
                    <a:lumOff val="15000"/>
                  </a:schemeClr>
                </a:solidFill>
                <a:latin typeface="Calibri" pitchFamily="34" charset="0"/>
                <a:ea typeface="Calibri" pitchFamily="34" charset="-122"/>
                <a:cs typeface="Calibri" pitchFamily="34" charset="-120"/>
              </a:rPr>
              <a:t> = </a:t>
            </a:r>
            <a:r>
              <a:rPr lang="en-US" sz="1400" i="1" dirty="0" err="1">
                <a:solidFill>
                  <a:schemeClr val="tx1">
                    <a:lumMod val="85000"/>
                    <a:lumOff val="15000"/>
                  </a:schemeClr>
                </a:solidFill>
                <a:latin typeface="Calibri" pitchFamily="34" charset="0"/>
                <a:ea typeface="Calibri" pitchFamily="34" charset="-122"/>
                <a:cs typeface="Calibri" pitchFamily="34" charset="-120"/>
              </a:rPr>
              <a:t>readMAXSpiInterface</a:t>
            </a:r>
            <a:r>
              <a:rPr lang="en-US" sz="1400" i="1" dirty="0">
                <a:solidFill>
                  <a:schemeClr val="tx1">
                    <a:lumMod val="85000"/>
                    <a:lumOff val="15000"/>
                  </a:schemeClr>
                </a:solidFill>
                <a:latin typeface="Calibri" pitchFamily="34" charset="0"/>
                <a:ea typeface="Calibri" pitchFamily="34" charset="-122"/>
                <a:cs typeface="Calibri" pitchFamily="34" charset="-120"/>
              </a:rPr>
              <a:t>(</a:t>
            </a:r>
            <a:r>
              <a:rPr lang="en-US" sz="1400" i="1" dirty="0" err="1">
                <a:solidFill>
                  <a:schemeClr val="tx1">
                    <a:lumMod val="85000"/>
                    <a:lumOff val="15000"/>
                  </a:schemeClr>
                </a:solidFill>
                <a:latin typeface="Calibri" pitchFamily="34" charset="0"/>
                <a:ea typeface="Calibri" pitchFamily="34" charset="-122"/>
                <a:cs typeface="Calibri" pitchFamily="34" charset="-120"/>
              </a:rPr>
              <a:t>fd</a:t>
            </a:r>
            <a:r>
              <a:rPr lang="en-US" sz="1400" i="1" dirty="0">
                <a:solidFill>
                  <a:schemeClr val="tx1">
                    <a:lumMod val="85000"/>
                    <a:lumOff val="15000"/>
                  </a:schemeClr>
                </a:solidFill>
                <a:latin typeface="Calibri" pitchFamily="34" charset="0"/>
                <a:ea typeface="Calibri" pitchFamily="34" charset="-122"/>
                <a:cs typeface="Calibri" pitchFamily="34" charset="-120"/>
              </a:rPr>
              <a:t>, 0x01) = 64</a:t>
            </a:r>
            <a:endParaRPr lang="en-US" sz="1400" dirty="0">
              <a:solidFill>
                <a:schemeClr val="tx1">
                  <a:lumMod val="85000"/>
                  <a:lumOff val="15000"/>
                </a:schemeClr>
              </a:solidFill>
            </a:endParaRPr>
          </a:p>
        </p:txBody>
      </p:sp>
      <p:cxnSp>
        <p:nvCxnSpPr>
          <p:cNvPr id="8" name="FA1">
            <a:extLst>
              <a:ext uri="{FF2B5EF4-FFF2-40B4-BE49-F238E27FC236}">
                <a16:creationId xmlns:a16="http://schemas.microsoft.com/office/drawing/2014/main" id="{F05A3483-E40F-55FC-8302-6EABB59AFFB4}"/>
              </a:ext>
            </a:extLst>
          </p:cNvPr>
          <p:cNvCxnSpPr>
            <a:cxnSpLocks/>
          </p:cNvCxnSpPr>
          <p:nvPr/>
        </p:nvCxnSpPr>
        <p:spPr>
          <a:xfrm>
            <a:off x="3140307" y="5359396"/>
            <a:ext cx="0" cy="260349"/>
          </a:xfrm>
          <a:prstGeom prst="line">
            <a:avLst/>
          </a:prstGeom>
          <a:ln w="19050">
            <a:solidFill>
              <a:srgbClr val="D46A2E"/>
            </a:solidFill>
            <a:tailEnd type="triangle" w="med" len="med"/>
          </a:ln>
        </p:spPr>
      </p:cxnSp>
      <p:sp>
        <p:nvSpPr>
          <p:cNvPr id="9" name="Shape 34">
            <a:extLst>
              <a:ext uri="{FF2B5EF4-FFF2-40B4-BE49-F238E27FC236}">
                <a16:creationId xmlns:a16="http://schemas.microsoft.com/office/drawing/2014/main" id="{552C6E25-060F-4038-A239-EA3F127912DC}"/>
              </a:ext>
            </a:extLst>
          </p:cNvPr>
          <p:cNvSpPr/>
          <p:nvPr/>
        </p:nvSpPr>
        <p:spPr>
          <a:xfrm>
            <a:off x="6197600" y="1415467"/>
            <a:ext cx="5588000" cy="347472"/>
          </a:xfrm>
          <a:prstGeom prst="rect">
            <a:avLst/>
          </a:prstGeom>
          <a:solidFill>
            <a:srgbClr val="4A148C"/>
          </a:solidFill>
          <a:ln w="12700">
            <a:solidFill>
              <a:srgbClr val="4A148C"/>
            </a:solidFill>
            <a:prstDash val="solid"/>
          </a:ln>
        </p:spPr>
        <p:txBody>
          <a:bodyPr/>
          <a:lstStyle/>
          <a:p>
            <a:r>
              <a:rPr lang="en-US" sz="1400" dirty="0" err="1">
                <a:solidFill>
                  <a:srgbClr val="FFFFFF"/>
                </a:solidFill>
                <a:latin typeface="Calibri" pitchFamily="34" charset="0"/>
                <a:ea typeface="Calibri" pitchFamily="34" charset="-122"/>
                <a:cs typeface="Calibri" pitchFamily="34" charset="-120"/>
              </a:rPr>
              <a:t>utils.c</a:t>
            </a:r>
            <a:r>
              <a:rPr lang="en-US" sz="1400" dirty="0">
                <a:solidFill>
                  <a:srgbClr val="FFFFFF"/>
                </a:solidFill>
                <a:latin typeface="Calibri" pitchFamily="34" charset="0"/>
                <a:ea typeface="Calibri" pitchFamily="34" charset="-122"/>
                <a:cs typeface="Calibri" pitchFamily="34" charset="-120"/>
              </a:rPr>
              <a:t> lines 65-76  —  Phase 2: Retrieve captured data</a:t>
            </a:r>
            <a:endParaRPr lang="en-US" sz="1400" dirty="0"/>
          </a:p>
          <a:p>
            <a:endParaRPr lang="en-DE" dirty="0"/>
          </a:p>
        </p:txBody>
      </p:sp>
    </p:spTree>
    <p:extLst>
      <p:ext uri="{BB962C8B-B14F-4D97-AF65-F5344CB8AC3E}">
        <p14:creationId xmlns:p14="http://schemas.microsoft.com/office/powerpoint/2010/main" val="20666660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73CB4-D663-1AF6-998A-2EBD9C3266AB}"/>
            </a:ext>
          </a:extLst>
        </p:cNvPr>
        <p:cNvGrpSpPr/>
        <p:nvPr/>
      </p:nvGrpSpPr>
      <p:grpSpPr>
        <a:xfrm>
          <a:off x="0" y="0"/>
          <a:ext cx="0" cy="0"/>
          <a:chOff x="0" y="0"/>
          <a:chExt cx="0" cy="0"/>
        </a:xfrm>
      </p:grpSpPr>
      <p:sp>
        <p:nvSpPr>
          <p:cNvPr id="100" name="H">
            <a:extLst>
              <a:ext uri="{FF2B5EF4-FFF2-40B4-BE49-F238E27FC236}">
                <a16:creationId xmlns:a16="http://schemas.microsoft.com/office/drawing/2014/main" id="{07C6969F-1BAF-E27C-C53B-CD236430EE2C}"/>
              </a:ext>
            </a:extLst>
          </p:cNvPr>
          <p:cNvSpPr/>
          <p:nvPr/>
        </p:nvSpPr>
        <p:spPr>
          <a:xfrm>
            <a:off x="0" y="0"/>
            <a:ext cx="12192000" cy="660400"/>
          </a:xfrm>
          <a:prstGeom prst="rect">
            <a:avLst/>
          </a:prstGeom>
          <a:solidFill>
            <a:schemeClr val="accent6">
              <a:lumMod val="75000"/>
            </a:schemeClr>
          </a:solidFill>
          <a:ln>
            <a:noFill/>
          </a:ln>
        </p:spPr>
        <p:txBody>
          <a:bodyPr lIns="216000" anchor="ctr"/>
          <a:lstStyle/>
          <a:p>
            <a:pPr algn="ctr"/>
            <a:r>
              <a:rPr lang="en-US" b="1" dirty="0">
                <a:solidFill>
                  <a:srgbClr val="FFFFFF"/>
                </a:solidFill>
                <a:latin typeface="Calibri" pitchFamily="34" charset="0"/>
                <a:ea typeface="Calibri" pitchFamily="34" charset="-122"/>
                <a:cs typeface="Calibri" pitchFamily="34" charset="-120"/>
              </a:rPr>
              <a:t>Step 5 of 5  —  Full Iteration Trace with Numbers + Final MSB Result + Complete Function</a:t>
            </a:r>
            <a:endParaRPr lang="en-US" dirty="0"/>
          </a:p>
        </p:txBody>
      </p:sp>
      <p:cxnSp>
        <p:nvCxnSpPr>
          <p:cNvPr id="101" name="AL">
            <a:extLst>
              <a:ext uri="{FF2B5EF4-FFF2-40B4-BE49-F238E27FC236}">
                <a16:creationId xmlns:a16="http://schemas.microsoft.com/office/drawing/2014/main" id="{123E54C2-5698-9139-E4E9-4D575F630426}"/>
              </a:ext>
            </a:extLst>
          </p:cNvPr>
          <p:cNvCxnSpPr/>
          <p:nvPr/>
        </p:nvCxnSpPr>
        <p:spPr>
          <a:xfrm>
            <a:off x="0" y="660400"/>
            <a:ext cx="12192000" cy="0"/>
          </a:xfrm>
          <a:prstGeom prst="line">
            <a:avLst/>
          </a:prstGeom>
          <a:ln w="25400">
            <a:solidFill>
              <a:srgbClr val="D46A2E"/>
            </a:solidFill>
          </a:ln>
        </p:spPr>
      </p:cxnSp>
      <p:cxnSp>
        <p:nvCxnSpPr>
          <p:cNvPr id="290" name="BL1">
            <a:extLst>
              <a:ext uri="{FF2B5EF4-FFF2-40B4-BE49-F238E27FC236}">
                <a16:creationId xmlns:a16="http://schemas.microsoft.com/office/drawing/2014/main" id="{99BF8943-3858-61AB-3308-893FF92B28D0}"/>
              </a:ext>
            </a:extLst>
          </p:cNvPr>
          <p:cNvCxnSpPr/>
          <p:nvPr/>
        </p:nvCxnSpPr>
        <p:spPr>
          <a:xfrm>
            <a:off x="0" y="6578600"/>
            <a:ext cx="12192000" cy="0"/>
          </a:xfrm>
          <a:prstGeom prst="line">
            <a:avLst/>
          </a:prstGeom>
          <a:ln w="25400">
            <a:solidFill>
              <a:srgbClr val="D46A2E"/>
            </a:solidFill>
          </a:ln>
        </p:spPr>
      </p:cxnSp>
      <p:cxnSp>
        <p:nvCxnSpPr>
          <p:cNvPr id="291" name="BL2">
            <a:extLst>
              <a:ext uri="{FF2B5EF4-FFF2-40B4-BE49-F238E27FC236}">
                <a16:creationId xmlns:a16="http://schemas.microsoft.com/office/drawing/2014/main" id="{FFBFD5DD-DF49-D841-93B2-89369774176B}"/>
              </a:ext>
            </a:extLst>
          </p:cNvPr>
          <p:cNvCxnSpPr/>
          <p:nvPr/>
        </p:nvCxnSpPr>
        <p:spPr>
          <a:xfrm>
            <a:off x="0" y="6667500"/>
            <a:ext cx="12192000" cy="0"/>
          </a:xfrm>
          <a:prstGeom prst="line">
            <a:avLst/>
          </a:prstGeom>
          <a:ln w="38100">
            <a:solidFill>
              <a:srgbClr val="1B2A4A"/>
            </a:solidFill>
          </a:ln>
        </p:spPr>
      </p:cxnSp>
      <p:graphicFrame>
        <p:nvGraphicFramePr>
          <p:cNvPr id="4" name="Table 3">
            <a:extLst>
              <a:ext uri="{FF2B5EF4-FFF2-40B4-BE49-F238E27FC236}">
                <a16:creationId xmlns:a16="http://schemas.microsoft.com/office/drawing/2014/main" id="{5B8E6588-FE89-0B2D-F356-481DBD1B8E31}"/>
              </a:ext>
            </a:extLst>
          </p:cNvPr>
          <p:cNvGraphicFramePr>
            <a:graphicFrameLocks noGrp="1"/>
          </p:cNvGraphicFramePr>
          <p:nvPr>
            <p:extLst>
              <p:ext uri="{D42A27DB-BD31-4B8C-83A1-F6EECF244321}">
                <p14:modId xmlns:p14="http://schemas.microsoft.com/office/powerpoint/2010/main" val="1205166153"/>
              </p:ext>
            </p:extLst>
          </p:nvPr>
        </p:nvGraphicFramePr>
        <p:xfrm>
          <a:off x="116642" y="1503109"/>
          <a:ext cx="6106555" cy="982980"/>
        </p:xfrm>
        <a:graphic>
          <a:graphicData uri="http://schemas.openxmlformats.org/drawingml/2006/table">
            <a:tbl>
              <a:tblPr firstRow="1" bandRow="1"/>
              <a:tblGrid>
                <a:gridCol w="608259">
                  <a:extLst>
                    <a:ext uri="{9D8B030D-6E8A-4147-A177-3AD203B41FA5}">
                      <a16:colId xmlns:a16="http://schemas.microsoft.com/office/drawing/2014/main" val="3510007428"/>
                    </a:ext>
                  </a:extLst>
                </a:gridCol>
                <a:gridCol w="443499">
                  <a:extLst>
                    <a:ext uri="{9D8B030D-6E8A-4147-A177-3AD203B41FA5}">
                      <a16:colId xmlns:a16="http://schemas.microsoft.com/office/drawing/2014/main" val="671620356"/>
                    </a:ext>
                  </a:extLst>
                </a:gridCol>
                <a:gridCol w="393463">
                  <a:extLst>
                    <a:ext uri="{9D8B030D-6E8A-4147-A177-3AD203B41FA5}">
                      <a16:colId xmlns:a16="http://schemas.microsoft.com/office/drawing/2014/main" val="3856352254"/>
                    </a:ext>
                  </a:extLst>
                </a:gridCol>
                <a:gridCol w="1027819">
                  <a:extLst>
                    <a:ext uri="{9D8B030D-6E8A-4147-A177-3AD203B41FA5}">
                      <a16:colId xmlns:a16="http://schemas.microsoft.com/office/drawing/2014/main" val="1004829069"/>
                    </a:ext>
                  </a:extLst>
                </a:gridCol>
                <a:gridCol w="1470160">
                  <a:extLst>
                    <a:ext uri="{9D8B030D-6E8A-4147-A177-3AD203B41FA5}">
                      <a16:colId xmlns:a16="http://schemas.microsoft.com/office/drawing/2014/main" val="1387567634"/>
                    </a:ext>
                  </a:extLst>
                </a:gridCol>
                <a:gridCol w="483765">
                  <a:extLst>
                    <a:ext uri="{9D8B030D-6E8A-4147-A177-3AD203B41FA5}">
                      <a16:colId xmlns:a16="http://schemas.microsoft.com/office/drawing/2014/main" val="3433501371"/>
                    </a:ext>
                  </a:extLst>
                </a:gridCol>
                <a:gridCol w="1679590">
                  <a:extLst>
                    <a:ext uri="{9D8B030D-6E8A-4147-A177-3AD203B41FA5}">
                      <a16:colId xmlns:a16="http://schemas.microsoft.com/office/drawing/2014/main" val="141170653"/>
                    </a:ext>
                  </a:extLst>
                </a:gridCol>
              </a:tblGrid>
              <a:tr h="364755">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GB" sz="1050" b="0" dirty="0">
                          <a:solidFill>
                            <a:schemeClr val="tx1"/>
                          </a:solidFill>
                        </a:rPr>
                        <a:t>P2-1</a:t>
                      </a:r>
                      <a:endParaRPr lang="en-DE" sz="1050" b="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GB" sz="1050" b="0" dirty="0">
                          <a:solidFill>
                            <a:schemeClr val="tx1"/>
                          </a:solidFill>
                        </a:rPr>
                        <a:t>0xFF</a:t>
                      </a:r>
                      <a:endParaRPr lang="en-DE" sz="1050" b="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GB" sz="1050" b="0" dirty="0">
                          <a:solidFill>
                            <a:schemeClr val="tx1"/>
                          </a:solidFill>
                        </a:rPr>
                        <a:t>2</a:t>
                      </a:r>
                      <a:endParaRPr lang="en-DE" sz="1050" b="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GB" sz="1050" b="0" dirty="0">
                          <a:solidFill>
                            <a:schemeClr val="tx1"/>
                          </a:solidFill>
                        </a:rPr>
                        <a:t>‘give me data’</a:t>
                      </a:r>
                      <a:endParaRPr lang="en-DE" sz="1050" b="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0" dirty="0">
                          <a:solidFill>
                            <a:schemeClr val="tx1"/>
                          </a:solidFill>
                          <a:latin typeface="Courier New" pitchFamily="34" charset="0"/>
                          <a:ea typeface="Courier New" pitchFamily="34" charset="-122"/>
                          <a:cs typeface="Courier New" pitchFamily="34" charset="-120"/>
                        </a:rPr>
                        <a:t>0x00000040</a:t>
                      </a:r>
                      <a:endParaRPr lang="en-US" sz="1050" b="0" dirty="0">
                        <a:solidFill>
                          <a:schemeClr val="tx1"/>
                        </a:solidFill>
                      </a:endParaRPr>
                    </a:p>
                    <a:p>
                      <a:pPr algn="ctr"/>
                      <a:endParaRPr lang="en-DE" sz="1050" b="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GB" sz="1050" b="0" dirty="0">
                          <a:solidFill>
                            <a:schemeClr val="tx1"/>
                          </a:solidFill>
                        </a:rPr>
                        <a:t>-</a:t>
                      </a:r>
                      <a:endParaRPr lang="en-DE" sz="1050" b="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050" b="0" dirty="0">
                          <a:solidFill>
                            <a:schemeClr val="tx1"/>
                          </a:solidFill>
                          <a:latin typeface="Calibri" pitchFamily="34" charset="0"/>
                          <a:ea typeface="Calibri" pitchFamily="34" charset="-122"/>
                          <a:cs typeface="Calibri" pitchFamily="34" charset="-120"/>
                        </a:rPr>
                        <a:t>returns captured SPI </a:t>
                      </a:r>
                      <a:endParaRPr lang="en-DE" sz="1050" b="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extLst>
                  <a:ext uri="{0D108BD9-81ED-4DB2-BD59-A6C34878D82A}">
                    <a16:rowId xmlns:a16="http://schemas.microsoft.com/office/drawing/2014/main" val="2007397594"/>
                  </a:ext>
                </a:extLst>
              </a:tr>
              <a:tr h="506604">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GB" sz="1050" dirty="0"/>
                        <a:t>MASK</a:t>
                      </a:r>
                      <a:endParaRPr lang="en-DE" sz="105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GB" sz="1050" dirty="0"/>
                        <a:t>-</a:t>
                      </a:r>
                      <a:endParaRPr lang="en-DE" sz="105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GB" sz="1050" dirty="0"/>
                        <a:t>-</a:t>
                      </a:r>
                      <a:endParaRPr lang="en-DE" sz="105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err="1">
                          <a:solidFill>
                            <a:srgbClr val="222222"/>
                          </a:solidFill>
                          <a:latin typeface="Calibri" pitchFamily="34" charset="0"/>
                          <a:ea typeface="Calibri" pitchFamily="34" charset="-122"/>
                          <a:cs typeface="Calibri" pitchFamily="34" charset="-120"/>
                        </a:rPr>
                        <a:t>xdata</a:t>
                      </a:r>
                      <a:r>
                        <a:rPr lang="en-US" sz="1050" dirty="0">
                          <a:solidFill>
                            <a:srgbClr val="222222"/>
                          </a:solidFill>
                          <a:latin typeface="Calibri" pitchFamily="34" charset="0"/>
                          <a:ea typeface="Calibri" pitchFamily="34" charset="-122"/>
                          <a:cs typeface="Calibri" pitchFamily="34" charset="-120"/>
                        </a:rPr>
                        <a:t> &amp;= 0xFF</a:t>
                      </a:r>
                      <a:endParaRPr lang="en-US" sz="1050" dirty="0"/>
                    </a:p>
                    <a:p>
                      <a:pPr algn="ctr"/>
                      <a:endParaRPr lang="en-DE" sz="105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rgbClr val="222222"/>
                          </a:solidFill>
                          <a:latin typeface="Courier New" pitchFamily="34" charset="0"/>
                          <a:ea typeface="Courier New" pitchFamily="34" charset="-122"/>
                          <a:cs typeface="Courier New" pitchFamily="34" charset="-120"/>
                        </a:rPr>
                        <a:t>0x00000040 → 0x40</a:t>
                      </a:r>
                      <a:endParaRPr lang="en-US" sz="1050" dirty="0"/>
                    </a:p>
                    <a:p>
                      <a:pPr algn="ctr"/>
                      <a:endParaRPr lang="en-DE" sz="105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GB" sz="1050" dirty="0"/>
                        <a:t>-</a:t>
                      </a:r>
                      <a:endParaRPr lang="en-DE" sz="105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rgbClr val="222222"/>
                          </a:solidFill>
                          <a:latin typeface="Calibri" pitchFamily="34" charset="0"/>
                          <a:ea typeface="Calibri" pitchFamily="34" charset="-122"/>
                          <a:cs typeface="Calibri" pitchFamily="34" charset="-120"/>
                        </a:rPr>
                        <a:t>0x40 = 64 = </a:t>
                      </a:r>
                      <a:r>
                        <a:rPr lang="en-US" sz="1050" dirty="0" err="1">
                          <a:solidFill>
                            <a:srgbClr val="222222"/>
                          </a:solidFill>
                          <a:latin typeface="Calibri" pitchFamily="34" charset="0"/>
                          <a:ea typeface="Calibri" pitchFamily="34" charset="-122"/>
                          <a:cs typeface="Calibri" pitchFamily="34" charset="-120"/>
                        </a:rPr>
                        <a:t>msb</a:t>
                      </a:r>
                      <a:r>
                        <a:rPr lang="en-US" sz="1050" dirty="0">
                          <a:solidFill>
                            <a:srgbClr val="222222"/>
                          </a:solidFill>
                          <a:latin typeface="Calibri" pitchFamily="34" charset="0"/>
                          <a:ea typeface="Calibri" pitchFamily="34" charset="-122"/>
                          <a:cs typeface="Calibri" pitchFamily="34" charset="-120"/>
                        </a:rPr>
                        <a:t> ✓</a:t>
                      </a:r>
                      <a:endParaRPr lang="en-US" sz="1050" dirty="0"/>
                    </a:p>
                    <a:p>
                      <a:pPr algn="ctr"/>
                      <a:endParaRPr lang="en-DE" sz="105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extLst>
                  <a:ext uri="{0D108BD9-81ED-4DB2-BD59-A6C34878D82A}">
                    <a16:rowId xmlns:a16="http://schemas.microsoft.com/office/drawing/2014/main" val="3804412415"/>
                  </a:ext>
                </a:extLst>
              </a:tr>
            </a:tbl>
          </a:graphicData>
        </a:graphic>
      </p:graphicFrame>
      <p:graphicFrame>
        <p:nvGraphicFramePr>
          <p:cNvPr id="5" name="Table 4">
            <a:extLst>
              <a:ext uri="{FF2B5EF4-FFF2-40B4-BE49-F238E27FC236}">
                <a16:creationId xmlns:a16="http://schemas.microsoft.com/office/drawing/2014/main" id="{DC922850-9B06-7737-D867-447143E81AF8}"/>
              </a:ext>
            </a:extLst>
          </p:cNvPr>
          <p:cNvGraphicFramePr>
            <a:graphicFrameLocks noGrp="1"/>
          </p:cNvGraphicFramePr>
          <p:nvPr>
            <p:extLst>
              <p:ext uri="{D42A27DB-BD31-4B8C-83A1-F6EECF244321}">
                <p14:modId xmlns:p14="http://schemas.microsoft.com/office/powerpoint/2010/main" val="2468992393"/>
              </p:ext>
            </p:extLst>
          </p:nvPr>
        </p:nvGraphicFramePr>
        <p:xfrm>
          <a:off x="123371" y="3495050"/>
          <a:ext cx="6171905" cy="1874520"/>
        </p:xfrm>
        <a:graphic>
          <a:graphicData uri="http://schemas.openxmlformats.org/drawingml/2006/table">
            <a:tbl>
              <a:tblPr firstRow="1" bandRow="1"/>
              <a:tblGrid>
                <a:gridCol w="607516">
                  <a:extLst>
                    <a:ext uri="{9D8B030D-6E8A-4147-A177-3AD203B41FA5}">
                      <a16:colId xmlns:a16="http://schemas.microsoft.com/office/drawing/2014/main" val="3510007428"/>
                    </a:ext>
                  </a:extLst>
                </a:gridCol>
                <a:gridCol w="482917">
                  <a:extLst>
                    <a:ext uri="{9D8B030D-6E8A-4147-A177-3AD203B41FA5}">
                      <a16:colId xmlns:a16="http://schemas.microsoft.com/office/drawing/2014/main" val="671620356"/>
                    </a:ext>
                  </a:extLst>
                </a:gridCol>
                <a:gridCol w="498882">
                  <a:extLst>
                    <a:ext uri="{9D8B030D-6E8A-4147-A177-3AD203B41FA5}">
                      <a16:colId xmlns:a16="http://schemas.microsoft.com/office/drawing/2014/main" val="3856352254"/>
                    </a:ext>
                  </a:extLst>
                </a:gridCol>
                <a:gridCol w="1183536">
                  <a:extLst>
                    <a:ext uri="{9D8B030D-6E8A-4147-A177-3AD203B41FA5}">
                      <a16:colId xmlns:a16="http://schemas.microsoft.com/office/drawing/2014/main" val="1004829069"/>
                    </a:ext>
                  </a:extLst>
                </a:gridCol>
                <a:gridCol w="1214410">
                  <a:extLst>
                    <a:ext uri="{9D8B030D-6E8A-4147-A177-3AD203B41FA5}">
                      <a16:colId xmlns:a16="http://schemas.microsoft.com/office/drawing/2014/main" val="1387567634"/>
                    </a:ext>
                  </a:extLst>
                </a:gridCol>
                <a:gridCol w="488526">
                  <a:extLst>
                    <a:ext uri="{9D8B030D-6E8A-4147-A177-3AD203B41FA5}">
                      <a16:colId xmlns:a16="http://schemas.microsoft.com/office/drawing/2014/main" val="3433501371"/>
                    </a:ext>
                  </a:extLst>
                </a:gridCol>
                <a:gridCol w="1696118">
                  <a:extLst>
                    <a:ext uri="{9D8B030D-6E8A-4147-A177-3AD203B41FA5}">
                      <a16:colId xmlns:a16="http://schemas.microsoft.com/office/drawing/2014/main" val="141170653"/>
                    </a:ext>
                  </a:extLst>
                </a:gridCol>
              </a:tblGrid>
              <a:tr h="355334">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GB" sz="900" b="1" dirty="0">
                          <a:solidFill>
                            <a:schemeClr val="tx1"/>
                          </a:solidFill>
                        </a:rPr>
                        <a:t>Iter</a:t>
                      </a:r>
                      <a:endParaRPr lang="en-DE" sz="900" b="1"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GB" sz="900" b="1" dirty="0" err="1">
                          <a:solidFill>
                            <a:schemeClr val="tx1"/>
                          </a:solidFill>
                        </a:rPr>
                        <a:t>Rnum</a:t>
                      </a:r>
                      <a:endParaRPr lang="en-DE" sz="900" b="1"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GB" sz="900" b="1" dirty="0" err="1">
                          <a:solidFill>
                            <a:schemeClr val="tx1"/>
                          </a:solidFill>
                        </a:rPr>
                        <a:t>rvalue</a:t>
                      </a:r>
                      <a:endParaRPr lang="en-DE" sz="900" b="1"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indent="0" algn="ctr">
                        <a:buNone/>
                      </a:pPr>
                      <a:r>
                        <a:rPr lang="en-US" sz="900" b="1" dirty="0">
                          <a:solidFill>
                            <a:schemeClr val="tx1"/>
                          </a:solidFill>
                          <a:latin typeface="Calibri" pitchFamily="34" charset="0"/>
                          <a:ea typeface="Calibri" pitchFamily="34" charset="-122"/>
                          <a:cs typeface="Calibri" pitchFamily="34" charset="-120"/>
                        </a:rPr>
                        <a:t>write(</a:t>
                      </a:r>
                      <a:r>
                        <a:rPr lang="en-US" sz="900" b="1" dirty="0" err="1">
                          <a:solidFill>
                            <a:schemeClr val="tx1"/>
                          </a:solidFill>
                          <a:latin typeface="Calibri" pitchFamily="34" charset="0"/>
                          <a:ea typeface="Calibri" pitchFamily="34" charset="-122"/>
                          <a:cs typeface="Calibri" pitchFamily="34" charset="-120"/>
                        </a:rPr>
                        <a:t>fd</a:t>
                      </a:r>
                      <a:r>
                        <a:rPr lang="en-US" sz="900" b="1" dirty="0">
                          <a:solidFill>
                            <a:schemeClr val="tx1"/>
                          </a:solidFill>
                          <a:latin typeface="Calibri" pitchFamily="34" charset="0"/>
                          <a:ea typeface="Calibri" pitchFamily="34" charset="-122"/>
                          <a:cs typeface="Calibri" pitchFamily="34" charset="-120"/>
                        </a:rPr>
                        <a:t>) sends</a:t>
                      </a:r>
                      <a:endParaRPr lang="en-US" sz="9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indent="0" algn="ctr">
                        <a:buNone/>
                      </a:pPr>
                      <a:r>
                        <a:rPr lang="en-US" sz="900" b="1" dirty="0">
                          <a:solidFill>
                            <a:schemeClr val="tx1"/>
                          </a:solidFill>
                          <a:latin typeface="Calibri" pitchFamily="34" charset="0"/>
                          <a:ea typeface="Calibri" pitchFamily="34" charset="-122"/>
                          <a:cs typeface="Calibri" pitchFamily="34" charset="-120"/>
                        </a:rPr>
                        <a:t>read() </a:t>
                      </a:r>
                      <a:r>
                        <a:rPr lang="en-US" sz="900" b="1" dirty="0" err="1">
                          <a:solidFill>
                            <a:schemeClr val="tx1"/>
                          </a:solidFill>
                          <a:latin typeface="Calibri" pitchFamily="34" charset="0"/>
                          <a:ea typeface="Calibri" pitchFamily="34" charset="-122"/>
                          <a:cs typeface="Calibri" pitchFamily="34" charset="-120"/>
                        </a:rPr>
                        <a:t>xdata</a:t>
                      </a:r>
                      <a:endParaRPr lang="en-US" sz="900" dirty="0">
                        <a:solidFill>
                          <a:schemeClr val="tx1"/>
                        </a:solidFill>
                      </a:endParaRPr>
                    </a:p>
                    <a:p>
                      <a:pPr algn="ctr"/>
                      <a:endParaRPr lang="en-DE" sz="900" b="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indent="0" algn="ctr">
                        <a:buNone/>
                      </a:pPr>
                      <a:r>
                        <a:rPr lang="en-US" sz="900" b="1" dirty="0">
                          <a:solidFill>
                            <a:schemeClr val="tx1"/>
                          </a:solidFill>
                          <a:latin typeface="Calibri" pitchFamily="34" charset="0"/>
                          <a:ea typeface="Calibri" pitchFamily="34" charset="-122"/>
                          <a:cs typeface="Calibri" pitchFamily="34" charset="-120"/>
                        </a:rPr>
                        <a:t>Bit0</a:t>
                      </a:r>
                      <a:endParaRPr lang="en-US" sz="9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indent="0" algn="ctr">
                        <a:buNone/>
                      </a:pPr>
                      <a:r>
                        <a:rPr lang="en-US" sz="900" b="1" dirty="0">
                          <a:solidFill>
                            <a:schemeClr val="tx1"/>
                          </a:solidFill>
                          <a:latin typeface="Calibri" pitchFamily="34" charset="0"/>
                          <a:ea typeface="Calibri" pitchFamily="34" charset="-122"/>
                          <a:cs typeface="Calibri" pitchFamily="34" charset="-120"/>
                        </a:rPr>
                        <a:t>Action</a:t>
                      </a:r>
                      <a:endParaRPr lang="en-US" sz="9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extLst>
                  <a:ext uri="{0D108BD9-81ED-4DB2-BD59-A6C34878D82A}">
                    <a16:rowId xmlns:a16="http://schemas.microsoft.com/office/drawing/2014/main" val="2007397594"/>
                  </a:ext>
                </a:extLst>
              </a:tr>
              <a:tr h="488585">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900" dirty="0">
                          <a:solidFill>
                            <a:srgbClr val="222222"/>
                          </a:solidFill>
                          <a:latin typeface="Calibri" pitchFamily="34" charset="0"/>
                          <a:ea typeface="Calibri" pitchFamily="34" charset="-122"/>
                          <a:cs typeface="Calibri" pitchFamily="34" charset="-120"/>
                        </a:rPr>
                        <a:t>INIT</a:t>
                      </a:r>
                      <a:endParaRPr lang="en-DE" sz="9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GB" sz="900" dirty="0"/>
                        <a:t>-</a:t>
                      </a:r>
                      <a:endParaRPr lang="en-DE" sz="9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GB" sz="900" dirty="0"/>
                        <a:t>-</a:t>
                      </a:r>
                      <a:endParaRPr lang="en-DE" sz="9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indent="0" algn="ctr">
                        <a:buNone/>
                      </a:pPr>
                      <a:r>
                        <a:rPr lang="en-US" sz="900" dirty="0">
                          <a:solidFill>
                            <a:srgbClr val="222222"/>
                          </a:solidFill>
                          <a:latin typeface="Calibri" pitchFamily="34" charset="0"/>
                          <a:ea typeface="Calibri" pitchFamily="34" charset="-122"/>
                          <a:cs typeface="Calibri" pitchFamily="34" charset="-120"/>
                        </a:rPr>
                        <a:t>k=0, </a:t>
                      </a:r>
                      <a:r>
                        <a:rPr lang="en-US" sz="900" dirty="0" err="1">
                          <a:solidFill>
                            <a:srgbClr val="222222"/>
                          </a:solidFill>
                          <a:latin typeface="Calibri" pitchFamily="34" charset="0"/>
                          <a:ea typeface="Calibri" pitchFamily="34" charset="-122"/>
                          <a:cs typeface="Calibri" pitchFamily="34" charset="-120"/>
                        </a:rPr>
                        <a:t>xdata</a:t>
                      </a:r>
                      <a:r>
                        <a:rPr lang="en-US" sz="900" dirty="0">
                          <a:solidFill>
                            <a:srgbClr val="222222"/>
                          </a:solidFill>
                          <a:latin typeface="Calibri" pitchFamily="34" charset="0"/>
                          <a:ea typeface="Calibri" pitchFamily="34" charset="-122"/>
                          <a:cs typeface="Calibri" pitchFamily="34" charset="-120"/>
                        </a:rPr>
                        <a:t>=0xC0000000</a:t>
                      </a:r>
                      <a:endParaRPr lang="en-US" sz="900" dirty="0"/>
                    </a:p>
                    <a:p>
                      <a:pPr algn="ctr"/>
                      <a:endParaRPr lang="en-DE" sz="9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GB" sz="900" dirty="0"/>
                        <a:t>-</a:t>
                      </a:r>
                      <a:endParaRPr lang="en-DE" sz="9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GB" sz="900" dirty="0"/>
                        <a:t>-</a:t>
                      </a:r>
                      <a:endParaRPr lang="en-DE" sz="9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indent="0" algn="ctr">
                        <a:buNone/>
                      </a:pPr>
                      <a:r>
                        <a:rPr lang="en-US" sz="900" dirty="0">
                          <a:solidFill>
                            <a:srgbClr val="222222"/>
                          </a:solidFill>
                          <a:latin typeface="Calibri" pitchFamily="34" charset="0"/>
                          <a:ea typeface="Calibri" pitchFamily="34" charset="-122"/>
                          <a:cs typeface="Calibri" pitchFamily="34" charset="-120"/>
                        </a:rPr>
                        <a:t>ENTER loop (bit0=0)</a:t>
                      </a:r>
                      <a:endParaRPr lang="en-US" sz="900" dirty="0"/>
                    </a:p>
                    <a:p>
                      <a:pPr algn="ctr"/>
                      <a:endParaRPr lang="en-DE" sz="9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extLst>
                  <a:ext uri="{0D108BD9-81ED-4DB2-BD59-A6C34878D82A}">
                    <a16:rowId xmlns:a16="http://schemas.microsoft.com/office/drawing/2014/main" val="3804412415"/>
                  </a:ext>
                </a:extLst>
              </a:tr>
              <a:tr h="488585">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GB" sz="900" dirty="0"/>
                        <a:t>1</a:t>
                      </a:r>
                      <a:endParaRPr lang="en-DE" sz="9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900" dirty="0">
                          <a:solidFill>
                            <a:srgbClr val="222222"/>
                          </a:solidFill>
                          <a:latin typeface="Calibri" pitchFamily="34" charset="0"/>
                          <a:ea typeface="Calibri" pitchFamily="34" charset="-122"/>
                          <a:cs typeface="Calibri" pitchFamily="34" charset="-120"/>
                        </a:rPr>
                        <a:t>0xFF</a:t>
                      </a:r>
                      <a:endParaRPr lang="en-DE" sz="9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GB" sz="900" dirty="0"/>
                        <a:t>1</a:t>
                      </a:r>
                      <a:endParaRPr lang="en-DE" sz="9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indent="0" algn="ctr">
                        <a:buNone/>
                      </a:pPr>
                      <a:r>
                        <a:rPr lang="en-US" sz="900" dirty="0">
                          <a:solidFill>
                            <a:srgbClr val="222222"/>
                          </a:solidFill>
                          <a:latin typeface="Calibri" pitchFamily="34" charset="0"/>
                          <a:ea typeface="Calibri" pitchFamily="34" charset="-122"/>
                          <a:cs typeface="Calibri" pitchFamily="34" charset="-120"/>
                        </a:rPr>
                        <a:t>'done?' → kernel checks</a:t>
                      </a:r>
                      <a:endParaRPr lang="en-US" sz="900" dirty="0"/>
                    </a:p>
                    <a:p>
                      <a:pPr algn="ctr"/>
                      <a:endParaRPr lang="en-DE" sz="9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solidFill>
                            <a:srgbClr val="222222"/>
                          </a:solidFill>
                          <a:latin typeface="Courier New" pitchFamily="34" charset="0"/>
                          <a:ea typeface="Courier New" pitchFamily="34" charset="-122"/>
                          <a:cs typeface="Courier New" pitchFamily="34" charset="-120"/>
                        </a:rPr>
                        <a:t>0x00000000</a:t>
                      </a:r>
                      <a:endParaRPr lang="en-US" sz="900" dirty="0"/>
                    </a:p>
                    <a:p>
                      <a:pPr algn="ctr"/>
                      <a:endParaRPr lang="en-DE" sz="9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endParaRPr lang="en-DE" sz="9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solidFill>
                            <a:srgbClr val="222222"/>
                          </a:solidFill>
                          <a:latin typeface="Calibri" pitchFamily="34" charset="0"/>
                          <a:ea typeface="Calibri" pitchFamily="34" charset="-122"/>
                          <a:cs typeface="Calibri" pitchFamily="34" charset="-120"/>
                        </a:rPr>
                        <a:t>YES, loop again</a:t>
                      </a:r>
                      <a:endParaRPr lang="en-US" sz="900" dirty="0"/>
                    </a:p>
                    <a:p>
                      <a:pPr algn="ctr"/>
                      <a:endParaRPr lang="en-DE" sz="9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extLst>
                  <a:ext uri="{0D108BD9-81ED-4DB2-BD59-A6C34878D82A}">
                    <a16:rowId xmlns:a16="http://schemas.microsoft.com/office/drawing/2014/main" val="1465868410"/>
                  </a:ext>
                </a:extLst>
              </a:tr>
              <a:tr h="488585">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GB" sz="900" dirty="0"/>
                        <a:t>2</a:t>
                      </a:r>
                      <a:endParaRPr lang="en-DE" sz="9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900" dirty="0">
                          <a:solidFill>
                            <a:srgbClr val="222222"/>
                          </a:solidFill>
                          <a:latin typeface="Calibri" pitchFamily="34" charset="0"/>
                          <a:ea typeface="Calibri" pitchFamily="34" charset="-122"/>
                          <a:cs typeface="Calibri" pitchFamily="34" charset="-120"/>
                        </a:rPr>
                        <a:t>0xFF</a:t>
                      </a:r>
                      <a:endParaRPr lang="en-DE" sz="9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GB" sz="900" dirty="0"/>
                        <a:t>1</a:t>
                      </a:r>
                      <a:endParaRPr lang="en-DE" sz="9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solidFill>
                            <a:srgbClr val="222222"/>
                          </a:solidFill>
                          <a:latin typeface="Calibri" pitchFamily="34" charset="0"/>
                          <a:ea typeface="Calibri" pitchFamily="34" charset="-122"/>
                          <a:cs typeface="Calibri" pitchFamily="34" charset="-120"/>
                        </a:rPr>
                        <a:t>'done?' → SPI complete</a:t>
                      </a:r>
                      <a:endParaRPr lang="en-US" sz="900" dirty="0"/>
                    </a:p>
                    <a:p>
                      <a:pPr algn="ctr"/>
                      <a:endParaRPr lang="en-DE" sz="9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solidFill>
                            <a:srgbClr val="222222"/>
                          </a:solidFill>
                          <a:latin typeface="Courier New" pitchFamily="34" charset="0"/>
                          <a:ea typeface="Courier New" pitchFamily="34" charset="-122"/>
                          <a:cs typeface="Courier New" pitchFamily="34" charset="-120"/>
                        </a:rPr>
                        <a:t>0x00000001</a:t>
                      </a:r>
                      <a:endParaRPr lang="en-US" sz="900" dirty="0"/>
                    </a:p>
                    <a:p>
                      <a:pPr algn="ctr"/>
                      <a:endParaRPr lang="en-DE" sz="9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endParaRPr lang="en-DE" sz="9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solidFill>
                            <a:srgbClr val="222222"/>
                          </a:solidFill>
                          <a:latin typeface="Calibri" pitchFamily="34" charset="0"/>
                          <a:ea typeface="Calibri" pitchFamily="34" charset="-122"/>
                          <a:cs typeface="Calibri" pitchFamily="34" charset="-120"/>
                        </a:rPr>
                        <a:t>EXIT loop ✓</a:t>
                      </a:r>
                      <a:endParaRPr lang="en-US" sz="900" dirty="0"/>
                    </a:p>
                    <a:p>
                      <a:pPr algn="ctr"/>
                      <a:endParaRPr lang="en-DE" sz="9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extLst>
                  <a:ext uri="{0D108BD9-81ED-4DB2-BD59-A6C34878D82A}">
                    <a16:rowId xmlns:a16="http://schemas.microsoft.com/office/drawing/2014/main" val="2775939321"/>
                  </a:ext>
                </a:extLst>
              </a:tr>
            </a:tbl>
          </a:graphicData>
        </a:graphic>
      </p:graphicFrame>
      <p:sp>
        <p:nvSpPr>
          <p:cNvPr id="6" name="Text 6">
            <a:extLst>
              <a:ext uri="{FF2B5EF4-FFF2-40B4-BE49-F238E27FC236}">
                <a16:creationId xmlns:a16="http://schemas.microsoft.com/office/drawing/2014/main" id="{5B75D1C5-44F6-6C51-287B-61D54C0A719D}"/>
              </a:ext>
            </a:extLst>
          </p:cNvPr>
          <p:cNvSpPr/>
          <p:nvPr/>
        </p:nvSpPr>
        <p:spPr>
          <a:xfrm>
            <a:off x="158769" y="945684"/>
            <a:ext cx="4257114" cy="320040"/>
          </a:xfrm>
          <a:prstGeom prst="rect">
            <a:avLst/>
          </a:prstGeom>
          <a:solidFill>
            <a:schemeClr val="bg2">
              <a:lumMod val="25000"/>
            </a:schemeClr>
          </a:solid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 poll trace — readMAXSpiInterface(fd=3, mreg=0x01)</a:t>
            </a:r>
            <a:endParaRPr lang="en-US" sz="1000" dirty="0"/>
          </a:p>
        </p:txBody>
      </p:sp>
      <p:sp>
        <p:nvSpPr>
          <p:cNvPr id="10" name="Shape 63">
            <a:extLst>
              <a:ext uri="{FF2B5EF4-FFF2-40B4-BE49-F238E27FC236}">
                <a16:creationId xmlns:a16="http://schemas.microsoft.com/office/drawing/2014/main" id="{4B22CFC0-502B-D968-1B86-0533A9D3E81F}"/>
              </a:ext>
            </a:extLst>
          </p:cNvPr>
          <p:cNvSpPr/>
          <p:nvPr/>
        </p:nvSpPr>
        <p:spPr>
          <a:xfrm>
            <a:off x="116642" y="2809829"/>
            <a:ext cx="4299241" cy="320040"/>
          </a:xfrm>
          <a:prstGeom prst="rect">
            <a:avLst/>
          </a:prstGeom>
          <a:solidFill>
            <a:srgbClr val="4A148C"/>
          </a:solidFill>
          <a:ln w="12700">
            <a:solidFill>
              <a:srgbClr val="4A148C"/>
            </a:solidFill>
            <a:prstDash val="solid"/>
          </a:ln>
        </p:spPr>
        <p:txBody>
          <a:bodyPr/>
          <a:lstStyle/>
          <a:p>
            <a:pPr algn="ctr"/>
            <a:r>
              <a:rPr lang="en-US" sz="1000" b="1" dirty="0">
                <a:solidFill>
                  <a:srgbClr val="FFFFFF"/>
                </a:solidFill>
                <a:latin typeface="Calibri" pitchFamily="34" charset="0"/>
                <a:ea typeface="Calibri" pitchFamily="34" charset="-122"/>
                <a:cs typeface="Calibri" pitchFamily="34" charset="-120"/>
              </a:rPr>
              <a:t>Phase 2 data retrieval trace</a:t>
            </a:r>
            <a:endParaRPr lang="en-US" sz="1000" dirty="0"/>
          </a:p>
          <a:p>
            <a:endParaRPr lang="en-DE" dirty="0"/>
          </a:p>
        </p:txBody>
      </p:sp>
      <p:sp>
        <p:nvSpPr>
          <p:cNvPr id="11" name="Shape 93">
            <a:extLst>
              <a:ext uri="{FF2B5EF4-FFF2-40B4-BE49-F238E27FC236}">
                <a16:creationId xmlns:a16="http://schemas.microsoft.com/office/drawing/2014/main" id="{E4F40BE8-C19D-8879-8E9A-DEDBA7402C32}"/>
              </a:ext>
            </a:extLst>
          </p:cNvPr>
          <p:cNvSpPr/>
          <p:nvPr/>
        </p:nvSpPr>
        <p:spPr>
          <a:xfrm>
            <a:off x="6807844" y="796140"/>
            <a:ext cx="3992137" cy="301752"/>
          </a:xfrm>
          <a:prstGeom prst="rect">
            <a:avLst/>
          </a:prstGeom>
          <a:solidFill>
            <a:srgbClr val="006064"/>
          </a:solidFill>
          <a:ln w="12700">
            <a:solidFill>
              <a:srgbClr val="006064"/>
            </a:solidFill>
            <a:prstDash val="solid"/>
          </a:ln>
        </p:spPr>
        <p:txBody>
          <a:bodyPr/>
          <a:lstStyle/>
          <a:p>
            <a:pPr algn="ctr"/>
            <a:r>
              <a:rPr lang="en-US" sz="1050" b="1" dirty="0" err="1">
                <a:solidFill>
                  <a:srgbClr val="FFFFFF"/>
                </a:solidFill>
                <a:latin typeface="Calibri" pitchFamily="34" charset="0"/>
                <a:ea typeface="Calibri" pitchFamily="34" charset="-122"/>
                <a:cs typeface="Calibri" pitchFamily="34" charset="-120"/>
              </a:rPr>
              <a:t>xdata</a:t>
            </a:r>
            <a:r>
              <a:rPr lang="en-US" sz="1050" b="1" dirty="0">
                <a:solidFill>
                  <a:srgbClr val="FFFFFF"/>
                </a:solidFill>
                <a:latin typeface="Calibri" pitchFamily="34" charset="0"/>
                <a:ea typeface="Calibri" pitchFamily="34" charset="-122"/>
                <a:cs typeface="Calibri" pitchFamily="34" charset="-120"/>
              </a:rPr>
              <a:t> &amp; 0x01 — How bit 0 is isolated</a:t>
            </a:r>
            <a:endParaRPr lang="en-US" sz="1050" dirty="0"/>
          </a:p>
          <a:p>
            <a:endParaRPr lang="en-DE" dirty="0"/>
          </a:p>
        </p:txBody>
      </p:sp>
      <p:sp>
        <p:nvSpPr>
          <p:cNvPr id="12" name="Shape 95">
            <a:extLst>
              <a:ext uri="{FF2B5EF4-FFF2-40B4-BE49-F238E27FC236}">
                <a16:creationId xmlns:a16="http://schemas.microsoft.com/office/drawing/2014/main" id="{2AD044E7-CC2A-12FF-9AC2-BB283A317D54}"/>
              </a:ext>
            </a:extLst>
          </p:cNvPr>
          <p:cNvSpPr/>
          <p:nvPr/>
        </p:nvSpPr>
        <p:spPr>
          <a:xfrm>
            <a:off x="6807844" y="1186791"/>
            <a:ext cx="5267514" cy="2121513"/>
          </a:xfrm>
          <a:prstGeom prst="rect">
            <a:avLst/>
          </a:prstGeom>
          <a:solidFill>
            <a:srgbClr val="1E1E2E"/>
          </a:solidFill>
          <a:ln w="12700">
            <a:solidFill>
              <a:srgbClr val="3A3A6A"/>
            </a:solidFill>
            <a:prstDash val="solid"/>
          </a:ln>
        </p:spPr>
        <p:txBody>
          <a:bodyPr/>
          <a:lstStyle/>
          <a:p>
            <a:r>
              <a:rPr lang="en-US" sz="1200" dirty="0">
                <a:solidFill>
                  <a:srgbClr val="CE9178"/>
                </a:solidFill>
                <a:latin typeface="Courier New" pitchFamily="34" charset="0"/>
                <a:ea typeface="Courier New" pitchFamily="34" charset="-122"/>
                <a:cs typeface="Courier New" pitchFamily="34" charset="-120"/>
              </a:rPr>
              <a:t>Iteration 1:  </a:t>
            </a:r>
            <a:r>
              <a:rPr lang="en-US" sz="1200" dirty="0" err="1">
                <a:solidFill>
                  <a:srgbClr val="CE9178"/>
                </a:solidFill>
                <a:latin typeface="Courier New" pitchFamily="34" charset="0"/>
                <a:ea typeface="Courier New" pitchFamily="34" charset="-122"/>
                <a:cs typeface="Courier New" pitchFamily="34" charset="-120"/>
              </a:rPr>
              <a:t>xdata</a:t>
            </a:r>
            <a:r>
              <a:rPr lang="en-US" sz="1200" dirty="0">
                <a:solidFill>
                  <a:srgbClr val="CE9178"/>
                </a:solidFill>
                <a:latin typeface="Courier New" pitchFamily="34" charset="0"/>
                <a:ea typeface="Courier New" pitchFamily="34" charset="-122"/>
                <a:cs typeface="Courier New" pitchFamily="34" charset="-120"/>
              </a:rPr>
              <a:t> = 0x00000000
</a:t>
            </a:r>
            <a:r>
              <a:rPr lang="en-US" sz="1200" dirty="0">
                <a:solidFill>
                  <a:srgbClr val="4FC1FF"/>
                </a:solidFill>
                <a:latin typeface="Courier New" pitchFamily="34" charset="0"/>
                <a:ea typeface="Courier New" pitchFamily="34" charset="-122"/>
                <a:cs typeface="Courier New" pitchFamily="34" charset="-120"/>
              </a:rPr>
              <a:t>  0x00000000 &amp; 0x00000001 = 0  →  bit0=0 → still running
</a:t>
            </a:r>
            <a:r>
              <a:rPr lang="en-US" sz="1200" dirty="0">
                <a:solidFill>
                  <a:srgbClr val="F44747"/>
                </a:solidFill>
                <a:latin typeface="Courier New" pitchFamily="34" charset="0"/>
                <a:ea typeface="Courier New" pitchFamily="34" charset="-122"/>
                <a:cs typeface="Courier New" pitchFamily="34" charset="-120"/>
              </a:rPr>
              <a:t>  (0==0) TRUE → keep looping
</a:t>
            </a:r>
            <a:r>
              <a:rPr lang="en-US" sz="1200" dirty="0">
                <a:solidFill>
                  <a:srgbClr val="CE9178"/>
                </a:solidFill>
                <a:latin typeface="Courier New" pitchFamily="34" charset="0"/>
                <a:ea typeface="Courier New" pitchFamily="34" charset="-122"/>
                <a:cs typeface="Courier New" pitchFamily="34" charset="-120"/>
              </a:rPr>
              <a:t>Iteration 2:  </a:t>
            </a:r>
            <a:r>
              <a:rPr lang="en-US" sz="1200" dirty="0" err="1">
                <a:solidFill>
                  <a:srgbClr val="CE9178"/>
                </a:solidFill>
                <a:latin typeface="Courier New" pitchFamily="34" charset="0"/>
                <a:ea typeface="Courier New" pitchFamily="34" charset="-122"/>
                <a:cs typeface="Courier New" pitchFamily="34" charset="-120"/>
              </a:rPr>
              <a:t>xdata</a:t>
            </a:r>
            <a:r>
              <a:rPr lang="en-US" sz="1200" dirty="0">
                <a:solidFill>
                  <a:srgbClr val="CE9178"/>
                </a:solidFill>
                <a:latin typeface="Courier New" pitchFamily="34" charset="0"/>
                <a:ea typeface="Courier New" pitchFamily="34" charset="-122"/>
                <a:cs typeface="Courier New" pitchFamily="34" charset="-120"/>
              </a:rPr>
              <a:t> = 0x00000001
</a:t>
            </a:r>
            <a:r>
              <a:rPr lang="en-US" sz="1200" dirty="0">
                <a:solidFill>
                  <a:srgbClr val="4FC1FF"/>
                </a:solidFill>
                <a:latin typeface="Courier New" pitchFamily="34" charset="0"/>
                <a:ea typeface="Courier New" pitchFamily="34" charset="-122"/>
                <a:cs typeface="Courier New" pitchFamily="34" charset="-120"/>
              </a:rPr>
              <a:t>  0x00000001 &amp; 0x00000001 = 1  →  bit0=1 → DONE!
</a:t>
            </a:r>
            <a:r>
              <a:rPr lang="en-US" sz="1200" b="1" dirty="0">
                <a:solidFill>
                  <a:srgbClr val="4EC9B0"/>
                </a:solidFill>
                <a:latin typeface="Courier New" pitchFamily="34" charset="0"/>
                <a:ea typeface="Courier New" pitchFamily="34" charset="-122"/>
                <a:cs typeface="Courier New" pitchFamily="34" charset="-120"/>
              </a:rPr>
              <a:t>  (1==0) FALSE → EXIT loop → go to Phase 2</a:t>
            </a:r>
            <a:endParaRPr lang="en-US" sz="1200" dirty="0"/>
          </a:p>
          <a:p>
            <a:endParaRPr lang="en-DE" dirty="0"/>
          </a:p>
        </p:txBody>
      </p:sp>
      <p:sp>
        <p:nvSpPr>
          <p:cNvPr id="13" name="Shape 97">
            <a:extLst>
              <a:ext uri="{FF2B5EF4-FFF2-40B4-BE49-F238E27FC236}">
                <a16:creationId xmlns:a16="http://schemas.microsoft.com/office/drawing/2014/main" id="{73C5FAE3-7757-3C58-9E47-EA964FE28A51}"/>
              </a:ext>
            </a:extLst>
          </p:cNvPr>
          <p:cNvSpPr/>
          <p:nvPr/>
        </p:nvSpPr>
        <p:spPr>
          <a:xfrm>
            <a:off x="6807844" y="3770676"/>
            <a:ext cx="3854976" cy="320040"/>
          </a:xfrm>
          <a:prstGeom prst="rect">
            <a:avLst/>
          </a:prstGeom>
          <a:solidFill>
            <a:srgbClr val="1B5E20"/>
          </a:solidFill>
          <a:ln w="12700">
            <a:solidFill>
              <a:srgbClr val="1B5E20"/>
            </a:solidFill>
            <a:prstDash val="solid"/>
          </a:ln>
        </p:spPr>
        <p:txBody>
          <a:bodyPr/>
          <a:lstStyle/>
          <a:p>
            <a:r>
              <a:rPr lang="en-US" sz="1100" b="1" dirty="0">
                <a:solidFill>
                  <a:srgbClr val="FFFFFF"/>
                </a:solidFill>
                <a:latin typeface="Calibri" pitchFamily="34" charset="0"/>
                <a:ea typeface="Calibri" pitchFamily="34" charset="-122"/>
                <a:cs typeface="Calibri" pitchFamily="34" charset="-120"/>
              </a:rPr>
              <a:t>Final: return </a:t>
            </a:r>
            <a:r>
              <a:rPr lang="en-US" sz="1100" b="1" dirty="0" err="1">
                <a:solidFill>
                  <a:srgbClr val="FFFFFF"/>
                </a:solidFill>
                <a:latin typeface="Calibri" pitchFamily="34" charset="0"/>
                <a:ea typeface="Calibri" pitchFamily="34" charset="-122"/>
                <a:cs typeface="Calibri" pitchFamily="34" charset="-120"/>
              </a:rPr>
              <a:t>xdata</a:t>
            </a:r>
            <a:r>
              <a:rPr lang="en-US" sz="1100" b="1" dirty="0">
                <a:solidFill>
                  <a:srgbClr val="FFFFFF"/>
                </a:solidFill>
                <a:latin typeface="Calibri" pitchFamily="34" charset="0"/>
                <a:ea typeface="Calibri" pitchFamily="34" charset="-122"/>
                <a:cs typeface="Calibri" pitchFamily="34" charset="-120"/>
              </a:rPr>
              <a:t> = 0x40 = 64  →  </a:t>
            </a:r>
            <a:r>
              <a:rPr lang="en-US" sz="1100" b="1" dirty="0" err="1">
                <a:solidFill>
                  <a:srgbClr val="FFFFFF"/>
                </a:solidFill>
                <a:latin typeface="Calibri" pitchFamily="34" charset="0"/>
                <a:ea typeface="Calibri" pitchFamily="34" charset="-122"/>
                <a:cs typeface="Calibri" pitchFamily="34" charset="-120"/>
              </a:rPr>
              <a:t>msb</a:t>
            </a:r>
            <a:r>
              <a:rPr lang="en-US" sz="1100" b="1" dirty="0">
                <a:solidFill>
                  <a:srgbClr val="FFFFFF"/>
                </a:solidFill>
                <a:latin typeface="Calibri" pitchFamily="34" charset="0"/>
                <a:ea typeface="Calibri" pitchFamily="34" charset="-122"/>
                <a:cs typeface="Calibri" pitchFamily="34" charset="-120"/>
              </a:rPr>
              <a:t> = 64</a:t>
            </a:r>
            <a:endParaRPr lang="en-US" sz="1100" dirty="0"/>
          </a:p>
          <a:p>
            <a:endParaRPr lang="en-DE" dirty="0"/>
          </a:p>
        </p:txBody>
      </p:sp>
      <p:sp>
        <p:nvSpPr>
          <p:cNvPr id="14" name="Shape 99">
            <a:extLst>
              <a:ext uri="{FF2B5EF4-FFF2-40B4-BE49-F238E27FC236}">
                <a16:creationId xmlns:a16="http://schemas.microsoft.com/office/drawing/2014/main" id="{20CD2ECB-A289-F14D-B374-41EF5F8BBD24}"/>
              </a:ext>
            </a:extLst>
          </p:cNvPr>
          <p:cNvSpPr/>
          <p:nvPr/>
        </p:nvSpPr>
        <p:spPr>
          <a:xfrm>
            <a:off x="6807844" y="4295286"/>
            <a:ext cx="4938108" cy="1375923"/>
          </a:xfrm>
          <a:prstGeom prst="rect">
            <a:avLst/>
          </a:prstGeom>
          <a:solidFill>
            <a:srgbClr val="E8F5E9"/>
          </a:solidFill>
          <a:ln w="12700">
            <a:solidFill>
              <a:srgbClr val="1B5E20"/>
            </a:solidFill>
            <a:prstDash val="solid"/>
          </a:ln>
        </p:spPr>
        <p:txBody>
          <a:bodyPr/>
          <a:lstStyle/>
          <a:p>
            <a:r>
              <a:rPr lang="en-US" sz="1200" b="1" dirty="0">
                <a:solidFill>
                  <a:srgbClr val="1B5E20"/>
                </a:solidFill>
                <a:latin typeface="Courier New" pitchFamily="34" charset="0"/>
                <a:ea typeface="Courier New" pitchFamily="34" charset="-122"/>
                <a:cs typeface="Courier New" pitchFamily="34" charset="-120"/>
              </a:rPr>
              <a:t>In </a:t>
            </a:r>
            <a:r>
              <a:rPr lang="en-US" sz="1200" b="1" dirty="0" err="1">
                <a:solidFill>
                  <a:srgbClr val="1B5E20"/>
                </a:solidFill>
                <a:latin typeface="Courier New" pitchFamily="34" charset="0"/>
                <a:ea typeface="Courier New" pitchFamily="34" charset="-122"/>
                <a:cs typeface="Courier New" pitchFamily="34" charset="-120"/>
              </a:rPr>
              <a:t>readTempSnsrVal</a:t>
            </a:r>
            <a:r>
              <a:rPr lang="en-US" sz="1200" b="1" dirty="0">
                <a:solidFill>
                  <a:srgbClr val="1B5E20"/>
                </a:solidFill>
                <a:latin typeface="Courier New" pitchFamily="34" charset="0"/>
                <a:ea typeface="Courier New" pitchFamily="34" charset="-122"/>
                <a:cs typeface="Courier New" pitchFamily="34" charset="-120"/>
              </a:rPr>
              <a:t>():
</a:t>
            </a:r>
            <a:r>
              <a:rPr lang="en-US" sz="1200" dirty="0" err="1">
                <a:solidFill>
                  <a:srgbClr val="222222"/>
                </a:solidFill>
                <a:latin typeface="Courier New" pitchFamily="34" charset="0"/>
                <a:ea typeface="Courier New" pitchFamily="34" charset="-122"/>
                <a:cs typeface="Courier New" pitchFamily="34" charset="-120"/>
              </a:rPr>
              <a:t>msb</a:t>
            </a:r>
            <a:r>
              <a:rPr lang="en-US" sz="1200" dirty="0">
                <a:solidFill>
                  <a:srgbClr val="222222"/>
                </a:solidFill>
                <a:latin typeface="Courier New" pitchFamily="34" charset="0"/>
                <a:ea typeface="Courier New" pitchFamily="34" charset="-122"/>
                <a:cs typeface="Courier New" pitchFamily="34" charset="-120"/>
              </a:rPr>
              <a:t> = </a:t>
            </a:r>
            <a:r>
              <a:rPr lang="en-US" sz="1200" dirty="0" err="1">
                <a:solidFill>
                  <a:srgbClr val="222222"/>
                </a:solidFill>
                <a:latin typeface="Courier New" pitchFamily="34" charset="0"/>
                <a:ea typeface="Courier New" pitchFamily="34" charset="-122"/>
                <a:cs typeface="Courier New" pitchFamily="34" charset="-120"/>
              </a:rPr>
              <a:t>readMAXSpiInterface</a:t>
            </a:r>
            <a:r>
              <a:rPr lang="en-US" sz="1200" dirty="0">
                <a:solidFill>
                  <a:srgbClr val="222222"/>
                </a:solidFill>
                <a:latin typeface="Courier New" pitchFamily="34" charset="0"/>
                <a:ea typeface="Courier New" pitchFamily="34" charset="-122"/>
                <a:cs typeface="Courier New" pitchFamily="34" charset="-120"/>
              </a:rPr>
              <a:t>(</a:t>
            </a:r>
            <a:r>
              <a:rPr lang="en-US" sz="1200" dirty="0" err="1">
                <a:solidFill>
                  <a:srgbClr val="222222"/>
                </a:solidFill>
                <a:latin typeface="Courier New" pitchFamily="34" charset="0"/>
                <a:ea typeface="Courier New" pitchFamily="34" charset="-122"/>
                <a:cs typeface="Courier New" pitchFamily="34" charset="-120"/>
              </a:rPr>
              <a:t>fd</a:t>
            </a:r>
            <a:r>
              <a:rPr lang="en-US" sz="1200" dirty="0">
                <a:solidFill>
                  <a:srgbClr val="222222"/>
                </a:solidFill>
                <a:latin typeface="Courier New" pitchFamily="34" charset="0"/>
                <a:ea typeface="Courier New" pitchFamily="34" charset="-122"/>
                <a:cs typeface="Courier New" pitchFamily="34" charset="-120"/>
              </a:rPr>
              <a:t>, 0x01) = 0x40 = 64
</a:t>
            </a:r>
            <a:r>
              <a:rPr lang="en-US" sz="1200" dirty="0" err="1">
                <a:solidFill>
                  <a:srgbClr val="222222"/>
                </a:solidFill>
                <a:latin typeface="Courier New" pitchFamily="34" charset="0"/>
                <a:ea typeface="Courier New" pitchFamily="34" charset="-122"/>
                <a:cs typeface="Courier New" pitchFamily="34" charset="-120"/>
              </a:rPr>
              <a:t>lsb</a:t>
            </a:r>
            <a:r>
              <a:rPr lang="en-US" sz="1200" dirty="0">
                <a:solidFill>
                  <a:srgbClr val="222222"/>
                </a:solidFill>
                <a:latin typeface="Courier New" pitchFamily="34" charset="0"/>
                <a:ea typeface="Courier New" pitchFamily="34" charset="-122"/>
                <a:cs typeface="Courier New" pitchFamily="34" charset="-120"/>
              </a:rPr>
              <a:t> = </a:t>
            </a:r>
            <a:r>
              <a:rPr lang="en-US" sz="1200" dirty="0" err="1">
                <a:solidFill>
                  <a:srgbClr val="222222"/>
                </a:solidFill>
                <a:latin typeface="Courier New" pitchFamily="34" charset="0"/>
                <a:ea typeface="Courier New" pitchFamily="34" charset="-122"/>
                <a:cs typeface="Courier New" pitchFamily="34" charset="-120"/>
              </a:rPr>
              <a:t>readMAXSpiInterface</a:t>
            </a:r>
            <a:r>
              <a:rPr lang="en-US" sz="1200" dirty="0">
                <a:solidFill>
                  <a:srgbClr val="222222"/>
                </a:solidFill>
                <a:latin typeface="Courier New" pitchFamily="34" charset="0"/>
                <a:ea typeface="Courier New" pitchFamily="34" charset="-122"/>
                <a:cs typeface="Courier New" pitchFamily="34" charset="-120"/>
              </a:rPr>
              <a:t>(</a:t>
            </a:r>
            <a:r>
              <a:rPr lang="en-US" sz="1200" dirty="0" err="1">
                <a:solidFill>
                  <a:srgbClr val="222222"/>
                </a:solidFill>
                <a:latin typeface="Courier New" pitchFamily="34" charset="0"/>
                <a:ea typeface="Courier New" pitchFamily="34" charset="-122"/>
                <a:cs typeface="Courier New" pitchFamily="34" charset="-120"/>
              </a:rPr>
              <a:t>fd</a:t>
            </a:r>
            <a:r>
              <a:rPr lang="en-US" sz="1200" dirty="0">
                <a:solidFill>
                  <a:srgbClr val="222222"/>
                </a:solidFill>
                <a:latin typeface="Courier New" pitchFamily="34" charset="0"/>
                <a:ea typeface="Courier New" pitchFamily="34" charset="-122"/>
                <a:cs typeface="Courier New" pitchFamily="34" charset="-120"/>
              </a:rPr>
              <a:t>, 0x02) = 0x00 = 0
</a:t>
            </a:r>
            <a:r>
              <a:rPr lang="en-US" sz="1200" b="1" dirty="0" err="1">
                <a:solidFill>
                  <a:srgbClr val="1565C0"/>
                </a:solidFill>
                <a:latin typeface="Courier New" pitchFamily="34" charset="0"/>
                <a:ea typeface="Courier New" pitchFamily="34" charset="-122"/>
                <a:cs typeface="Courier New" pitchFamily="34" charset="-120"/>
              </a:rPr>
              <a:t>rtd</a:t>
            </a:r>
            <a:r>
              <a:rPr lang="en-US" sz="1200" b="1" dirty="0">
                <a:solidFill>
                  <a:srgbClr val="1565C0"/>
                </a:solidFill>
                <a:latin typeface="Courier New" pitchFamily="34" charset="0"/>
                <a:ea typeface="Courier New" pitchFamily="34" charset="-122"/>
                <a:cs typeface="Courier New" pitchFamily="34" charset="-120"/>
              </a:rPr>
              <a:t> = ((uint16_t)0x40 &lt;&lt; 8) | 0x00 = 0x4000 → &gt;&gt;1 = 8192</a:t>
            </a:r>
            <a:endParaRPr lang="en-US" sz="1200" dirty="0"/>
          </a:p>
          <a:p>
            <a:endParaRPr lang="en-DE" dirty="0"/>
          </a:p>
        </p:txBody>
      </p:sp>
    </p:spTree>
    <p:extLst>
      <p:ext uri="{BB962C8B-B14F-4D97-AF65-F5344CB8AC3E}">
        <p14:creationId xmlns:p14="http://schemas.microsoft.com/office/powerpoint/2010/main" val="13478576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48367-A127-9B59-C39E-EF3BA95422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944862-B619-B77E-CBEF-D192BD3A0416}"/>
              </a:ext>
            </a:extLst>
          </p:cNvPr>
          <p:cNvSpPr>
            <a:spLocks noGrp="1"/>
          </p:cNvSpPr>
          <p:nvPr>
            <p:ph type="title"/>
          </p:nvPr>
        </p:nvSpPr>
        <p:spPr>
          <a:xfrm>
            <a:off x="700635" y="914400"/>
            <a:ext cx="10691265" cy="698500"/>
          </a:xfrm>
        </p:spPr>
        <p:txBody>
          <a:bodyPr>
            <a:normAutofit fontScale="90000"/>
          </a:bodyPr>
          <a:lstStyle/>
          <a:p>
            <a:pPr algn="l"/>
            <a:r>
              <a:rPr lang="en-GB" b="1" dirty="0">
                <a:solidFill>
                  <a:srgbClr val="1B2A4A"/>
                </a:solidFill>
                <a:latin typeface="Segoe UI Semibold"/>
              </a:rPr>
              <a:t>SPI Operations: Writing to MAX31865</a:t>
            </a:r>
          </a:p>
        </p:txBody>
      </p:sp>
      <p:sp>
        <p:nvSpPr>
          <p:cNvPr id="4" name="Rectangle 3">
            <a:extLst>
              <a:ext uri="{FF2B5EF4-FFF2-40B4-BE49-F238E27FC236}">
                <a16:creationId xmlns:a16="http://schemas.microsoft.com/office/drawing/2014/main" id="{E969D736-E1DD-AAC0-BBD7-919BEC55D2D7}"/>
              </a:ext>
            </a:extLst>
          </p:cNvPr>
          <p:cNvSpPr/>
          <p:nvPr/>
        </p:nvSpPr>
        <p:spPr>
          <a:xfrm>
            <a:off x="698500" y="1625600"/>
            <a:ext cx="1270000" cy="38100"/>
          </a:xfrm>
          <a:prstGeom prst="rect">
            <a:avLst/>
          </a:prstGeom>
          <a:solidFill>
            <a:srgbClr val="E879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DE"/>
          </a:p>
        </p:txBody>
      </p:sp>
      <p:pic>
        <p:nvPicPr>
          <p:cNvPr id="3074" name="Picture 2">
            <a:extLst>
              <a:ext uri="{FF2B5EF4-FFF2-40B4-BE49-F238E27FC236}">
                <a16:creationId xmlns:a16="http://schemas.microsoft.com/office/drawing/2014/main" id="{C3371D1B-8687-BC18-FD59-E9C5963397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2283" y="1821367"/>
            <a:ext cx="7396976" cy="42746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79932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1757C-9FE3-E411-44DE-1C4AEB3788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08F1DB-9E78-FF2D-2B9B-0C86719BBCA1}"/>
              </a:ext>
            </a:extLst>
          </p:cNvPr>
          <p:cNvSpPr>
            <a:spLocks noGrp="1"/>
          </p:cNvSpPr>
          <p:nvPr>
            <p:ph type="title"/>
          </p:nvPr>
        </p:nvSpPr>
        <p:spPr>
          <a:xfrm>
            <a:off x="700635" y="914400"/>
            <a:ext cx="10691265" cy="698500"/>
          </a:xfrm>
        </p:spPr>
        <p:txBody>
          <a:bodyPr>
            <a:normAutofit fontScale="90000"/>
          </a:bodyPr>
          <a:lstStyle/>
          <a:p>
            <a:pPr algn="l"/>
            <a:r>
              <a:rPr lang="en-GB" b="1" dirty="0">
                <a:solidFill>
                  <a:srgbClr val="1B2A4A"/>
                </a:solidFill>
                <a:latin typeface="Segoe UI Semibold"/>
              </a:rPr>
              <a:t>SPI Operations: Reading from MAX31865</a:t>
            </a:r>
          </a:p>
        </p:txBody>
      </p:sp>
      <p:sp>
        <p:nvSpPr>
          <p:cNvPr id="4" name="Rectangle 3">
            <a:extLst>
              <a:ext uri="{FF2B5EF4-FFF2-40B4-BE49-F238E27FC236}">
                <a16:creationId xmlns:a16="http://schemas.microsoft.com/office/drawing/2014/main" id="{DE29AAE7-6B00-534F-E850-0F285134513D}"/>
              </a:ext>
            </a:extLst>
          </p:cNvPr>
          <p:cNvSpPr/>
          <p:nvPr/>
        </p:nvSpPr>
        <p:spPr>
          <a:xfrm>
            <a:off x="698500" y="1625600"/>
            <a:ext cx="1270000" cy="38100"/>
          </a:xfrm>
          <a:prstGeom prst="rect">
            <a:avLst/>
          </a:prstGeom>
          <a:solidFill>
            <a:srgbClr val="E879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DE"/>
          </a:p>
        </p:txBody>
      </p:sp>
      <p:pic>
        <p:nvPicPr>
          <p:cNvPr id="4098" name="Picture 2">
            <a:extLst>
              <a:ext uri="{FF2B5EF4-FFF2-40B4-BE49-F238E27FC236}">
                <a16:creationId xmlns:a16="http://schemas.microsoft.com/office/drawing/2014/main" id="{999E53A8-DAD6-8896-789D-0DF22F88B1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6566" y="1521927"/>
            <a:ext cx="8326244" cy="44216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11517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8261F-A80A-CD15-A571-47B84291D9DE}"/>
              </a:ext>
            </a:extLst>
          </p:cNvPr>
          <p:cNvSpPr>
            <a:spLocks noGrp="1"/>
          </p:cNvSpPr>
          <p:nvPr>
            <p:ph type="title"/>
          </p:nvPr>
        </p:nvSpPr>
        <p:spPr>
          <a:xfrm>
            <a:off x="700635" y="914400"/>
            <a:ext cx="10691265" cy="698500"/>
          </a:xfrm>
        </p:spPr>
        <p:txBody>
          <a:bodyPr>
            <a:spAutoFit/>
          </a:bodyPr>
          <a:lstStyle/>
          <a:p>
            <a:pPr algn="l"/>
            <a:r>
              <a:rPr lang="en-GB" b="1" dirty="0">
                <a:solidFill>
                  <a:srgbClr val="1B2A4A"/>
                </a:solidFill>
                <a:latin typeface="Segoe UI Semibold"/>
              </a:rPr>
              <a:t>Hardware Button Overview</a:t>
            </a:r>
          </a:p>
        </p:txBody>
      </p:sp>
      <p:sp>
        <p:nvSpPr>
          <p:cNvPr id="3" name="Content Placeholder 2">
            <a:extLst>
              <a:ext uri="{FF2B5EF4-FFF2-40B4-BE49-F238E27FC236}">
                <a16:creationId xmlns:a16="http://schemas.microsoft.com/office/drawing/2014/main" id="{2A5F7591-D191-4162-1320-9CC43DEDF28C}"/>
              </a:ext>
            </a:extLst>
          </p:cNvPr>
          <p:cNvSpPr>
            <a:spLocks noGrp="1"/>
          </p:cNvSpPr>
          <p:nvPr>
            <p:ph idx="1"/>
          </p:nvPr>
        </p:nvSpPr>
        <p:spPr>
          <a:xfrm>
            <a:off x="698500" y="1778000"/>
            <a:ext cx="5334000" cy="2771464"/>
          </a:xfrm>
        </p:spPr>
        <p:txBody>
          <a:bodyPr>
            <a:spAutoFit/>
          </a:bodyPr>
          <a:lstStyle/>
          <a:p>
            <a:pPr algn="l">
              <a:spcAft>
                <a:spcPts val="60"/>
              </a:spcAft>
              <a:buNone/>
            </a:pPr>
            <a:r>
              <a:rPr lang="en-GB" sz="1400" dirty="0">
                <a:latin typeface="Calibri"/>
              </a:rPr>
              <a:t>Five momentary push buttons in a cross pattern for directional navigation.</a:t>
            </a:r>
          </a:p>
          <a:p>
            <a:pPr algn="l">
              <a:spcAft>
                <a:spcPts val="30"/>
              </a:spcAft>
              <a:buFont typeface="Arial"/>
              <a:buChar char="•"/>
            </a:pPr>
            <a:r>
              <a:rPr lang="en-GB" sz="1400" b="1" dirty="0">
                <a:latin typeface="Calibri"/>
              </a:rPr>
              <a:t>BTNC</a:t>
            </a:r>
            <a:r>
              <a:rPr lang="en-GB" sz="1400" dirty="0">
                <a:latin typeface="Calibri"/>
              </a:rPr>
              <a:t> (Bit 0): Centre / OK</a:t>
            </a:r>
          </a:p>
          <a:p>
            <a:pPr algn="l">
              <a:spcAft>
                <a:spcPts val="30"/>
              </a:spcAft>
              <a:buFont typeface="Arial"/>
              <a:buChar char="•"/>
            </a:pPr>
            <a:r>
              <a:rPr lang="en-GB" sz="1400" b="1" dirty="0">
                <a:latin typeface="Calibri"/>
              </a:rPr>
              <a:t>BTND</a:t>
            </a:r>
            <a:r>
              <a:rPr lang="en-GB" sz="1400" dirty="0">
                <a:latin typeface="Calibri"/>
              </a:rPr>
              <a:t> (Bit 1): Down / Decrease</a:t>
            </a:r>
          </a:p>
          <a:p>
            <a:pPr algn="l">
              <a:spcAft>
                <a:spcPts val="30"/>
              </a:spcAft>
              <a:buFont typeface="Arial"/>
              <a:buChar char="•"/>
            </a:pPr>
            <a:r>
              <a:rPr lang="en-GB" sz="1400" b="1" dirty="0">
                <a:latin typeface="Calibri"/>
              </a:rPr>
              <a:t>BTNL</a:t>
            </a:r>
            <a:r>
              <a:rPr lang="en-GB" sz="1400" dirty="0">
                <a:latin typeface="Calibri"/>
              </a:rPr>
              <a:t> (Bit 2): Left / Previous</a:t>
            </a:r>
          </a:p>
          <a:p>
            <a:pPr algn="l">
              <a:spcAft>
                <a:spcPts val="30"/>
              </a:spcAft>
              <a:buFont typeface="Arial"/>
              <a:buChar char="•"/>
            </a:pPr>
            <a:r>
              <a:rPr lang="en-GB" sz="1400" b="1" dirty="0">
                <a:latin typeface="Calibri"/>
              </a:rPr>
              <a:t>BTNR</a:t>
            </a:r>
            <a:r>
              <a:rPr lang="en-GB" sz="1400" dirty="0">
                <a:latin typeface="Calibri"/>
              </a:rPr>
              <a:t> (Bit 3): Right / Next</a:t>
            </a:r>
          </a:p>
          <a:p>
            <a:pPr algn="l">
              <a:spcAft>
                <a:spcPts val="60"/>
              </a:spcAft>
              <a:buFont typeface="Arial"/>
              <a:buChar char="•"/>
            </a:pPr>
            <a:r>
              <a:rPr lang="en-GB" sz="1400" b="1" dirty="0">
                <a:latin typeface="Calibri"/>
              </a:rPr>
              <a:t>BTNU</a:t>
            </a:r>
            <a:r>
              <a:rPr lang="en-GB" sz="1400" dirty="0">
                <a:latin typeface="Calibri"/>
              </a:rPr>
              <a:t> (Bit 4): Up / Increase</a:t>
            </a:r>
          </a:p>
          <a:p>
            <a:pPr algn="l">
              <a:buNone/>
            </a:pPr>
            <a:r>
              <a:rPr lang="en-GB" sz="1400" dirty="0">
                <a:latin typeface="Calibri"/>
              </a:rPr>
              <a:t>5-bit encoding: 0x00 to 0x1F</a:t>
            </a:r>
          </a:p>
        </p:txBody>
      </p:sp>
      <p:sp>
        <p:nvSpPr>
          <p:cNvPr id="4" name="Rectangle 3">
            <a:extLst>
              <a:ext uri="{FF2B5EF4-FFF2-40B4-BE49-F238E27FC236}">
                <a16:creationId xmlns:a16="http://schemas.microsoft.com/office/drawing/2014/main" id="{FF8AE64B-6E68-445F-B05A-D70CAC51E96C}"/>
              </a:ext>
            </a:extLst>
          </p:cNvPr>
          <p:cNvSpPr/>
          <p:nvPr/>
        </p:nvSpPr>
        <p:spPr>
          <a:xfrm>
            <a:off x="698500" y="1625600"/>
            <a:ext cx="1270000" cy="38100"/>
          </a:xfrm>
          <a:prstGeom prst="rect">
            <a:avLst/>
          </a:prstGeom>
          <a:solidFill>
            <a:srgbClr val="E879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DE"/>
          </a:p>
        </p:txBody>
      </p:sp>
      <p:sp>
        <p:nvSpPr>
          <p:cNvPr id="140" name="BtnPanel"/>
          <p:cNvSpPr/>
          <p:nvPr/>
        </p:nvSpPr>
        <p:spPr>
          <a:xfrm>
            <a:off x="6028658" y="1663700"/>
            <a:ext cx="4300000" cy="4000000"/>
          </a:xfrm>
          <a:prstGeom prst="roundRect">
            <a:avLst>
              <a:gd name="adj" fmla="val 8000"/>
            </a:avLst>
          </a:prstGeom>
          <a:solidFill>
            <a:srgbClr val="F0F2F5"/>
          </a:solidFill>
          <a:ln w="12700">
            <a:solidFill>
              <a:srgbClr val="D0D4DA"/>
            </a:solidFill>
          </a:ln>
        </p:spPr>
        <p:txBody>
          <a:bodyPr/>
          <a:lstStyle/>
          <a:p>
            <a:endParaRPr lang="en-US" dirty="0"/>
          </a:p>
        </p:txBody>
      </p:sp>
      <p:sp>
        <p:nvSpPr>
          <p:cNvPr id="141" name="BtnTitle"/>
          <p:cNvSpPr/>
          <p:nvPr/>
        </p:nvSpPr>
        <p:spPr>
          <a:xfrm>
            <a:off x="6428658" y="1437900"/>
            <a:ext cx="3900000" cy="400000"/>
          </a:xfrm>
          <a:prstGeom prst="rect">
            <a:avLst/>
          </a:prstGeom>
          <a:noFill/>
          <a:ln>
            <a:noFill/>
          </a:ln>
        </p:spPr>
        <p:txBody>
          <a:bodyPr wrap="square" anchor="ctr"/>
          <a:lstStyle/>
          <a:p>
            <a:pPr algn="ctr"/>
            <a:r>
              <a:rPr lang="en-US" sz="1400" b="1" dirty="0">
                <a:solidFill>
                  <a:srgbClr val="1B2A4A"/>
                </a:solidFill>
                <a:latin typeface="Calibri"/>
              </a:rPr>
              <a:t>Zedboard Button Layout</a:t>
            </a:r>
          </a:p>
        </p:txBody>
      </p:sp>
      <p:sp>
        <p:nvSpPr>
          <p:cNvPr id="142" name="BTNU"/>
          <p:cNvSpPr/>
          <p:nvPr/>
        </p:nvSpPr>
        <p:spPr>
          <a:xfrm>
            <a:off x="7700000" y="1850000"/>
            <a:ext cx="1200000" cy="900000"/>
          </a:xfrm>
          <a:prstGeom prst="roundRect">
            <a:avLst>
              <a:gd name="adj" fmla="val 25000"/>
            </a:avLst>
          </a:prstGeom>
          <a:solidFill>
            <a:srgbClr val="1B5E8A"/>
          </a:solidFill>
          <a:ln w="19050">
            <a:solidFill>
              <a:srgbClr val="FFFFFF"/>
            </a:solidFill>
          </a:ln>
          <a:effectLst>
            <a:outerShdw blurRad="50000" dist="20000" dir="5400000" algn="t" rotWithShape="0">
              <a:srgbClr val="000000">
                <a:alpha val="25000"/>
              </a:srgbClr>
            </a:outerShdw>
          </a:effectLst>
        </p:spPr>
        <p:txBody>
          <a:bodyPr wrap="square" lIns="18288" tIns="18288" rIns="18288" bIns="18288" anchor="ctr"/>
          <a:lstStyle/>
          <a:p>
            <a:pPr algn="ctr"/>
            <a:r>
              <a:rPr lang="en-US" sz="1100" b="1" dirty="0">
                <a:solidFill>
                  <a:srgbClr val="FFFFFF"/>
                </a:solidFill>
                <a:latin typeface="Calibri"/>
              </a:rPr>
              <a:t>BTNU</a:t>
            </a:r>
          </a:p>
          <a:p>
            <a:pPr algn="ctr"/>
            <a:r>
              <a:rPr lang="en-US" sz="900" dirty="0">
                <a:solidFill>
                  <a:srgbClr val="D0D0D0"/>
                </a:solidFill>
                <a:latin typeface="Calibri"/>
              </a:rPr>
              <a:t>Bit 4</a:t>
            </a:r>
          </a:p>
        </p:txBody>
      </p:sp>
      <p:sp>
        <p:nvSpPr>
          <p:cNvPr id="143" name="BTNL"/>
          <p:cNvSpPr/>
          <p:nvPr/>
        </p:nvSpPr>
        <p:spPr>
          <a:xfrm>
            <a:off x="6350000" y="2979000"/>
            <a:ext cx="1200000" cy="900000"/>
          </a:xfrm>
          <a:prstGeom prst="roundRect">
            <a:avLst>
              <a:gd name="adj" fmla="val 25000"/>
            </a:avLst>
          </a:prstGeom>
          <a:solidFill>
            <a:srgbClr val="2C3E6B"/>
          </a:solidFill>
          <a:ln w="19050">
            <a:solidFill>
              <a:srgbClr val="FFFFFF"/>
            </a:solidFill>
          </a:ln>
          <a:effectLst>
            <a:outerShdw blurRad="50000" dist="20000" dir="5400000" algn="t" rotWithShape="0">
              <a:srgbClr val="000000">
                <a:alpha val="25000"/>
              </a:srgbClr>
            </a:outerShdw>
          </a:effectLst>
        </p:spPr>
        <p:txBody>
          <a:bodyPr wrap="square" lIns="18288" tIns="18288" rIns="18288" bIns="18288" anchor="ctr"/>
          <a:lstStyle/>
          <a:p>
            <a:pPr algn="ctr"/>
            <a:r>
              <a:rPr lang="en-US" sz="1100" b="1" dirty="0">
                <a:solidFill>
                  <a:srgbClr val="FFFFFF"/>
                </a:solidFill>
                <a:latin typeface="Calibri"/>
              </a:rPr>
              <a:t>BTNL</a:t>
            </a:r>
          </a:p>
          <a:p>
            <a:pPr algn="ctr"/>
            <a:r>
              <a:rPr lang="en-US" sz="900" dirty="0">
                <a:solidFill>
                  <a:srgbClr val="D0D0D0"/>
                </a:solidFill>
                <a:latin typeface="Calibri"/>
              </a:rPr>
              <a:t>Bit 2</a:t>
            </a:r>
          </a:p>
        </p:txBody>
      </p:sp>
      <p:sp>
        <p:nvSpPr>
          <p:cNvPr id="144" name="BTNC"/>
          <p:cNvSpPr/>
          <p:nvPr/>
        </p:nvSpPr>
        <p:spPr>
          <a:xfrm>
            <a:off x="7700000" y="2975000"/>
            <a:ext cx="1200000" cy="900000"/>
          </a:xfrm>
          <a:prstGeom prst="roundRect">
            <a:avLst>
              <a:gd name="adj" fmla="val 25000"/>
            </a:avLst>
          </a:prstGeom>
          <a:solidFill>
            <a:srgbClr val="E8792F"/>
          </a:solidFill>
          <a:ln w="19050">
            <a:solidFill>
              <a:srgbClr val="FFFFFF"/>
            </a:solidFill>
          </a:ln>
          <a:effectLst>
            <a:outerShdw blurRad="50000" dist="20000" dir="5400000" algn="t" rotWithShape="0">
              <a:srgbClr val="000000">
                <a:alpha val="25000"/>
              </a:srgbClr>
            </a:outerShdw>
          </a:effectLst>
        </p:spPr>
        <p:txBody>
          <a:bodyPr wrap="square" lIns="18288" tIns="18288" rIns="18288" bIns="18288" anchor="ctr"/>
          <a:lstStyle/>
          <a:p>
            <a:pPr algn="ctr"/>
            <a:r>
              <a:rPr lang="en-US" sz="1100" b="1" dirty="0">
                <a:solidFill>
                  <a:srgbClr val="FFFFFF"/>
                </a:solidFill>
                <a:latin typeface="Calibri"/>
              </a:rPr>
              <a:t>BTNC</a:t>
            </a:r>
          </a:p>
          <a:p>
            <a:pPr algn="ctr"/>
            <a:r>
              <a:rPr lang="en-US" sz="900" dirty="0">
                <a:solidFill>
                  <a:srgbClr val="D0D0D0"/>
                </a:solidFill>
                <a:latin typeface="Calibri"/>
              </a:rPr>
              <a:t>Bit 0</a:t>
            </a:r>
          </a:p>
        </p:txBody>
      </p:sp>
      <p:sp>
        <p:nvSpPr>
          <p:cNvPr id="145" name="BTNR"/>
          <p:cNvSpPr/>
          <p:nvPr/>
        </p:nvSpPr>
        <p:spPr>
          <a:xfrm>
            <a:off x="9050000" y="2975000"/>
            <a:ext cx="1200000" cy="900000"/>
          </a:xfrm>
          <a:prstGeom prst="roundRect">
            <a:avLst>
              <a:gd name="adj" fmla="val 25000"/>
            </a:avLst>
          </a:prstGeom>
          <a:solidFill>
            <a:srgbClr val="2C3E6B"/>
          </a:solidFill>
          <a:ln w="19050">
            <a:solidFill>
              <a:srgbClr val="FFFFFF"/>
            </a:solidFill>
          </a:ln>
          <a:effectLst>
            <a:outerShdw blurRad="50000" dist="20000" dir="5400000" algn="t" rotWithShape="0">
              <a:srgbClr val="000000">
                <a:alpha val="25000"/>
              </a:srgbClr>
            </a:outerShdw>
          </a:effectLst>
        </p:spPr>
        <p:txBody>
          <a:bodyPr wrap="square" lIns="18288" tIns="18288" rIns="18288" bIns="18288" anchor="ctr"/>
          <a:lstStyle/>
          <a:p>
            <a:pPr algn="ctr"/>
            <a:r>
              <a:rPr lang="en-US" sz="1100" b="1" dirty="0">
                <a:solidFill>
                  <a:srgbClr val="FFFFFF"/>
                </a:solidFill>
                <a:latin typeface="Calibri"/>
              </a:rPr>
              <a:t>BTNR</a:t>
            </a:r>
          </a:p>
          <a:p>
            <a:pPr algn="ctr"/>
            <a:r>
              <a:rPr lang="en-US" sz="900" dirty="0">
                <a:solidFill>
                  <a:srgbClr val="D0D0D0"/>
                </a:solidFill>
                <a:latin typeface="Calibri"/>
              </a:rPr>
              <a:t>Bit 3</a:t>
            </a:r>
          </a:p>
        </p:txBody>
      </p:sp>
      <p:sp>
        <p:nvSpPr>
          <p:cNvPr id="146" name="BTND"/>
          <p:cNvSpPr/>
          <p:nvPr/>
        </p:nvSpPr>
        <p:spPr>
          <a:xfrm>
            <a:off x="7700000" y="4100000"/>
            <a:ext cx="1200000" cy="900000"/>
          </a:xfrm>
          <a:prstGeom prst="roundRect">
            <a:avLst>
              <a:gd name="adj" fmla="val 25000"/>
            </a:avLst>
          </a:prstGeom>
          <a:solidFill>
            <a:srgbClr val="1B5E8A"/>
          </a:solidFill>
          <a:ln w="19050">
            <a:solidFill>
              <a:srgbClr val="FFFFFF"/>
            </a:solidFill>
          </a:ln>
          <a:effectLst>
            <a:outerShdw blurRad="50000" dist="20000" dir="5400000" algn="t" rotWithShape="0">
              <a:srgbClr val="000000">
                <a:alpha val="25000"/>
              </a:srgbClr>
            </a:outerShdw>
          </a:effectLst>
        </p:spPr>
        <p:txBody>
          <a:bodyPr wrap="square" lIns="18288" tIns="18288" rIns="18288" bIns="18288" anchor="ctr"/>
          <a:lstStyle/>
          <a:p>
            <a:pPr algn="ctr"/>
            <a:r>
              <a:rPr lang="en-US" sz="1100" b="1" dirty="0">
                <a:solidFill>
                  <a:srgbClr val="FFFFFF"/>
                </a:solidFill>
                <a:latin typeface="Calibri"/>
              </a:rPr>
              <a:t>BTND</a:t>
            </a:r>
          </a:p>
          <a:p>
            <a:pPr algn="ctr"/>
            <a:r>
              <a:rPr lang="en-US" sz="900" dirty="0">
                <a:solidFill>
                  <a:srgbClr val="D0D0D0"/>
                </a:solidFill>
                <a:latin typeface="Calibri"/>
              </a:rPr>
              <a:t>Bit 1</a:t>
            </a:r>
          </a:p>
        </p:txBody>
      </p:sp>
      <p:pic>
        <p:nvPicPr>
          <p:cNvPr id="147" name="Graphic 147" descr="Keyboard button icon"/>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22000" y="952500"/>
            <a:ext cx="533400" cy="533400"/>
          </a:xfrm>
          <a:prstGeom prst="rect">
            <a:avLst/>
          </a:prstGeom>
        </p:spPr>
      </p:pic>
    </p:spTree>
    <p:extLst>
      <p:ext uri="{BB962C8B-B14F-4D97-AF65-F5344CB8AC3E}">
        <p14:creationId xmlns:p14="http://schemas.microsoft.com/office/powerpoint/2010/main" val="84809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8261F-A80A-CD15-A571-47B84291D9DE}"/>
              </a:ext>
            </a:extLst>
          </p:cNvPr>
          <p:cNvSpPr>
            <a:spLocks noGrp="1"/>
          </p:cNvSpPr>
          <p:nvPr>
            <p:ph type="title"/>
          </p:nvPr>
        </p:nvSpPr>
        <p:spPr>
          <a:xfrm>
            <a:off x="700635" y="914400"/>
            <a:ext cx="10691265" cy="698500"/>
          </a:xfrm>
        </p:spPr>
        <p:txBody>
          <a:bodyPr>
            <a:spAutoFit/>
          </a:bodyPr>
          <a:lstStyle/>
          <a:p>
            <a:pPr algn="l"/>
            <a:r>
              <a:rPr lang="en-GB" b="1" dirty="0">
                <a:solidFill>
                  <a:srgbClr val="1B2A4A"/>
                </a:solidFill>
                <a:latin typeface="Segoe UI Semibold"/>
              </a:rPr>
              <a:t>Button State Encoding System</a:t>
            </a:r>
          </a:p>
        </p:txBody>
      </p:sp>
      <p:sp>
        <p:nvSpPr>
          <p:cNvPr id="3" name="Content Placeholder 2">
            <a:extLst>
              <a:ext uri="{FF2B5EF4-FFF2-40B4-BE49-F238E27FC236}">
                <a16:creationId xmlns:a16="http://schemas.microsoft.com/office/drawing/2014/main" id="{2A5F7591-D191-4162-1320-9CC43DEDF28C}"/>
              </a:ext>
            </a:extLst>
          </p:cNvPr>
          <p:cNvSpPr>
            <a:spLocks noGrp="1"/>
          </p:cNvSpPr>
          <p:nvPr>
            <p:ph idx="1"/>
          </p:nvPr>
        </p:nvSpPr>
        <p:spPr>
          <a:xfrm>
            <a:off x="700635" y="1778000"/>
            <a:ext cx="10691265" cy="4377032"/>
          </a:xfrm>
        </p:spPr>
        <p:txBody>
          <a:bodyPr>
            <a:spAutoFit/>
          </a:bodyPr>
          <a:lstStyle/>
          <a:p>
            <a:pPr algn="l">
              <a:spcAft>
                <a:spcPts val="100"/>
              </a:spcAft>
              <a:buNone/>
            </a:pPr>
            <a:r>
              <a:rPr lang="en-GB" sz="1500" dirty="0">
                <a:latin typeface="Calibri"/>
              </a:rPr>
              <a:t>Each button maps to a bit in a 5-bit value (Bit4=BTNU, Bit3=BTNR, Bit2=BTNL, Bit1=BTND, Bit0=BTNC). Multiple simultaneous presses are naturally represented:</a:t>
            </a:r>
          </a:p>
          <a:p>
            <a:pPr algn="l">
              <a:spcAft>
                <a:spcPts val="100"/>
              </a:spcAft>
              <a:buNone/>
            </a:pPr>
            <a:r>
              <a:rPr lang="en-GB" sz="1500" b="1" dirty="0">
                <a:latin typeface="Calibri"/>
              </a:rPr>
              <a:t>Encoding Examples:</a:t>
            </a:r>
          </a:p>
          <a:p>
            <a:pPr algn="l">
              <a:spcAft>
                <a:spcPts val="50"/>
              </a:spcAft>
              <a:buFont typeface="Arial"/>
              <a:buChar char="•"/>
            </a:pPr>
            <a:r>
              <a:rPr lang="en-GB" sz="1400" dirty="0">
                <a:latin typeface="Calibri"/>
              </a:rPr>
              <a:t>No buttons pressed: 00000 = 0x00 (decimal 0)</a:t>
            </a:r>
          </a:p>
          <a:p>
            <a:pPr algn="l">
              <a:spcAft>
                <a:spcPts val="50"/>
              </a:spcAft>
              <a:buFont typeface="Arial"/>
              <a:buChar char="•"/>
            </a:pPr>
            <a:r>
              <a:rPr lang="en-GB" sz="1400" dirty="0">
                <a:latin typeface="Calibri"/>
              </a:rPr>
              <a:t>BTNC only: 00001 = 0x01 (decimal 1)</a:t>
            </a:r>
          </a:p>
          <a:p>
            <a:pPr algn="l">
              <a:spcAft>
                <a:spcPts val="50"/>
              </a:spcAft>
              <a:buFont typeface="Arial"/>
              <a:buChar char="•"/>
            </a:pPr>
            <a:r>
              <a:rPr lang="en-GB" sz="1400" dirty="0">
                <a:latin typeface="Calibri"/>
              </a:rPr>
              <a:t>BTNU only: 10000 = 0x10 (decimal 16)</a:t>
            </a:r>
          </a:p>
          <a:p>
            <a:pPr algn="l">
              <a:spcAft>
                <a:spcPts val="50"/>
              </a:spcAft>
              <a:buFont typeface="Arial"/>
              <a:buChar char="•"/>
            </a:pPr>
            <a:r>
              <a:rPr lang="en-GB" sz="1400" dirty="0">
                <a:latin typeface="Calibri"/>
              </a:rPr>
              <a:t>BTNC + BTNU: 10001 = 0x11 (decimal 17)</a:t>
            </a:r>
          </a:p>
          <a:p>
            <a:pPr algn="l">
              <a:spcAft>
                <a:spcPts val="50"/>
              </a:spcAft>
              <a:buFont typeface="Arial"/>
              <a:buChar char="•"/>
            </a:pPr>
            <a:r>
              <a:rPr lang="en-GB" sz="1400" dirty="0">
                <a:latin typeface="Calibri"/>
              </a:rPr>
              <a:t>All 5 buttons: 11111 = 0x1F (decimal 31)</a:t>
            </a:r>
          </a:p>
          <a:p>
            <a:pPr algn="l">
              <a:spcAft>
                <a:spcPts val="100"/>
              </a:spcAft>
              <a:buNone/>
            </a:pPr>
            <a:r>
              <a:rPr lang="en-GB" sz="1500" b="1" dirty="0">
                <a:latin typeface="Calibri"/>
              </a:rPr>
              <a:t>Extracting Individual States (Bitwise):</a:t>
            </a:r>
          </a:p>
          <a:p>
            <a:pPr algn="l">
              <a:spcAft>
                <a:spcPts val="40"/>
              </a:spcAft>
              <a:buFont typeface="Arial"/>
              <a:buChar char="•"/>
            </a:pPr>
            <a:r>
              <a:rPr lang="en-GB" sz="1400" dirty="0">
                <a:latin typeface="Courier New"/>
              </a:rPr>
              <a:t>is_btnc = (value &gt;&gt; 0) &amp; 0x01;</a:t>
            </a:r>
            <a:r>
              <a:rPr lang="en-GB" sz="1400" dirty="0">
                <a:latin typeface="Calibri"/>
              </a:rPr>
              <a:t>  // Bit 0</a:t>
            </a:r>
          </a:p>
          <a:p>
            <a:pPr algn="l">
              <a:spcAft>
                <a:spcPts val="40"/>
              </a:spcAft>
              <a:buFont typeface="Arial"/>
              <a:buChar char="•"/>
            </a:pPr>
            <a:r>
              <a:rPr lang="en-GB" sz="1400" dirty="0">
                <a:latin typeface="Courier New"/>
              </a:rPr>
              <a:t>is_btnu = (value &gt;&gt; 4) &amp; 0x01;</a:t>
            </a:r>
            <a:r>
              <a:rPr lang="en-GB" sz="1400" dirty="0">
                <a:latin typeface="Calibri"/>
              </a:rPr>
              <a:t>  // Bit 4</a:t>
            </a:r>
          </a:p>
          <a:p>
            <a:pPr algn="l">
              <a:buNone/>
            </a:pPr>
            <a:r>
              <a:rPr lang="en-GB" sz="1400" dirty="0">
                <a:latin typeface="Calibri"/>
              </a:rPr>
              <a:t>Right-shift the value by the bit position, then AND with 0x01 to isolate the bit.</a:t>
            </a:r>
          </a:p>
        </p:txBody>
      </p:sp>
      <p:sp>
        <p:nvSpPr>
          <p:cNvPr id="4" name="Rectangle 3">
            <a:extLst>
              <a:ext uri="{FF2B5EF4-FFF2-40B4-BE49-F238E27FC236}">
                <a16:creationId xmlns:a16="http://schemas.microsoft.com/office/drawing/2014/main" id="{FF8AE64B-6E68-445F-B05A-D70CAC51E96C}"/>
              </a:ext>
            </a:extLst>
          </p:cNvPr>
          <p:cNvSpPr/>
          <p:nvPr/>
        </p:nvSpPr>
        <p:spPr>
          <a:xfrm>
            <a:off x="698500" y="1625600"/>
            <a:ext cx="1270000" cy="38100"/>
          </a:xfrm>
          <a:prstGeom prst="rect">
            <a:avLst/>
          </a:prstGeom>
          <a:solidFill>
            <a:srgbClr val="E879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DE"/>
          </a:p>
        </p:txBody>
      </p:sp>
      <p:pic>
        <p:nvPicPr>
          <p:cNvPr id="5" name="Graphic 5" descr="Keyboard icon"/>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22000" y="952500"/>
            <a:ext cx="533400" cy="533400"/>
          </a:xfrm>
          <a:prstGeom prst="rect">
            <a:avLst/>
          </a:prstGeom>
        </p:spPr>
      </p:pic>
    </p:spTree>
    <p:extLst>
      <p:ext uri="{BB962C8B-B14F-4D97-AF65-F5344CB8AC3E}">
        <p14:creationId xmlns:p14="http://schemas.microsoft.com/office/powerpoint/2010/main" val="28040095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98756-97B6-60FC-BB2D-36269B61EDBE}"/>
              </a:ext>
            </a:extLst>
          </p:cNvPr>
          <p:cNvSpPr>
            <a:spLocks noGrp="1"/>
          </p:cNvSpPr>
          <p:nvPr>
            <p:ph type="title"/>
          </p:nvPr>
        </p:nvSpPr>
        <p:spPr>
          <a:xfrm>
            <a:off x="700635" y="914400"/>
            <a:ext cx="10691265" cy="698500"/>
          </a:xfrm>
        </p:spPr>
        <p:txBody>
          <a:bodyPr>
            <a:spAutoFit/>
          </a:bodyPr>
          <a:lstStyle/>
          <a:p>
            <a:pPr algn="l"/>
            <a:r>
              <a:rPr lang="en-GB" b="1" dirty="0">
                <a:solidFill>
                  <a:srgbClr val="1B2A4A"/>
                </a:solidFill>
                <a:latin typeface="Segoe UI Semibold"/>
              </a:rPr>
              <a:t>Reading Button Data (readButtons)</a:t>
            </a:r>
          </a:p>
        </p:txBody>
      </p:sp>
      <p:sp>
        <p:nvSpPr>
          <p:cNvPr id="3" name="Content Placeholder 2">
            <a:extLst>
              <a:ext uri="{FF2B5EF4-FFF2-40B4-BE49-F238E27FC236}">
                <a16:creationId xmlns:a16="http://schemas.microsoft.com/office/drawing/2014/main" id="{354390F6-306A-9B3C-26E9-F82F3DE98FEA}"/>
              </a:ext>
            </a:extLst>
          </p:cNvPr>
          <p:cNvSpPr>
            <a:spLocks noGrp="1"/>
          </p:cNvSpPr>
          <p:nvPr>
            <p:ph idx="1"/>
          </p:nvPr>
        </p:nvSpPr>
        <p:spPr>
          <a:xfrm>
            <a:off x="700635" y="1778000"/>
            <a:ext cx="10691265" cy="4011804"/>
          </a:xfrm>
        </p:spPr>
        <p:txBody>
          <a:bodyPr>
            <a:spAutoFit/>
          </a:bodyPr>
          <a:lstStyle/>
          <a:p>
            <a:pPr algn="l">
              <a:spcAft>
                <a:spcPts val="100"/>
              </a:spcAft>
              <a:buNone/>
            </a:pPr>
            <a:r>
              <a:rPr lang="en-GB" sz="1500" dirty="0">
                <a:latin typeface="Calibri"/>
              </a:rPr>
              <a:t>The readButtons(fd) function communicates with the kernel module to read the current state of all five buttons from the FPGA hardware:</a:t>
            </a:r>
          </a:p>
          <a:p>
            <a:pPr algn="l">
              <a:spcAft>
                <a:spcPts val="100"/>
              </a:spcAft>
              <a:buNone/>
            </a:pPr>
            <a:r>
              <a:rPr lang="en-GB" sz="1500" b="1" dirty="0">
                <a:latin typeface="Calibri"/>
              </a:rPr>
              <a:t>Step-by-Step Process:</a:t>
            </a:r>
          </a:p>
          <a:p>
            <a:pPr algn="l">
              <a:spcAft>
                <a:spcPts val="50"/>
              </a:spcAft>
              <a:buFont typeface="Arial"/>
              <a:buAutoNum type="arabicPeriod"/>
            </a:pPr>
            <a:r>
              <a:rPr lang="en-GB" sz="1400" b="1" dirty="0">
                <a:latin typeface="Calibri"/>
              </a:rPr>
              <a:t>Prepare Request: </a:t>
            </a:r>
            <a:r>
              <a:rPr lang="en-GB" sz="1400" dirty="0">
                <a:latin typeface="Calibri"/>
              </a:rPr>
              <a:t>Set rnum = REGNUM_ID (0x0FF), rvalue = 7 (button selector code)</a:t>
            </a:r>
          </a:p>
          <a:p>
            <a:pPr algn="l">
              <a:spcAft>
                <a:spcPts val="50"/>
              </a:spcAft>
              <a:buFont typeface="Arial"/>
              <a:buAutoNum type="arabicPeriod"/>
            </a:pPr>
            <a:r>
              <a:rPr lang="en-GB" sz="1400" b="1" dirty="0">
                <a:latin typeface="Calibri"/>
              </a:rPr>
              <a:t>Send to Kernel: </a:t>
            </a:r>
            <a:r>
              <a:rPr lang="en-GB" sz="1400" dirty="0">
                <a:latin typeface="Calibri"/>
              </a:rPr>
              <a:t>write(fd, &amp;tf_obj_snd, MEASOBJ_SIZE) crosses user-kernel boundary</a:t>
            </a:r>
          </a:p>
          <a:p>
            <a:pPr algn="l">
              <a:spcAft>
                <a:spcPts val="50"/>
              </a:spcAft>
              <a:buFont typeface="Arial"/>
              <a:buAutoNum type="arabicPeriod"/>
            </a:pPr>
            <a:r>
              <a:rPr lang="en-GB" sz="1400" b="1" dirty="0">
                <a:latin typeface="Calibri"/>
              </a:rPr>
              <a:t>Read Response: </a:t>
            </a:r>
            <a:r>
              <a:rPr lang="en-GB" sz="1400" dirty="0">
                <a:latin typeface="Calibri"/>
              </a:rPr>
              <a:t>read(fd, &amp;tf_obj_rcv, MEASOBJ_SIZE) retrieves GPIO register data</a:t>
            </a:r>
          </a:p>
          <a:p>
            <a:pPr algn="l">
              <a:spcAft>
                <a:spcPts val="50"/>
              </a:spcAft>
              <a:buFont typeface="Arial"/>
              <a:buAutoNum type="arabicPeriod"/>
            </a:pPr>
            <a:r>
              <a:rPr lang="en-GB" sz="1400" b="1" dirty="0">
                <a:latin typeface="Calibri"/>
              </a:rPr>
              <a:t>Mask to 5 bits: </a:t>
            </a:r>
            <a:r>
              <a:rPr lang="en-GB" sz="1400" dirty="0">
                <a:latin typeface="Calibri"/>
              </a:rPr>
              <a:t>button_data = tf_obj_rcv.rvalue &amp; 0x1F (keeps only bits 0-4)</a:t>
            </a:r>
          </a:p>
          <a:p>
            <a:pPr algn="l">
              <a:spcAft>
                <a:spcPts val="50"/>
              </a:spcAft>
              <a:buFont typeface="Arial"/>
              <a:buAutoNum type="arabicPeriod"/>
            </a:pPr>
            <a:r>
              <a:rPr lang="en-GB" sz="1400" b="1" dirty="0">
                <a:latin typeface="Calibri"/>
              </a:rPr>
              <a:t>Return Value: </a:t>
            </a:r>
            <a:r>
              <a:rPr lang="en-GB" sz="1400" dirty="0">
                <a:latin typeface="Calibri"/>
              </a:rPr>
              <a:t>Range 0x00 (none pressed) to 0x1F (all pressed)</a:t>
            </a:r>
          </a:p>
          <a:p>
            <a:pPr algn="l">
              <a:spcAft>
                <a:spcPts val="100"/>
              </a:spcAft>
              <a:buNone/>
            </a:pPr>
            <a:r>
              <a:rPr lang="en-GB" sz="1500" b="1" dirty="0">
                <a:latin typeface="Calibri"/>
              </a:rPr>
              <a:t>Key Points:</a:t>
            </a:r>
          </a:p>
          <a:p>
            <a:pPr algn="l">
              <a:spcAft>
                <a:spcPts val="40"/>
              </a:spcAft>
              <a:buFont typeface="Arial"/>
              <a:buChar char="•"/>
            </a:pPr>
            <a:r>
              <a:rPr lang="en-GB" sz="1400" dirty="0">
                <a:latin typeface="Calibri"/>
              </a:rPr>
              <a:t>rvalue = 7 differentiates buttons from switches (rvalue = 0)</a:t>
            </a:r>
          </a:p>
          <a:p>
            <a:pPr algn="l">
              <a:buFont typeface="Arial"/>
              <a:buChar char="•"/>
            </a:pPr>
            <a:r>
              <a:rPr lang="en-GB" sz="1400" dirty="0">
                <a:latin typeface="Calibri"/>
              </a:rPr>
              <a:t>Typical execution time: 5-8 microseconds per read</a:t>
            </a:r>
          </a:p>
        </p:txBody>
      </p:sp>
      <p:sp>
        <p:nvSpPr>
          <p:cNvPr id="4" name="Rectangle 3">
            <a:extLst>
              <a:ext uri="{FF2B5EF4-FFF2-40B4-BE49-F238E27FC236}">
                <a16:creationId xmlns:a16="http://schemas.microsoft.com/office/drawing/2014/main" id="{23230457-F6A2-4B94-851D-D639B7A5786F}"/>
              </a:ext>
            </a:extLst>
          </p:cNvPr>
          <p:cNvSpPr/>
          <p:nvPr/>
        </p:nvSpPr>
        <p:spPr>
          <a:xfrm>
            <a:off x="698500" y="1625600"/>
            <a:ext cx="1270000" cy="38100"/>
          </a:xfrm>
          <a:prstGeom prst="rect">
            <a:avLst/>
          </a:prstGeom>
          <a:solidFill>
            <a:srgbClr val="E879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DE"/>
          </a:p>
        </p:txBody>
      </p:sp>
      <p:pic>
        <p:nvPicPr>
          <p:cNvPr id="5" name="Graphic 5" descr="Keyboard icon"/>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22000" y="952500"/>
            <a:ext cx="533400" cy="533400"/>
          </a:xfrm>
          <a:prstGeom prst="rect">
            <a:avLst/>
          </a:prstGeom>
        </p:spPr>
      </p:pic>
    </p:spTree>
    <p:extLst>
      <p:ext uri="{BB962C8B-B14F-4D97-AF65-F5344CB8AC3E}">
        <p14:creationId xmlns:p14="http://schemas.microsoft.com/office/powerpoint/2010/main" val="3736115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F4B37-A3F7-6FF5-85DA-3C2E40CD5DD8}"/>
              </a:ext>
            </a:extLst>
          </p:cNvPr>
          <p:cNvSpPr>
            <a:spLocks noGrp="1"/>
          </p:cNvSpPr>
          <p:nvPr>
            <p:ph type="title"/>
          </p:nvPr>
        </p:nvSpPr>
        <p:spPr>
          <a:xfrm>
            <a:off x="700635" y="914400"/>
            <a:ext cx="10691265" cy="718457"/>
          </a:xfrm>
        </p:spPr>
        <p:txBody>
          <a:bodyPr/>
          <a:lstStyle/>
          <a:p>
            <a:pPr algn="ctr"/>
            <a:r>
              <a:rPr lang="en-GB" b="1" dirty="0"/>
              <a:t>GUI Commands</a:t>
            </a:r>
            <a:endParaRPr lang="en-DE" dirty="0"/>
          </a:p>
        </p:txBody>
      </p:sp>
      <p:sp>
        <p:nvSpPr>
          <p:cNvPr id="4" name="Oval 3">
            <a:extLst>
              <a:ext uri="{FF2B5EF4-FFF2-40B4-BE49-F238E27FC236}">
                <a16:creationId xmlns:a16="http://schemas.microsoft.com/office/drawing/2014/main" id="{221ADBEF-C8DA-740C-84C4-74E753D3FF5A}"/>
              </a:ext>
            </a:extLst>
          </p:cNvPr>
          <p:cNvSpPr/>
          <p:nvPr/>
        </p:nvSpPr>
        <p:spPr>
          <a:xfrm>
            <a:off x="1719943" y="2068285"/>
            <a:ext cx="1836057" cy="928915"/>
          </a:xfrm>
          <a:prstGeom prst="ellipse">
            <a:avLst/>
          </a:prstGeom>
          <a:solidFill>
            <a:schemeClr val="accent3"/>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Connect</a:t>
            </a:r>
            <a:endParaRPr lang="en-DE" dirty="0"/>
          </a:p>
        </p:txBody>
      </p:sp>
      <p:sp>
        <p:nvSpPr>
          <p:cNvPr id="5" name="Content Placeholder 4">
            <a:extLst>
              <a:ext uri="{FF2B5EF4-FFF2-40B4-BE49-F238E27FC236}">
                <a16:creationId xmlns:a16="http://schemas.microsoft.com/office/drawing/2014/main" id="{7287747B-1425-590A-22BB-BB6DF8F921C9}"/>
              </a:ext>
            </a:extLst>
          </p:cNvPr>
          <p:cNvSpPr>
            <a:spLocks noGrp="1"/>
          </p:cNvSpPr>
          <p:nvPr>
            <p:ph idx="1"/>
          </p:nvPr>
        </p:nvSpPr>
        <p:spPr>
          <a:xfrm>
            <a:off x="5128238" y="3926115"/>
            <a:ext cx="1836057" cy="986972"/>
          </a:xfrm>
          <a:prstGeom prst="ellipse">
            <a:avLst/>
          </a:prstGeom>
          <a:solidFill>
            <a:schemeClr val="accent4">
              <a:lumMod val="7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marL="0" indent="0" algn="ctr">
              <a:buNone/>
            </a:pPr>
            <a:r>
              <a:rPr lang="en-GB" dirty="0"/>
              <a:t>Disconnect</a:t>
            </a:r>
            <a:endParaRPr lang="en-DE" dirty="0"/>
          </a:p>
        </p:txBody>
      </p:sp>
      <p:sp>
        <p:nvSpPr>
          <p:cNvPr id="6" name="Content Placeholder 4">
            <a:extLst>
              <a:ext uri="{FF2B5EF4-FFF2-40B4-BE49-F238E27FC236}">
                <a16:creationId xmlns:a16="http://schemas.microsoft.com/office/drawing/2014/main" id="{FCEC3DB9-DD56-E653-6046-8E2379374882}"/>
              </a:ext>
            </a:extLst>
          </p:cNvPr>
          <p:cNvSpPr txBox="1">
            <a:spLocks/>
          </p:cNvSpPr>
          <p:nvPr/>
        </p:nvSpPr>
        <p:spPr>
          <a:xfrm>
            <a:off x="5272314" y="2068285"/>
            <a:ext cx="1836057" cy="986972"/>
          </a:xfrm>
          <a:prstGeom prst="ellipse">
            <a:avLst/>
          </a:prstGeom>
          <a:solidFill>
            <a:schemeClr val="accent3">
              <a:lumMod val="75000"/>
            </a:schemeClr>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lt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lt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lt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lt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buFont typeface="Arial" panose="020B0604020202020204" pitchFamily="34" charset="0"/>
              <a:buNone/>
            </a:pPr>
            <a:r>
              <a:rPr lang="en-GB"/>
              <a:t>Start</a:t>
            </a:r>
            <a:endParaRPr lang="en-DE" dirty="0"/>
          </a:p>
        </p:txBody>
      </p:sp>
      <p:sp>
        <p:nvSpPr>
          <p:cNvPr id="7" name="Content Placeholder 4">
            <a:extLst>
              <a:ext uri="{FF2B5EF4-FFF2-40B4-BE49-F238E27FC236}">
                <a16:creationId xmlns:a16="http://schemas.microsoft.com/office/drawing/2014/main" id="{F7D479C7-BD04-C3DF-B391-E02E5681D657}"/>
              </a:ext>
            </a:extLst>
          </p:cNvPr>
          <p:cNvSpPr txBox="1">
            <a:spLocks/>
          </p:cNvSpPr>
          <p:nvPr/>
        </p:nvSpPr>
        <p:spPr>
          <a:xfrm>
            <a:off x="1719942" y="3926115"/>
            <a:ext cx="1836057" cy="986972"/>
          </a:xfrm>
          <a:prstGeom prst="ellipse">
            <a:avLst/>
          </a:prstGeom>
          <a:solidFill>
            <a:srgbClr val="FFC000"/>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lt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lt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lt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lt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buFont typeface="Arial" panose="020B0604020202020204" pitchFamily="34" charset="0"/>
              <a:buNone/>
            </a:pPr>
            <a:r>
              <a:rPr lang="en-GB" dirty="0"/>
              <a:t>Configure</a:t>
            </a:r>
            <a:endParaRPr lang="en-DE" dirty="0"/>
          </a:p>
        </p:txBody>
      </p:sp>
      <p:sp>
        <p:nvSpPr>
          <p:cNvPr id="8" name="Content Placeholder 4">
            <a:extLst>
              <a:ext uri="{FF2B5EF4-FFF2-40B4-BE49-F238E27FC236}">
                <a16:creationId xmlns:a16="http://schemas.microsoft.com/office/drawing/2014/main" id="{DDD50328-1BC4-3D5A-271D-48ACA5000148}"/>
              </a:ext>
            </a:extLst>
          </p:cNvPr>
          <p:cNvSpPr txBox="1">
            <a:spLocks/>
          </p:cNvSpPr>
          <p:nvPr/>
        </p:nvSpPr>
        <p:spPr>
          <a:xfrm>
            <a:off x="8824685" y="2068285"/>
            <a:ext cx="1836057" cy="986972"/>
          </a:xfrm>
          <a:prstGeom prst="ellipse">
            <a:avLst/>
          </a:prstGeom>
          <a:solidFill>
            <a:schemeClr val="accent4"/>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lt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lt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lt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lt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buFont typeface="Arial" panose="020B0604020202020204" pitchFamily="34" charset="0"/>
              <a:buNone/>
            </a:pPr>
            <a:r>
              <a:rPr lang="en-GB" dirty="0"/>
              <a:t>Stop</a:t>
            </a:r>
            <a:endParaRPr lang="en-DE" dirty="0"/>
          </a:p>
        </p:txBody>
      </p:sp>
      <p:sp>
        <p:nvSpPr>
          <p:cNvPr id="9" name="Content Placeholder 4">
            <a:extLst>
              <a:ext uri="{FF2B5EF4-FFF2-40B4-BE49-F238E27FC236}">
                <a16:creationId xmlns:a16="http://schemas.microsoft.com/office/drawing/2014/main" id="{E59DDC05-E95D-FC56-21C7-30120F24FE79}"/>
              </a:ext>
            </a:extLst>
          </p:cNvPr>
          <p:cNvSpPr txBox="1">
            <a:spLocks/>
          </p:cNvSpPr>
          <p:nvPr/>
        </p:nvSpPr>
        <p:spPr>
          <a:xfrm>
            <a:off x="8880181" y="3926115"/>
            <a:ext cx="1836057" cy="986972"/>
          </a:xfrm>
          <a:prstGeom prst="ellipse">
            <a:avLst/>
          </a:prstGeom>
          <a:solidFill>
            <a:srgbClr val="FF0000"/>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lt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lt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lt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lt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buFont typeface="Arial" panose="020B0604020202020204" pitchFamily="34" charset="0"/>
              <a:buNone/>
            </a:pPr>
            <a:r>
              <a:rPr lang="en-GB" dirty="0"/>
              <a:t>Shutdown</a:t>
            </a:r>
            <a:endParaRPr lang="en-DE" dirty="0"/>
          </a:p>
        </p:txBody>
      </p:sp>
      <p:pic>
        <p:nvPicPr>
          <p:cNvPr id="11" name="Picture 10">
            <a:extLst>
              <a:ext uri="{FF2B5EF4-FFF2-40B4-BE49-F238E27FC236}">
                <a16:creationId xmlns:a16="http://schemas.microsoft.com/office/drawing/2014/main" id="{4212AE7F-6477-68D4-DD56-7FD10A43C8B9}"/>
              </a:ext>
            </a:extLst>
          </p:cNvPr>
          <p:cNvPicPr>
            <a:picLocks noChangeAspect="1"/>
          </p:cNvPicPr>
          <p:nvPr/>
        </p:nvPicPr>
        <p:blipFill>
          <a:blip r:embed="rId2"/>
          <a:stretch>
            <a:fillRect/>
          </a:stretch>
        </p:blipFill>
        <p:spPr>
          <a:xfrm>
            <a:off x="1989501" y="2997200"/>
            <a:ext cx="1377815" cy="402371"/>
          </a:xfrm>
          <a:prstGeom prst="rect">
            <a:avLst/>
          </a:prstGeom>
        </p:spPr>
      </p:pic>
      <p:pic>
        <p:nvPicPr>
          <p:cNvPr id="13" name="Picture 12">
            <a:extLst>
              <a:ext uri="{FF2B5EF4-FFF2-40B4-BE49-F238E27FC236}">
                <a16:creationId xmlns:a16="http://schemas.microsoft.com/office/drawing/2014/main" id="{3FADE8BD-83E7-8AFC-20FF-30A09DCA809B}"/>
              </a:ext>
            </a:extLst>
          </p:cNvPr>
          <p:cNvPicPr>
            <a:picLocks noChangeAspect="1"/>
          </p:cNvPicPr>
          <p:nvPr/>
        </p:nvPicPr>
        <p:blipFill>
          <a:blip r:embed="rId3"/>
          <a:stretch>
            <a:fillRect/>
          </a:stretch>
        </p:blipFill>
        <p:spPr>
          <a:xfrm>
            <a:off x="5833695" y="3088314"/>
            <a:ext cx="713294" cy="402371"/>
          </a:xfrm>
          <a:prstGeom prst="rect">
            <a:avLst/>
          </a:prstGeom>
        </p:spPr>
      </p:pic>
      <p:sp>
        <p:nvSpPr>
          <p:cNvPr id="15" name="TextBox 14">
            <a:extLst>
              <a:ext uri="{FF2B5EF4-FFF2-40B4-BE49-F238E27FC236}">
                <a16:creationId xmlns:a16="http://schemas.microsoft.com/office/drawing/2014/main" id="{717B6587-B83B-CC03-F13D-97DCE4120482}"/>
              </a:ext>
            </a:extLst>
          </p:cNvPr>
          <p:cNvSpPr txBox="1"/>
          <p:nvPr/>
        </p:nvSpPr>
        <p:spPr>
          <a:xfrm>
            <a:off x="9489205" y="3077828"/>
            <a:ext cx="713294" cy="333553"/>
          </a:xfrm>
          <a:prstGeom prst="rect">
            <a:avLst/>
          </a:prstGeom>
          <a:noFill/>
        </p:spPr>
        <p:txBody>
          <a:bodyPr wrap="square">
            <a:spAutoFit/>
          </a:bodyPr>
          <a:lstStyle/>
          <a:p>
            <a:pPr marL="228600" marR="0" lvl="0" indent="-228600" algn="l" defTabSz="914400" rtl="0" eaLnBrk="1" fontAlgn="auto" latinLnBrk="0" hangingPunct="1">
              <a:lnSpc>
                <a:spcPct val="110000"/>
              </a:lnSpc>
              <a:spcBef>
                <a:spcPts val="1000"/>
              </a:spcBef>
              <a:spcAft>
                <a:spcPts val="40"/>
              </a:spcAft>
              <a:buClrTx/>
              <a:buSzTx/>
              <a:buFont typeface="Arial" panose="020B0604020202020204" pitchFamily="34" charset="0"/>
              <a:buNone/>
              <a:tabLst/>
              <a:defRPr/>
            </a:pPr>
            <a:r>
              <a:rPr kumimoji="0" lang="en-GB" sz="1500" b="1" i="0" u="none" strike="noStrike" kern="1200" cap="none" spc="0" normalizeH="0" baseline="0" noProof="0" dirty="0">
                <a:ln>
                  <a:noFill/>
                </a:ln>
                <a:solidFill>
                  <a:srgbClr val="1B5E8A"/>
                </a:solidFill>
                <a:effectLst/>
                <a:uLnTx/>
                <a:uFillTx/>
                <a:latin typeface="Calibri"/>
                <a:ea typeface="+mn-ea"/>
                <a:cs typeface="+mn-cs"/>
              </a:rPr>
              <a:t>STOP</a:t>
            </a:r>
          </a:p>
        </p:txBody>
      </p:sp>
      <p:pic>
        <p:nvPicPr>
          <p:cNvPr id="17" name="Picture 16">
            <a:extLst>
              <a:ext uri="{FF2B5EF4-FFF2-40B4-BE49-F238E27FC236}">
                <a16:creationId xmlns:a16="http://schemas.microsoft.com/office/drawing/2014/main" id="{CB860FE3-7E3E-61CA-AD1C-C169AA5AD108}"/>
              </a:ext>
            </a:extLst>
          </p:cNvPr>
          <p:cNvPicPr>
            <a:picLocks noChangeAspect="1"/>
          </p:cNvPicPr>
          <p:nvPr/>
        </p:nvPicPr>
        <p:blipFill>
          <a:blip r:embed="rId4"/>
          <a:stretch>
            <a:fillRect/>
          </a:stretch>
        </p:blipFill>
        <p:spPr>
          <a:xfrm>
            <a:off x="1302830" y="4913087"/>
            <a:ext cx="2670279" cy="402371"/>
          </a:xfrm>
          <a:prstGeom prst="rect">
            <a:avLst/>
          </a:prstGeom>
        </p:spPr>
      </p:pic>
      <p:pic>
        <p:nvPicPr>
          <p:cNvPr id="19" name="Picture 18">
            <a:extLst>
              <a:ext uri="{FF2B5EF4-FFF2-40B4-BE49-F238E27FC236}">
                <a16:creationId xmlns:a16="http://schemas.microsoft.com/office/drawing/2014/main" id="{57260DC9-FE94-9E21-BF55-5DFE18A7A3AD}"/>
              </a:ext>
            </a:extLst>
          </p:cNvPr>
          <p:cNvPicPr>
            <a:picLocks noChangeAspect="1"/>
          </p:cNvPicPr>
          <p:nvPr/>
        </p:nvPicPr>
        <p:blipFill>
          <a:blip r:embed="rId5"/>
          <a:stretch>
            <a:fillRect/>
          </a:stretch>
        </p:blipFill>
        <p:spPr>
          <a:xfrm>
            <a:off x="5424420" y="4946144"/>
            <a:ext cx="1243692" cy="402371"/>
          </a:xfrm>
          <a:prstGeom prst="rect">
            <a:avLst/>
          </a:prstGeom>
        </p:spPr>
      </p:pic>
      <p:pic>
        <p:nvPicPr>
          <p:cNvPr id="21" name="Picture 20">
            <a:extLst>
              <a:ext uri="{FF2B5EF4-FFF2-40B4-BE49-F238E27FC236}">
                <a16:creationId xmlns:a16="http://schemas.microsoft.com/office/drawing/2014/main" id="{A730672B-EAFD-BA4A-7B0F-1D55FD5F5833}"/>
              </a:ext>
            </a:extLst>
          </p:cNvPr>
          <p:cNvPicPr>
            <a:picLocks noChangeAspect="1"/>
          </p:cNvPicPr>
          <p:nvPr/>
        </p:nvPicPr>
        <p:blipFill>
          <a:blip r:embed="rId6"/>
          <a:stretch>
            <a:fillRect/>
          </a:stretch>
        </p:blipFill>
        <p:spPr>
          <a:xfrm>
            <a:off x="9197701" y="4913087"/>
            <a:ext cx="1201016" cy="402371"/>
          </a:xfrm>
          <a:prstGeom prst="rect">
            <a:avLst/>
          </a:prstGeom>
        </p:spPr>
      </p:pic>
    </p:spTree>
    <p:extLst>
      <p:ext uri="{BB962C8B-B14F-4D97-AF65-F5344CB8AC3E}">
        <p14:creationId xmlns:p14="http://schemas.microsoft.com/office/powerpoint/2010/main" val="28218146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FB0CA-CCBA-99C7-5349-FCCCA702C16C}"/>
              </a:ext>
            </a:extLst>
          </p:cNvPr>
          <p:cNvSpPr>
            <a:spLocks noGrp="1"/>
          </p:cNvSpPr>
          <p:nvPr>
            <p:ph type="title"/>
          </p:nvPr>
        </p:nvSpPr>
        <p:spPr>
          <a:xfrm>
            <a:off x="700635" y="914400"/>
            <a:ext cx="10691265" cy="698500"/>
          </a:xfrm>
        </p:spPr>
        <p:txBody>
          <a:bodyPr>
            <a:spAutoFit/>
          </a:bodyPr>
          <a:lstStyle/>
          <a:p>
            <a:pPr algn="l"/>
            <a:r>
              <a:rPr lang="en-GB" b="1" dirty="0">
                <a:solidFill>
                  <a:srgbClr val="1B2A4A"/>
                </a:solidFill>
                <a:latin typeface="Segoe UI Semibold"/>
              </a:rPr>
              <a:t>References</a:t>
            </a:r>
          </a:p>
        </p:txBody>
      </p:sp>
      <p:sp>
        <p:nvSpPr>
          <p:cNvPr id="3" name="Content Placeholder 2">
            <a:extLst>
              <a:ext uri="{FF2B5EF4-FFF2-40B4-BE49-F238E27FC236}">
                <a16:creationId xmlns:a16="http://schemas.microsoft.com/office/drawing/2014/main" id="{3150D447-2C4B-1959-6AF2-D7F5366DA01A}"/>
              </a:ext>
            </a:extLst>
          </p:cNvPr>
          <p:cNvSpPr>
            <a:spLocks noGrp="1"/>
          </p:cNvSpPr>
          <p:nvPr>
            <p:ph idx="1"/>
          </p:nvPr>
        </p:nvSpPr>
        <p:spPr>
          <a:xfrm>
            <a:off x="700635" y="1778000"/>
            <a:ext cx="10691265" cy="1936556"/>
          </a:xfrm>
        </p:spPr>
        <p:txBody>
          <a:bodyPr>
            <a:spAutoFit/>
          </a:bodyPr>
          <a:lstStyle/>
          <a:p>
            <a:pPr algn="l">
              <a:spcAft>
                <a:spcPts val="300"/>
              </a:spcAft>
              <a:buFont typeface="Arial"/>
              <a:buAutoNum type="arabicParenR"/>
            </a:pPr>
            <a:r>
              <a:rPr lang="en-GB" sz="1500" dirty="0">
                <a:latin typeface="Calibri"/>
              </a:rPr>
              <a:t>"MAX31865PMB1 Peripheral Module," Analog Devices. Available: https://www.analog.com/media/en/technical-documentation/data-sheets/max31865pmb1.pdf</a:t>
            </a:r>
          </a:p>
          <a:p>
            <a:pPr algn="l">
              <a:spcAft>
                <a:spcPts val="300"/>
              </a:spcAft>
              <a:buFont typeface="Arial"/>
              <a:buAutoNum type="arabicParenR"/>
            </a:pPr>
            <a:r>
              <a:rPr lang="en-GB" sz="1500" dirty="0">
                <a:latin typeface="Calibri"/>
              </a:rPr>
              <a:t>"MAX31865 Datasheet," Analog Devices. Available: https://www.analog.com/media/en/technical-documentation/data-sheets/MAX31865.pdf</a:t>
            </a:r>
          </a:p>
          <a:p>
            <a:pPr algn="l">
              <a:buFont typeface="Arial"/>
              <a:buAutoNum type="arabicParenR"/>
            </a:pPr>
            <a:r>
              <a:rPr lang="en-GB" sz="1500" dirty="0">
                <a:latin typeface="Calibri"/>
              </a:rPr>
              <a:t>Makerguides - MAX31865 RTD Sensor and Arduino. Available: https://www.makerguides.com/max31865-rtd-sensor-and-arduino-uno/</a:t>
            </a:r>
          </a:p>
        </p:txBody>
      </p:sp>
      <p:sp>
        <p:nvSpPr>
          <p:cNvPr id="5" name="Rectangle 4">
            <a:extLst>
              <a:ext uri="{FF2B5EF4-FFF2-40B4-BE49-F238E27FC236}">
                <a16:creationId xmlns:a16="http://schemas.microsoft.com/office/drawing/2014/main" id="{3F492067-9928-4A80-82A9-1E3523C0486E}"/>
              </a:ext>
            </a:extLst>
          </p:cNvPr>
          <p:cNvSpPr/>
          <p:nvPr/>
        </p:nvSpPr>
        <p:spPr>
          <a:xfrm>
            <a:off x="698500" y="1625600"/>
            <a:ext cx="1270000" cy="38100"/>
          </a:xfrm>
          <a:prstGeom prst="rect">
            <a:avLst/>
          </a:prstGeom>
          <a:solidFill>
            <a:srgbClr val="E879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DE"/>
          </a:p>
        </p:txBody>
      </p:sp>
    </p:spTree>
    <p:extLst>
      <p:ext uri="{BB962C8B-B14F-4D97-AF65-F5344CB8AC3E}">
        <p14:creationId xmlns:p14="http://schemas.microsoft.com/office/powerpoint/2010/main" val="378850357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OLE" val="title"/>
</p:tagLst>
</file>

<file path=ppt/tags/tag2.xml><?xml version="1.0" encoding="utf-8"?>
<p:tagLst xmlns:a="http://schemas.openxmlformats.org/drawingml/2006/main" xmlns:r="http://schemas.openxmlformats.org/officeDocument/2006/relationships" xmlns:p="http://schemas.openxmlformats.org/presentationml/2006/main">
  <p:tag name="ROLE" val="textplaceholder1"/>
</p:tagLst>
</file>

<file path=ppt/tags/tag3.xml><?xml version="1.0" encoding="utf-8"?>
<p:tagLst xmlns:a="http://schemas.openxmlformats.org/drawingml/2006/main" xmlns:r="http://schemas.openxmlformats.org/officeDocument/2006/relationships" xmlns:p="http://schemas.openxmlformats.org/presentationml/2006/main">
  <p:tag name="ROLE" val="textplaceholder1"/>
</p:tagLst>
</file>

<file path=ppt/tags/tag4.xml><?xml version="1.0" encoding="utf-8"?>
<p:tagLst xmlns:a="http://schemas.openxmlformats.org/drawingml/2006/main" xmlns:r="http://schemas.openxmlformats.org/officeDocument/2006/relationships" xmlns:p="http://schemas.openxmlformats.org/presentationml/2006/main">
  <p:tag name="ROLE" val="subtitle1"/>
</p:tagLst>
</file>

<file path=ppt/tags/tag5.xml><?xml version="1.0" encoding="utf-8"?>
<p:tagLst xmlns:a="http://schemas.openxmlformats.org/drawingml/2006/main" xmlns:r="http://schemas.openxmlformats.org/officeDocument/2006/relationships" xmlns:p="http://schemas.openxmlformats.org/presentationml/2006/main">
  <p:tag name="ROLE" val="footer"/>
</p:tagLst>
</file>

<file path=ppt/tags/tag6.xml><?xml version="1.0" encoding="utf-8"?>
<p:tagLst xmlns:a="http://schemas.openxmlformats.org/drawingml/2006/main" xmlns:r="http://schemas.openxmlformats.org/officeDocument/2006/relationships" xmlns:p="http://schemas.openxmlformats.org/presentationml/2006/main">
  <p:tag name="ROLE" val="subtitle1"/>
</p:tagLst>
</file>

<file path=ppt/tags/tag7.xml><?xml version="1.0" encoding="utf-8"?>
<p:tagLst xmlns:a="http://schemas.openxmlformats.org/drawingml/2006/main" xmlns:r="http://schemas.openxmlformats.org/officeDocument/2006/relationships" xmlns:p="http://schemas.openxmlformats.org/presentationml/2006/main">
  <p:tag name="ROLE" val="title"/>
</p:tagLst>
</file>

<file path=ppt/theme/theme1.xml><?xml version="1.0" encoding="utf-8"?>
<a:theme xmlns:a="http://schemas.openxmlformats.org/drawingml/2006/main" name="NewYork">
  <a:themeElements>
    <a:clrScheme name="New York Base">
      <a:dk1>
        <a:srgbClr val="404040"/>
      </a:dk1>
      <a:lt1>
        <a:sysClr val="window" lastClr="FFFFFF"/>
      </a:lt1>
      <a:dk2>
        <a:srgbClr val="2468ED"/>
      </a:dk2>
      <a:lt2>
        <a:srgbClr val="FFFFFF"/>
      </a:lt2>
      <a:accent1>
        <a:srgbClr val="2468ED"/>
      </a:accent1>
      <a:accent2>
        <a:srgbClr val="8AACEF"/>
      </a:accent2>
      <a:accent3>
        <a:srgbClr val="C7D5EF"/>
      </a:accent3>
      <a:accent4>
        <a:srgbClr val="DCE3F0"/>
      </a:accent4>
      <a:accent5>
        <a:srgbClr val="E4EAF4"/>
      </a:accent5>
      <a:accent6>
        <a:srgbClr val="F0F3F8"/>
      </a:accent6>
      <a:hlink>
        <a:srgbClr val="2468ED"/>
      </a:hlink>
      <a:folHlink>
        <a:srgbClr val="404040"/>
      </a:folHlink>
    </a:clrScheme>
    <a:fontScheme name="Другая 6">
      <a:majorFont>
        <a:latin typeface="Bahnschrift"/>
        <a:ea typeface=""/>
        <a:cs typeface=""/>
      </a:majorFont>
      <a:minorFont>
        <a:latin typeface="Bahnschrift Light"/>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hronicleVTI">
  <a:themeElements>
    <a:clrScheme name="MAX31865 Professional">
      <a:dk1>
        <a:srgbClr val="1B2A4A"/>
      </a:dk1>
      <a:lt1>
        <a:srgbClr val="FFFFFF"/>
      </a:lt1>
      <a:dk2>
        <a:srgbClr val="2C3E6B"/>
      </a:dk2>
      <a:lt2>
        <a:srgbClr val="F0F2F7"/>
      </a:lt2>
      <a:accent1>
        <a:srgbClr val="1B5E8A"/>
      </a:accent1>
      <a:accent2>
        <a:srgbClr val="E8792F"/>
      </a:accent2>
      <a:accent3>
        <a:srgbClr val="2E8B57"/>
      </a:accent3>
      <a:accent4>
        <a:srgbClr val="C0392B"/>
      </a:accent4>
      <a:accent5>
        <a:srgbClr val="8E44AD"/>
      </a:accent5>
      <a:accent6>
        <a:srgbClr val="16A085"/>
      </a:accent6>
      <a:hlink>
        <a:srgbClr val="778BA2"/>
      </a:hlink>
      <a:folHlink>
        <a:srgbClr val="A27C99"/>
      </a:folHlink>
    </a:clrScheme>
    <a:fontScheme name="MAX31865 Fonts">
      <a:majorFont>
        <a:latin typeface="Segoe UI Semibold"/>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 dockstate="right" visibility="0" width="525" row="2">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348409E8-820D-4191-89E8-4D6F1DA755A8}">
  <we:reference id="wa200010001" version="1.0.0.0" store="en-GB" storeType="OMEX"/>
  <we:alternateReferences>
    <we:reference id="WA200010001" version="1.0.0.0" store="WA200010001" storeType="OMEX"/>
  </we:alternateReferences>
  <we:properties>
    <we:property name="Office.AutoShowTaskpaneWithDocument" value="true"/>
  </we:properties>
  <we:bindings/>
  <we:snapshot xmlns:r="http://schemas.openxmlformats.org/officeDocument/2006/relationships"/>
</we:webextension>
</file>

<file path=ppt/webextensions/webextension2.xml><?xml version="1.0" encoding="utf-8"?>
<we:webextension xmlns:we="http://schemas.microsoft.com/office/webextensions/webextension/2010/11" id="{FF8B38B8-188E-4F97-963C-4FE7CE930C6D}">
  <we:reference id="wa200005566" version="3.0.0.4" store="en-GB" storeType="OMEX"/>
  <we:alternateReferences>
    <we:reference id="WA200005566" version="3.0.0.4"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TM03457496[[fn=Parallax]]</Template>
  <TotalTime>4972</TotalTime>
  <Words>4890</Words>
  <Application>Microsoft Office PowerPoint</Application>
  <PresentationFormat>Widescreen</PresentationFormat>
  <Paragraphs>529</Paragraphs>
  <Slides>26</Slides>
  <Notes>20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26</vt:i4>
      </vt:variant>
    </vt:vector>
  </HeadingPairs>
  <TitlesOfParts>
    <vt:vector size="37" baseType="lpstr">
      <vt:lpstr>Aptos</vt:lpstr>
      <vt:lpstr>Arial</vt:lpstr>
      <vt:lpstr>Bahnschrift</vt:lpstr>
      <vt:lpstr>Bahnschrift Light</vt:lpstr>
      <vt:lpstr>Calibri</vt:lpstr>
      <vt:lpstr>Consolas</vt:lpstr>
      <vt:lpstr>Courier New</vt:lpstr>
      <vt:lpstr>Segoe UI</vt:lpstr>
      <vt:lpstr>Segoe UI Semibold</vt:lpstr>
      <vt:lpstr>NewYork</vt:lpstr>
      <vt:lpstr>ChronicleVTI</vt:lpstr>
      <vt:lpstr>  Measurement Network Gateway </vt:lpstr>
      <vt:lpstr>Introduction to MAX31865</vt:lpstr>
      <vt:lpstr>TYPICAL APPLICATION CIRCUITS</vt:lpstr>
      <vt:lpstr>Internal Registers Overview</vt:lpstr>
      <vt:lpstr>Configuration Register (0x00)</vt:lpstr>
      <vt:lpstr>PowerPoint Presentation</vt:lpstr>
      <vt:lpstr>Complete temperature measurement cycle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SPI Operations: Writing to MAX31865</vt:lpstr>
      <vt:lpstr>SPI Operations: Reading from MAX31865</vt:lpstr>
      <vt:lpstr>Hardware Button Overview</vt:lpstr>
      <vt:lpstr>Button State Encoding System</vt:lpstr>
      <vt:lpstr>Reading Button Data (readButtons)</vt:lpstr>
      <vt:lpstr>GUI Commands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Babu, Anandu</dc:creator>
  <cp:lastModifiedBy>Babu, Anandu</cp:lastModifiedBy>
  <cp:revision>29</cp:revision>
  <dcterms:created xsi:type="dcterms:W3CDTF">2026-03-10T10:40:49Z</dcterms:created>
  <dcterms:modified xsi:type="dcterms:W3CDTF">2026-03-17T07:38:25Z</dcterms:modified>
</cp:coreProperties>
</file>