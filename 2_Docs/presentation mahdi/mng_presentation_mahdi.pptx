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9"/>
  </p:notesMasterIdLst>
  <p:sldIdLst>
    <p:sldId id="256" r:id="rId2"/>
    <p:sldId id="258" r:id="rId3"/>
    <p:sldId id="311" r:id="rId4"/>
    <p:sldId id="313" r:id="rId5"/>
    <p:sldId id="323" r:id="rId6"/>
    <p:sldId id="322" r:id="rId7"/>
    <p:sldId id="321" r:id="rId8"/>
    <p:sldId id="314" r:id="rId9"/>
    <p:sldId id="315" r:id="rId10"/>
    <p:sldId id="316" r:id="rId11"/>
    <p:sldId id="317" r:id="rId12"/>
    <p:sldId id="320" r:id="rId13"/>
    <p:sldId id="324" r:id="rId14"/>
    <p:sldId id="312" r:id="rId15"/>
    <p:sldId id="325" r:id="rId16"/>
    <p:sldId id="327" r:id="rId17"/>
    <p:sldId id="326" r:id="rId18"/>
  </p:sldIdLst>
  <p:sldSz cx="9144000" cy="5143500" type="screen16x9"/>
  <p:notesSz cx="6858000" cy="9144000"/>
  <p:embeddedFontLst>
    <p:embeddedFont>
      <p:font typeface="Anton" pitchFamily="2" charset="0"/>
      <p:regular r:id="rId20"/>
    </p:embeddedFont>
    <p:embeddedFont>
      <p:font typeface="Hind" panose="02000000000000000000" pitchFamily="2" charset="0"/>
      <p:regular r:id="rId21"/>
      <p:bold r:id="rId22"/>
    </p:embeddedFont>
    <p:embeddedFont>
      <p:font typeface="Itim" panose="020B0604020202020204" charset="-34"/>
      <p:regular r:id="rId23"/>
    </p:embeddedFont>
    <p:embeddedFont>
      <p:font typeface="JetBrains Mono" panose="02000009000000000000" pitchFamily="49" charset="0"/>
      <p:regular r:id="rId24"/>
      <p:bold r:id="rId25"/>
      <p:italic r:id="rId26"/>
      <p:boldItalic r:id="rId27"/>
    </p:embeddedFont>
    <p:embeddedFont>
      <p:font typeface="Livvic" pitchFamily="2" charset="0"/>
      <p:regular r:id="rId28"/>
      <p:bold r:id="rId29"/>
      <p:italic r:id="rId30"/>
      <p:boldItalic r:id="rId31"/>
    </p:embeddedFont>
    <p:embeddedFont>
      <p:font typeface="Poppins" panose="020B0604020202020204" charset="0"/>
      <p:regular r:id="rId32"/>
      <p:bold r:id="rId33"/>
      <p:italic r:id="rId34"/>
      <p:boldItalic r:id="rId35"/>
    </p:embeddedFont>
    <p:embeddedFont>
      <p:font typeface="Roboto" panose="020B0604020202020204" charset="0"/>
      <p:regular r:id="rId36"/>
      <p:bold r:id="rId37"/>
      <p:italic r:id="rId38"/>
      <p:boldItalic r:id="rId39"/>
    </p:embeddedFont>
    <p:embeddedFont>
      <p:font typeface="Roboto Condensed Light" panose="02000000000000000000" pitchFamily="2" charset="0"/>
      <p:regular r:id="rId40"/>
      <p: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655FFF-0ED5-4384-ABBF-4492E803C8E8}">
  <a:tblStyle styleId="{9C655FFF-0ED5-4384-ABBF-4492E803C8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2" autoAdjust="0"/>
    <p:restoredTop sz="94641" autoAdjust="0"/>
  </p:normalViewPr>
  <p:slideViewPr>
    <p:cSldViewPr snapToGrid="0">
      <p:cViewPr varScale="1">
        <p:scale>
          <a:sx n="110" d="100"/>
          <a:sy n="110" d="100"/>
        </p:scale>
        <p:origin x="658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2049155d6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275" name="Google Shape;2275;g2049155d6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291" name="Google Shape;2291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16191A6-E3F2-3A46-8FD3-9E82288E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F88EB79-E84E-D53F-159B-4C2A76AD9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4DD5EC6-6CCA-C1C0-3027-0E7BBDAB2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353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FFD9CD9B-839C-A05E-6871-9D9145248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61FE93E-3BB6-EC5F-F366-0CF282DE1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6CD5F470-3E7D-AE87-9638-788FBD40A0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39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BBB5CB67-E4AE-4589-3D90-2D2E8791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6CBCCF3-FECE-4266-7E6B-8595C6BF4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1D4C8C5-FCCC-F95C-AE7C-E2013D4BC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6526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D66AC4E4-FD2B-716C-C552-E80E845A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F8DEBDC7-1126-65BB-2E22-8888227AD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15E14E74-2635-8251-85A6-60891723C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442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68908ECE-DD32-68B0-A6A5-14A8294E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811729FE-F58B-C01A-BE57-0C0671F7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7599CC80-F4D5-8DF8-FE01-6D0005BE1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0437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D34A40F4-DC26-FB22-046A-0DD3D295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9F24A51-F242-C738-3E26-CBCA3DB85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CE97F36-666E-2AF6-7FF3-9697E4DE2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6991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E25AA0E8-E3C2-8409-C916-85EE278A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AB83B803-698F-B89C-DE75-0FBD26C98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13F65324-96C8-A567-7500-6833461007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487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C457416-AB11-0592-CED2-0481367A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FA5DB80D-A1AD-21B1-C883-BDFF06D79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BB8DCFB-3524-EB5F-033D-F1A4894E6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1931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CCE1D8D-2475-7296-2A27-BD8062A7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304B103E-6486-E77A-9676-5A5AB605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5437B159-75B6-10E3-BC80-2EB9FF4D8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8592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94214881-BCB0-EB7E-2ACF-1B7B0D20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C462619B-752A-E417-3097-C82F35AD1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BC2AB864-7A86-AACA-3EFB-A2E931E01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7919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E9E8073C-569B-896C-7734-620316E4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05F5A195-630D-1F74-50A3-50C63A110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59220674-9F43-0841-6685-9ECD10099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7798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F1E7C63F-A8B3-20FE-49B0-F37E2B45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82EFA3CE-425A-4C6C-01DE-EEF5D5067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95F42C35-3A55-C35F-0CDB-56ED6E318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571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633AECBE-1750-CF0D-0964-45D458CE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599AD20-B67F-FEA0-E795-51F4A5921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0969BAF7-FE74-AC72-4084-89DFD0972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8848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515BEAFF-9188-0BEB-A089-D395AB99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1FD67D08-6A0B-1149-7DF5-B58C2FE44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E35F8C32-697A-D491-9C2F-7D37DE1B2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738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DACDF75-4F69-579D-2318-0B148A87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C947025-031F-4696-42F2-D6A8022D1D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9B4F19EA-577C-F715-A9A1-C8A37B46B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12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7933020" y="4114401"/>
            <a:ext cx="1656312" cy="1660374"/>
            <a:chOff x="2929375" y="236175"/>
            <a:chExt cx="805325" cy="807300"/>
          </a:xfrm>
        </p:grpSpPr>
        <p:sp>
          <p:nvSpPr>
            <p:cNvPr id="12" name="Google Shape;12;p2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4302988" y="231550"/>
            <a:ext cx="538025" cy="157800"/>
            <a:chOff x="2575325" y="1348650"/>
            <a:chExt cx="538025" cy="157800"/>
          </a:xfrm>
        </p:grpSpPr>
        <p:sp>
          <p:nvSpPr>
            <p:cNvPr id="32" name="Google Shape;32;p2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323639" y="4144000"/>
            <a:ext cx="925310" cy="943383"/>
            <a:chOff x="595389" y="1761100"/>
            <a:chExt cx="925310" cy="943383"/>
          </a:xfrm>
        </p:grpSpPr>
        <p:cxnSp>
          <p:nvCxnSpPr>
            <p:cNvPr id="36" name="Google Shape;36;p2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9" name="Google Shape;39;p2"/>
          <p:cNvGrpSpPr/>
          <p:nvPr/>
        </p:nvGrpSpPr>
        <p:grpSpPr>
          <a:xfrm>
            <a:off x="-262436" y="-403375"/>
            <a:ext cx="925310" cy="943383"/>
            <a:chOff x="595389" y="1761100"/>
            <a:chExt cx="925310" cy="943383"/>
          </a:xfrm>
        </p:grpSpPr>
        <p:cxnSp>
          <p:nvCxnSpPr>
            <p:cNvPr id="40" name="Google Shape;40;p2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" name="Google Shape;43;p2"/>
          <p:cNvGrpSpPr/>
          <p:nvPr/>
        </p:nvGrpSpPr>
        <p:grpSpPr>
          <a:xfrm rot="5400000">
            <a:off x="7926547" y="2473475"/>
            <a:ext cx="1584577" cy="196549"/>
            <a:chOff x="750197" y="155825"/>
            <a:chExt cx="1584577" cy="196549"/>
          </a:xfrm>
        </p:grpSpPr>
        <p:sp>
          <p:nvSpPr>
            <p:cNvPr id="44" name="Google Shape;44;p2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 txBox="1">
            <a:spLocks noGrp="1"/>
          </p:cNvSpPr>
          <p:nvPr>
            <p:ph type="ctrTitle"/>
          </p:nvPr>
        </p:nvSpPr>
        <p:spPr>
          <a:xfrm>
            <a:off x="847200" y="1183975"/>
            <a:ext cx="3914100" cy="2460300"/>
          </a:xfrm>
          <a:prstGeom prst="rect">
            <a:avLst/>
          </a:prstGeom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subTitle" idx="1"/>
          </p:nvPr>
        </p:nvSpPr>
        <p:spPr>
          <a:xfrm>
            <a:off x="847125" y="3738100"/>
            <a:ext cx="3914100" cy="4059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64" name="Google Shape;64;p2"/>
          <p:cNvSpPr>
            <a:spLocks noGrp="1"/>
          </p:cNvSpPr>
          <p:nvPr>
            <p:ph type="pic" idx="2"/>
          </p:nvPr>
        </p:nvSpPr>
        <p:spPr>
          <a:xfrm>
            <a:off x="4891175" y="1183975"/>
            <a:ext cx="3405600" cy="29406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vvic"/>
              <a:buChar char="●"/>
              <a:defRPr sz="2400">
                <a:latin typeface="Itim"/>
                <a:ea typeface="Itim"/>
                <a:cs typeface="Itim"/>
                <a:sym typeface="Itim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>
            <a:endParaRPr dirty="0"/>
          </a:p>
        </p:txBody>
      </p:sp>
      <p:grpSp>
        <p:nvGrpSpPr>
          <p:cNvPr id="123" name="Google Shape;123;p4"/>
          <p:cNvGrpSpPr/>
          <p:nvPr/>
        </p:nvGrpSpPr>
        <p:grpSpPr>
          <a:xfrm>
            <a:off x="-1008030" y="3427238"/>
            <a:ext cx="1656312" cy="1660374"/>
            <a:chOff x="2929375" y="236175"/>
            <a:chExt cx="805325" cy="807300"/>
          </a:xfrm>
        </p:grpSpPr>
        <p:sp>
          <p:nvSpPr>
            <p:cNvPr id="124" name="Google Shape;124;p4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" name="Google Shape;143;p4"/>
          <p:cNvGrpSpPr/>
          <p:nvPr/>
        </p:nvGrpSpPr>
        <p:grpSpPr>
          <a:xfrm>
            <a:off x="4308285" y="4772475"/>
            <a:ext cx="538025" cy="157800"/>
            <a:chOff x="2575325" y="1348650"/>
            <a:chExt cx="538025" cy="157800"/>
          </a:xfrm>
        </p:grpSpPr>
        <p:sp>
          <p:nvSpPr>
            <p:cNvPr id="144" name="Google Shape;144;p4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-246311" y="-75763"/>
            <a:ext cx="925310" cy="943383"/>
            <a:chOff x="595389" y="1761100"/>
            <a:chExt cx="925310" cy="943383"/>
          </a:xfrm>
        </p:grpSpPr>
        <p:cxnSp>
          <p:nvCxnSpPr>
            <p:cNvPr id="148" name="Google Shape;148;p4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4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4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5" name="Google Shape;155;p4"/>
          <p:cNvGrpSpPr/>
          <p:nvPr/>
        </p:nvGrpSpPr>
        <p:grpSpPr>
          <a:xfrm>
            <a:off x="3777322" y="213225"/>
            <a:ext cx="1584577" cy="196549"/>
            <a:chOff x="750197" y="155825"/>
            <a:chExt cx="1584577" cy="196549"/>
          </a:xfrm>
        </p:grpSpPr>
        <p:sp>
          <p:nvSpPr>
            <p:cNvPr id="156" name="Google Shape;156;p4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4"/>
          <p:cNvGrpSpPr/>
          <p:nvPr/>
        </p:nvGrpSpPr>
        <p:grpSpPr>
          <a:xfrm>
            <a:off x="8565764" y="2067650"/>
            <a:ext cx="925310" cy="943383"/>
            <a:chOff x="595389" y="1761100"/>
            <a:chExt cx="925310" cy="943383"/>
          </a:xfrm>
        </p:grpSpPr>
        <p:cxnSp>
          <p:nvCxnSpPr>
            <p:cNvPr id="175" name="Google Shape;175;p4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Google Shape;176;p4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4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3"/>
          <p:cNvSpPr/>
          <p:nvPr/>
        </p:nvSpPr>
        <p:spPr>
          <a:xfrm>
            <a:off x="7146350" y="0"/>
            <a:ext cx="1998000" cy="51435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0" name="Google Shape;640;p13"/>
          <p:cNvGrpSpPr/>
          <p:nvPr/>
        </p:nvGrpSpPr>
        <p:grpSpPr>
          <a:xfrm>
            <a:off x="-317255" y="-728874"/>
            <a:ext cx="1656312" cy="1660374"/>
            <a:chOff x="2929375" y="236175"/>
            <a:chExt cx="805325" cy="807300"/>
          </a:xfrm>
        </p:grpSpPr>
        <p:sp>
          <p:nvSpPr>
            <p:cNvPr id="641" name="Google Shape;641;p13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3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3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3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3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3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3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3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3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3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3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3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3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3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3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3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3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3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3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13"/>
          <p:cNvGrpSpPr/>
          <p:nvPr/>
        </p:nvGrpSpPr>
        <p:grpSpPr>
          <a:xfrm>
            <a:off x="7885975" y="4700725"/>
            <a:ext cx="538025" cy="157800"/>
            <a:chOff x="2575325" y="1348650"/>
            <a:chExt cx="538025" cy="157800"/>
          </a:xfrm>
        </p:grpSpPr>
        <p:sp>
          <p:nvSpPr>
            <p:cNvPr id="661" name="Google Shape;661;p13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3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3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13"/>
          <p:cNvGrpSpPr/>
          <p:nvPr/>
        </p:nvGrpSpPr>
        <p:grpSpPr>
          <a:xfrm>
            <a:off x="-502186" y="3642837"/>
            <a:ext cx="925310" cy="943383"/>
            <a:chOff x="595389" y="1761100"/>
            <a:chExt cx="925310" cy="943383"/>
          </a:xfrm>
        </p:grpSpPr>
        <p:cxnSp>
          <p:nvCxnSpPr>
            <p:cNvPr id="665" name="Google Shape;665;p13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6" name="Google Shape;666;p13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Google Shape;667;p13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68" name="Google Shape;668;p13"/>
          <p:cNvGrpSpPr/>
          <p:nvPr/>
        </p:nvGrpSpPr>
        <p:grpSpPr>
          <a:xfrm>
            <a:off x="8662839" y="540000"/>
            <a:ext cx="925310" cy="943383"/>
            <a:chOff x="595389" y="1761100"/>
            <a:chExt cx="925310" cy="943383"/>
          </a:xfrm>
        </p:grpSpPr>
        <p:cxnSp>
          <p:nvCxnSpPr>
            <p:cNvPr id="669" name="Google Shape;669;p13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0" name="Google Shape;670;p13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13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72" name="Google Shape;672;p13"/>
          <p:cNvGrpSpPr/>
          <p:nvPr/>
        </p:nvGrpSpPr>
        <p:grpSpPr>
          <a:xfrm>
            <a:off x="3779710" y="155825"/>
            <a:ext cx="1584577" cy="196549"/>
            <a:chOff x="750197" y="155825"/>
            <a:chExt cx="1584577" cy="196549"/>
          </a:xfrm>
        </p:grpSpPr>
        <p:sp>
          <p:nvSpPr>
            <p:cNvPr id="673" name="Google Shape;673;p13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1" name="Google Shape;691;p13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92" name="Google Shape;692;p13"/>
          <p:cNvSpPr txBox="1">
            <a:spLocks noGrp="1"/>
          </p:cNvSpPr>
          <p:nvPr>
            <p:ph type="subTitle" idx="1"/>
          </p:nvPr>
        </p:nvSpPr>
        <p:spPr>
          <a:xfrm>
            <a:off x="713100" y="2278476"/>
            <a:ext cx="23139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3" name="Google Shape;693;p13"/>
          <p:cNvSpPr txBox="1">
            <a:spLocks noGrp="1"/>
          </p:cNvSpPr>
          <p:nvPr>
            <p:ph type="title" idx="2" hasCustomPrompt="1"/>
          </p:nvPr>
        </p:nvSpPr>
        <p:spPr>
          <a:xfrm>
            <a:off x="1424084" y="1399475"/>
            <a:ext cx="892200" cy="4395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4" name="Google Shape;694;p13"/>
          <p:cNvSpPr txBox="1">
            <a:spLocks noGrp="1"/>
          </p:cNvSpPr>
          <p:nvPr>
            <p:ph type="subTitle" idx="3"/>
          </p:nvPr>
        </p:nvSpPr>
        <p:spPr>
          <a:xfrm>
            <a:off x="3318133" y="2278486"/>
            <a:ext cx="23139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 idx="4" hasCustomPrompt="1"/>
          </p:nvPr>
        </p:nvSpPr>
        <p:spPr>
          <a:xfrm>
            <a:off x="4028899" y="1399425"/>
            <a:ext cx="892200" cy="4395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5"/>
          </p:nvPr>
        </p:nvSpPr>
        <p:spPr>
          <a:xfrm>
            <a:off x="713100" y="3863575"/>
            <a:ext cx="23139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title" idx="6" hasCustomPrompt="1"/>
          </p:nvPr>
        </p:nvSpPr>
        <p:spPr>
          <a:xfrm>
            <a:off x="1424074" y="2984552"/>
            <a:ext cx="892200" cy="4395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7"/>
          </p:nvPr>
        </p:nvSpPr>
        <p:spPr>
          <a:xfrm>
            <a:off x="3318107" y="3863576"/>
            <a:ext cx="23139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title" idx="8" hasCustomPrompt="1"/>
          </p:nvPr>
        </p:nvSpPr>
        <p:spPr>
          <a:xfrm>
            <a:off x="4028899" y="2984573"/>
            <a:ext cx="892200" cy="4395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9"/>
          </p:nvPr>
        </p:nvSpPr>
        <p:spPr>
          <a:xfrm>
            <a:off x="713100" y="1928975"/>
            <a:ext cx="23139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13"/>
          </p:nvPr>
        </p:nvSpPr>
        <p:spPr>
          <a:xfrm>
            <a:off x="3318075" y="1928975"/>
            <a:ext cx="23139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14"/>
          </p:nvPr>
        </p:nvSpPr>
        <p:spPr>
          <a:xfrm>
            <a:off x="713235" y="3514075"/>
            <a:ext cx="23139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15"/>
          </p:nvPr>
        </p:nvSpPr>
        <p:spPr>
          <a:xfrm>
            <a:off x="3318210" y="3514073"/>
            <a:ext cx="23139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>
            <a:spLocks noGrp="1"/>
          </p:cNvSpPr>
          <p:nvPr>
            <p:ph type="pic" idx="16"/>
          </p:nvPr>
        </p:nvSpPr>
        <p:spPr>
          <a:xfrm>
            <a:off x="5844900" y="1359600"/>
            <a:ext cx="2579100" cy="29373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gradFill>
          <a:gsLst>
            <a:gs pos="0">
              <a:schemeClr val="lt2"/>
            </a:gs>
            <a:gs pos="11000">
              <a:schemeClr val="lt2"/>
            </a:gs>
            <a:gs pos="49000">
              <a:schemeClr val="accent2"/>
            </a:gs>
            <a:gs pos="75000">
              <a:schemeClr val="lt2"/>
            </a:gs>
            <a:gs pos="100000">
              <a:schemeClr val="accent1"/>
            </a:gs>
          </a:gsLst>
          <a:lin ang="8099331" scaled="0"/>
        </a:gradFill>
        <a:effectLst/>
      </p:bgPr>
    </p:bg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1" name="Google Shape;2121;p34"/>
          <p:cNvGrpSpPr/>
          <p:nvPr/>
        </p:nvGrpSpPr>
        <p:grpSpPr>
          <a:xfrm>
            <a:off x="-943205" y="4190838"/>
            <a:ext cx="1656312" cy="1660374"/>
            <a:chOff x="2929375" y="236175"/>
            <a:chExt cx="805325" cy="807300"/>
          </a:xfrm>
        </p:grpSpPr>
        <p:sp>
          <p:nvSpPr>
            <p:cNvPr id="2122" name="Google Shape;2122;p34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4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4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4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4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4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4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4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4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4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4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4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4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4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4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4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4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34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4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1" name="Google Shape;2141;p34"/>
          <p:cNvGrpSpPr/>
          <p:nvPr/>
        </p:nvGrpSpPr>
        <p:grpSpPr>
          <a:xfrm>
            <a:off x="4302975" y="4715075"/>
            <a:ext cx="538025" cy="157800"/>
            <a:chOff x="2575325" y="1348650"/>
            <a:chExt cx="538025" cy="157800"/>
          </a:xfrm>
        </p:grpSpPr>
        <p:sp>
          <p:nvSpPr>
            <p:cNvPr id="2142" name="Google Shape;2142;p34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4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4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5" name="Google Shape;2145;p34"/>
          <p:cNvGrpSpPr/>
          <p:nvPr/>
        </p:nvGrpSpPr>
        <p:grpSpPr>
          <a:xfrm>
            <a:off x="-289536" y="342037"/>
            <a:ext cx="925310" cy="943383"/>
            <a:chOff x="595389" y="1761100"/>
            <a:chExt cx="925310" cy="943383"/>
          </a:xfrm>
        </p:grpSpPr>
        <p:cxnSp>
          <p:nvCxnSpPr>
            <p:cNvPr id="2146" name="Google Shape;2146;p34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7" name="Google Shape;2147;p34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8" name="Google Shape;2148;p34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9" name="Google Shape;2149;p34"/>
          <p:cNvGrpSpPr/>
          <p:nvPr/>
        </p:nvGrpSpPr>
        <p:grpSpPr>
          <a:xfrm>
            <a:off x="8659439" y="4065800"/>
            <a:ext cx="925310" cy="943383"/>
            <a:chOff x="595389" y="1761100"/>
            <a:chExt cx="925310" cy="943383"/>
          </a:xfrm>
        </p:grpSpPr>
        <p:cxnSp>
          <p:nvCxnSpPr>
            <p:cNvPr id="2150" name="Google Shape;2150;p34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1" name="Google Shape;2151;p34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2" name="Google Shape;2152;p34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53" name="Google Shape;2153;p34"/>
          <p:cNvGrpSpPr/>
          <p:nvPr/>
        </p:nvGrpSpPr>
        <p:grpSpPr>
          <a:xfrm>
            <a:off x="3779697" y="213225"/>
            <a:ext cx="1584577" cy="196549"/>
            <a:chOff x="750197" y="155825"/>
            <a:chExt cx="1584577" cy="196549"/>
          </a:xfrm>
        </p:grpSpPr>
        <p:sp>
          <p:nvSpPr>
            <p:cNvPr id="2154" name="Google Shape;2154;p34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4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4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4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4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4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4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4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4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4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4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4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4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4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4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4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4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4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34"/>
          <p:cNvGrpSpPr/>
          <p:nvPr/>
        </p:nvGrpSpPr>
        <p:grpSpPr>
          <a:xfrm>
            <a:off x="8293945" y="-374937"/>
            <a:ext cx="1656312" cy="1660374"/>
            <a:chOff x="2929375" y="236175"/>
            <a:chExt cx="805325" cy="807300"/>
          </a:xfrm>
        </p:grpSpPr>
        <p:sp>
          <p:nvSpPr>
            <p:cNvPr id="2173" name="Google Shape;2173;p34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4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4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4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4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4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4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4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4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4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4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4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4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4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4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4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4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4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4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gradFill>
          <a:gsLst>
            <a:gs pos="0">
              <a:schemeClr val="lt2"/>
            </a:gs>
            <a:gs pos="11000">
              <a:schemeClr val="lt2"/>
            </a:gs>
            <a:gs pos="49000">
              <a:schemeClr val="accent2"/>
            </a:gs>
            <a:gs pos="75000">
              <a:schemeClr val="lt2"/>
            </a:gs>
            <a:gs pos="100000">
              <a:schemeClr val="accent1"/>
            </a:gs>
          </a:gsLst>
          <a:lin ang="8099331" scaled="0"/>
        </a:gradFill>
        <a:effectLst/>
      </p:bgPr>
    </p:bg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5" name="Google Shape;2195;p35"/>
          <p:cNvGrpSpPr/>
          <p:nvPr/>
        </p:nvGrpSpPr>
        <p:grpSpPr>
          <a:xfrm>
            <a:off x="-943205" y="812288"/>
            <a:ext cx="1656312" cy="1660374"/>
            <a:chOff x="2929375" y="236175"/>
            <a:chExt cx="805325" cy="807300"/>
          </a:xfrm>
        </p:grpSpPr>
        <p:sp>
          <p:nvSpPr>
            <p:cNvPr id="2196" name="Google Shape;2196;p35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5" name="Google Shape;2215;p35"/>
          <p:cNvGrpSpPr/>
          <p:nvPr/>
        </p:nvGrpSpPr>
        <p:grpSpPr>
          <a:xfrm>
            <a:off x="8236250" y="4715075"/>
            <a:ext cx="538025" cy="157800"/>
            <a:chOff x="2575325" y="1348650"/>
            <a:chExt cx="538025" cy="157800"/>
          </a:xfrm>
        </p:grpSpPr>
        <p:sp>
          <p:nvSpPr>
            <p:cNvPr id="2216" name="Google Shape;2216;p35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9" name="Google Shape;2219;p35"/>
          <p:cNvGrpSpPr/>
          <p:nvPr/>
        </p:nvGrpSpPr>
        <p:grpSpPr>
          <a:xfrm>
            <a:off x="7735464" y="-403388"/>
            <a:ext cx="925310" cy="943383"/>
            <a:chOff x="595389" y="1761100"/>
            <a:chExt cx="925310" cy="943383"/>
          </a:xfrm>
        </p:grpSpPr>
        <p:cxnSp>
          <p:nvCxnSpPr>
            <p:cNvPr id="2220" name="Google Shape;2220;p35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1" name="Google Shape;2221;p35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2" name="Google Shape;2222;p35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3" name="Google Shape;2223;p35"/>
          <p:cNvGrpSpPr/>
          <p:nvPr/>
        </p:nvGrpSpPr>
        <p:grpSpPr>
          <a:xfrm>
            <a:off x="-577711" y="3820875"/>
            <a:ext cx="925310" cy="943383"/>
            <a:chOff x="595389" y="1761100"/>
            <a:chExt cx="925310" cy="943383"/>
          </a:xfrm>
        </p:grpSpPr>
        <p:cxnSp>
          <p:nvCxnSpPr>
            <p:cNvPr id="2224" name="Google Shape;2224;p35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5" name="Google Shape;2225;p35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6" name="Google Shape;2226;p35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7" name="Google Shape;2227;p35"/>
          <p:cNvGrpSpPr/>
          <p:nvPr/>
        </p:nvGrpSpPr>
        <p:grpSpPr>
          <a:xfrm>
            <a:off x="305597" y="213225"/>
            <a:ext cx="1584577" cy="196549"/>
            <a:chOff x="750197" y="155825"/>
            <a:chExt cx="1584577" cy="196549"/>
          </a:xfrm>
        </p:grpSpPr>
        <p:sp>
          <p:nvSpPr>
            <p:cNvPr id="2228" name="Google Shape;2228;p35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35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35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5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35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35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5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5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5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5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5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5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5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5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5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5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5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5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35"/>
          <p:cNvGrpSpPr/>
          <p:nvPr/>
        </p:nvGrpSpPr>
        <p:grpSpPr>
          <a:xfrm>
            <a:off x="8313670" y="2728488"/>
            <a:ext cx="1656312" cy="1660374"/>
            <a:chOff x="2929375" y="236175"/>
            <a:chExt cx="805325" cy="807300"/>
          </a:xfrm>
        </p:grpSpPr>
        <p:sp>
          <p:nvSpPr>
            <p:cNvPr id="2247" name="Google Shape;2247;p35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1000">
              <a:schemeClr val="lt2"/>
            </a:gs>
            <a:gs pos="49000">
              <a:schemeClr val="accent2"/>
            </a:gs>
            <a:gs pos="75000">
              <a:schemeClr val="lt2"/>
            </a:gs>
            <a:gs pos="100000">
              <a:schemeClr val="accent1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80" r:id="rId5"/>
    <p:sldLayoutId id="214748368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9"/>
          <p:cNvSpPr txBox="1">
            <a:spLocks noGrp="1"/>
          </p:cNvSpPr>
          <p:nvPr>
            <p:ph type="ctrTitle"/>
          </p:nvPr>
        </p:nvSpPr>
        <p:spPr>
          <a:xfrm>
            <a:off x="847200" y="1183975"/>
            <a:ext cx="3914100" cy="246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Hardware Design in VHDL for MNG (Measurement Network Gateway)</a:t>
            </a:r>
            <a:endParaRPr sz="2800" dirty="0"/>
          </a:p>
        </p:txBody>
      </p:sp>
      <p:sp>
        <p:nvSpPr>
          <p:cNvPr id="2278" name="Google Shape;2278;p39"/>
          <p:cNvSpPr txBox="1">
            <a:spLocks noGrp="1"/>
          </p:cNvSpPr>
          <p:nvPr>
            <p:ph type="subTitle" idx="1"/>
          </p:nvPr>
        </p:nvSpPr>
        <p:spPr>
          <a:xfrm>
            <a:off x="847125" y="3738100"/>
            <a:ext cx="3914100" cy="4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Mohammad Mahdi Mohammadi - 42719</a:t>
            </a:r>
            <a:endParaRPr dirty="0"/>
          </a:p>
        </p:txBody>
      </p:sp>
      <p:pic>
        <p:nvPicPr>
          <p:cNvPr id="2279" name="Google Shape;2279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6094" r="28734" b="1140"/>
          <a:stretch/>
        </p:blipFill>
        <p:spPr>
          <a:xfrm>
            <a:off x="4891175" y="1183975"/>
            <a:ext cx="3405699" cy="29405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29"/>
    </mc:Choice>
    <mc:Fallback xmlns="">
      <p:transition spd="slow" advTm="150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41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Table of</a:t>
            </a:r>
            <a:r>
              <a:rPr lang="en">
                <a:solidFill>
                  <a:schemeClr val="dk1"/>
                </a:solidFill>
              </a:rPr>
              <a:t> contents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06" name="Google Shape;2306;p41"/>
          <p:cNvPicPr preferRelativeResize="0">
            <a:picLocks noGrp="1"/>
          </p:cNvPicPr>
          <p:nvPr>
            <p:ph type="pic" idx="16"/>
          </p:nvPr>
        </p:nvPicPr>
        <p:blipFill rotWithShape="1">
          <a:blip r:embed="rId3">
            <a:alphaModFix/>
          </a:blip>
          <a:srcRect l="36154" r="9624" b="7330"/>
          <a:stretch/>
        </p:blipFill>
        <p:spPr>
          <a:xfrm>
            <a:off x="5844900" y="1359600"/>
            <a:ext cx="2579101" cy="293739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909D88-7C31-E303-93C5-7590AAA8BBE5}"/>
              </a:ext>
            </a:extLst>
          </p:cNvPr>
          <p:cNvSpPr txBox="1"/>
          <p:nvPr/>
        </p:nvSpPr>
        <p:spPr>
          <a:xfrm>
            <a:off x="564995" y="1689525"/>
            <a:ext cx="51369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ind" panose="02000000000000000000" charset="0"/>
                <a:cs typeface="Hind" panose="02000000000000000000" charset="0"/>
              </a:rPr>
              <a:t>1.    Sensor Measurement for MNG</a:t>
            </a:r>
          </a:p>
          <a:p>
            <a:pPr marL="342900" indent="-342900">
              <a:buAutoNum type="arabicPeriod"/>
            </a:pPr>
            <a:endParaRPr lang="en-DE" dirty="0">
              <a:latin typeface="Hind" panose="02000000000000000000" charset="0"/>
              <a:cs typeface="Hind" panose="020000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89"/>
    </mc:Choice>
    <mc:Fallback xmlns="">
      <p:transition spd="slow" advTm="1500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37B68A14-41EA-06D2-BA81-207723E3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5F49F76D-0EFE-54CB-9C47-56EDC3A6FC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7C0B90BC-EE1B-B832-2E20-C05A2383E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Sensors to be measured: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Temperature Sensor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ADC0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ADC1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Push Buttons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Swit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ches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For measurement of the above sensors, different modules are written in VHDL language in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Vivado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 Design Suite and the end all the modules are integrated into one single IP (Intellectual Property). 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5005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154CAF09-5E7B-5635-D175-1A4BF74E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8BCB7833-B046-F634-AB52-7B5D45753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ADC0 and ADC1 Measurement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420E04FF-7083-FAF1-E571-9C95A3A18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2"/>
            <a:ext cx="7704000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ADC0 and ADC1 represent two analog measurement channels in the system.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Their values are acquired through a dual-lane SPI-based ADC interface.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measured results are stored as raw digital counts for further use in software and monitoring.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r>
              <a:rPr lang="en-US" sz="1200" noProof="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following figure shows the input and output definition of the module. 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2AB81B-D5C1-DE10-E7F8-C73A3CDAF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751" y="2935265"/>
            <a:ext cx="6378498" cy="13458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62D79A-B6BE-B744-635C-F05C832062E3}"/>
              </a:ext>
            </a:extLst>
          </p:cNvPr>
          <p:cNvSpPr txBox="1"/>
          <p:nvPr/>
        </p:nvSpPr>
        <p:spPr>
          <a:xfrm>
            <a:off x="609599" y="3608202"/>
            <a:ext cx="773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inputs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14E8F-AC2F-3838-F486-A27FA4003DAF}"/>
              </a:ext>
            </a:extLst>
          </p:cNvPr>
          <p:cNvSpPr txBox="1"/>
          <p:nvPr/>
        </p:nvSpPr>
        <p:spPr>
          <a:xfrm>
            <a:off x="635063" y="2963956"/>
            <a:ext cx="773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70713-7090-FAA9-AF9E-4F5300DABA98}"/>
              </a:ext>
            </a:extLst>
          </p:cNvPr>
          <p:cNvSpPr txBox="1"/>
          <p:nvPr/>
        </p:nvSpPr>
        <p:spPr>
          <a:xfrm>
            <a:off x="7798420" y="3484462"/>
            <a:ext cx="773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965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B4872C41-9EB9-9A50-2540-5112E07D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1B183597-6808-93E0-8C52-A29DBC47E5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ADC0 and ADC1 Measurement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A363D113-F323-603A-8307-25261299B1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2"/>
            <a:ext cx="3970946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The architecture contains two FSMs: one control FSM for start/stop handling, and one SPI FSM for the bit-level ADC data acquisition.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ssl_idle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: wait for a new start command and signal ready.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ssl_start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: generate the internal start pulse for SPI transfer. 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ssl_run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: wait until the SPI FSM finishes and returns to idle.</a:t>
            </a:r>
          </a:p>
          <a:p>
            <a:pPr marL="171450" indent="-171450">
              <a:buClr>
                <a:srgbClr val="859294"/>
              </a:buClr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  <a:p>
            <a:pPr marL="171450" indent="-171450">
              <a:buClr>
                <a:srgbClr val="859294"/>
              </a:buClr>
              <a:defRPr/>
            </a:pPr>
            <a:endParaRPr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9B8C20-A1B2-CE81-1D65-D29F9E3DE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535" y="1219927"/>
            <a:ext cx="3124471" cy="33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6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72E7AC0E-A2E6-11CE-DD84-A8E44CC2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7DBA1A6E-152B-B58A-3E54-DCD05E038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ADC0 and ADC1 Measurement</a:t>
            </a:r>
            <a:endParaRPr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D3F896-1271-A672-2C31-C17CB7E17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545" y="1071615"/>
            <a:ext cx="4121455" cy="3531885"/>
          </a:xfrm>
          <a:prstGeom prst="rect">
            <a:avLst/>
          </a:prstGeom>
        </p:spPr>
      </p:pic>
      <p:sp>
        <p:nvSpPr>
          <p:cNvPr id="12" name="Google Shape;2835;p74">
            <a:extLst>
              <a:ext uri="{FF2B5EF4-FFF2-40B4-BE49-F238E27FC236}">
                <a16:creationId xmlns:a16="http://schemas.microsoft.com/office/drawing/2014/main" id="{A438D844-E701-7167-0EC1-5FE0F797AE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2"/>
            <a:ext cx="358254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Dual-lane SPI interface for simultaneous acquisition of ADC0 and ADC1.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Reads two serial data streams, sdi_0 and sdi_1, in parallel.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Stores the results in rcvData_0 and rcvData_1.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Uses FSM-based control for SPI acquisition.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Provides raw ADC values to the system.</a:t>
            </a:r>
            <a:endParaRPr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9523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1F3ABAC9-EA6F-9F62-1672-73126E98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25EF8E97-F91E-1047-CDE8-94E02893CA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9B495550-43B3-DF67-A0D4-0F966658FA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2"/>
            <a:ext cx="7704000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Temperature Measurement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For temperature measurement MAX31865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Pmod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module is used.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is a resistance-to-digital converter.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Resistance is converted into digital value by MAX31865.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Digital value is communicated with 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through SPI. </a:t>
            </a:r>
          </a:p>
          <a:p>
            <a:pPr>
              <a:buClr>
                <a:srgbClr val="859294"/>
              </a:buClr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39700" indent="0">
              <a:buClr>
                <a:srgbClr val="859294"/>
              </a:buClr>
              <a:buNone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Key features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Temperature measurement configuration </a:t>
            </a:r>
          </a:p>
          <a:p>
            <a:pPr lvl="1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2-wire method (In MNG this method Is used)</a:t>
            </a:r>
          </a:p>
          <a:p>
            <a:pPr lvl="1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3-wire method </a:t>
            </a:r>
          </a:p>
          <a:p>
            <a:pPr lvl="1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4-wire method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15bit ADC resolution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21ms (max) Conversion Time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SPI communication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4586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F318155B-33EE-49F7-B68E-F2652D61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C40BC03C-E4E4-6FE4-05DF-62ADC74B80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5CB06538-9CE6-A67F-A9E5-FD876A188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2"/>
            <a:ext cx="420140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MAX31865 connection with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Zedboard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Since we are using 2-wire connection, the MAX31865 should be connected to 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as per the following circuit diagram.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Communication with the host is done through the SPI signals SDI, SDO, SCLK, and CS.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DRDY pin can be used to indicate that a new conversion result is ready.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Based on MAX31865 datasheet, it support </a:t>
            </a:r>
          </a:p>
          <a:p>
            <a:pPr>
              <a:buClr>
                <a:srgbClr val="859294"/>
              </a:buClr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B6462-AF17-BF8E-94CB-062C7CA14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402" y="1590022"/>
            <a:ext cx="4125018" cy="302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7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8A388E95-EE7F-B739-54FC-14E2B3E3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562C9E0E-AF46-93C5-ED1C-B7B9DD6C3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248F2FF4-14F7-BC8E-718A-AB1C73A26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2"/>
            <a:ext cx="765084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MAX31865 VHDL Implementation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CPOL defines the idle level of the SPI clock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CPHA defines whether data is sampled on the first or second clock edge.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CPOL and CPHA together define the SPI mode.</a:t>
            </a:r>
          </a:p>
          <a:p>
            <a:pPr>
              <a:buClr>
                <a:srgbClr val="859294"/>
              </a:buClr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Four SPI modes exist: 0, 1, 2, and 3.</a:t>
            </a:r>
          </a:p>
          <a:p>
            <a:pPr>
              <a:buClr>
                <a:srgbClr val="859294"/>
              </a:buClr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MAX31865 supports mode 1 and mode 3.</a:t>
            </a:r>
          </a:p>
          <a:p>
            <a:pPr>
              <a:buClr>
                <a:srgbClr val="859294"/>
              </a:buClr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Our implementation uses CPOL = 1 and CPHA = 1, which is SPI mode 3.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0034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44C0C922-18D1-8F1B-4BD2-AEAEF6E2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F716E6D6-069A-32C8-FFA7-106E76FE9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6DCF1702-9DB6-8DBC-FC77-180825293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3"/>
            <a:ext cx="7650849" cy="1851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MAX31865 VHDL Implementation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CPOL defines the idle level of the SPI clock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CPHA defines whether data is sampled on the first or second clock edge.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CPOL and CPHA together define the SPI mode.</a:t>
            </a:r>
          </a:p>
          <a:p>
            <a:pPr>
              <a:buClr>
                <a:srgbClr val="859294"/>
              </a:buClr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Four SPI modes exist: 0, 1, 2, and 3.</a:t>
            </a:r>
          </a:p>
          <a:p>
            <a:pPr>
              <a:buClr>
                <a:srgbClr val="859294"/>
              </a:buClr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MAX31865 supports mode 1 and mode 3.</a:t>
            </a:r>
          </a:p>
          <a:p>
            <a:pPr>
              <a:buClr>
                <a:srgbClr val="859294"/>
              </a:buClr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Our implementation uses CPOL = 1 and CPHA = 1, which is SPI mode 3.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F57EE5-D209-9D6E-C98D-328D05DA8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278340"/>
            <a:ext cx="7704000" cy="1325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C96DE-FC05-FBAB-E0D5-63B3B6437210}"/>
              </a:ext>
            </a:extLst>
          </p:cNvPr>
          <p:cNvSpPr txBox="1"/>
          <p:nvPr/>
        </p:nvSpPr>
        <p:spPr>
          <a:xfrm>
            <a:off x="1955181" y="3787031"/>
            <a:ext cx="721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F89E1-A4C9-10F1-E12B-620A95C84ABB}"/>
              </a:ext>
            </a:extLst>
          </p:cNvPr>
          <p:cNvSpPr txBox="1"/>
          <p:nvPr/>
        </p:nvSpPr>
        <p:spPr>
          <a:xfrm>
            <a:off x="6467708" y="3787031"/>
            <a:ext cx="921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D6E49-818A-D75F-25ED-33E9EA9B1628}"/>
              </a:ext>
            </a:extLst>
          </p:cNvPr>
          <p:cNvSpPr txBox="1"/>
          <p:nvPr/>
        </p:nvSpPr>
        <p:spPr>
          <a:xfrm>
            <a:off x="1929159" y="3363929"/>
            <a:ext cx="921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69215-3B6E-A1B7-0FF8-808BBBCE36AD}"/>
              </a:ext>
            </a:extLst>
          </p:cNvPr>
          <p:cNvSpPr txBox="1"/>
          <p:nvPr/>
        </p:nvSpPr>
        <p:spPr>
          <a:xfrm>
            <a:off x="2601950" y="2940827"/>
            <a:ext cx="394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MAX31865 VHDL Module Implementation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7573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5CABD7D4-FEAB-238A-F2C7-4C30B73BE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2549C7E2-A007-0996-E384-745C6FA4F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400" dirty="0"/>
              <a:t>MAX31865 VHDL Implementation </a:t>
            </a:r>
            <a:endParaRPr lang="en-US" sz="1600" b="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2D2DD8-973A-7592-3882-947E97741ED9}"/>
              </a:ext>
            </a:extLst>
          </p:cNvPr>
          <p:cNvSpPr txBox="1"/>
          <p:nvPr/>
        </p:nvSpPr>
        <p:spPr>
          <a:xfrm>
            <a:off x="840058" y="936702"/>
            <a:ext cx="547153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11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sidle → CS inactive, clock idle high, wait for start.</a:t>
            </a:r>
          </a:p>
          <a:p>
            <a:pPr marL="3111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sstartx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 → load transmit word and initialize counter.</a:t>
            </a:r>
          </a:p>
          <a:p>
            <a:pPr marL="3111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sstart_lo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 → drive clock low and output first bit.</a:t>
            </a:r>
          </a:p>
          <a:p>
            <a:pPr marL="3111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sclk_hi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 → clock high, keep data stable, decrement counter.</a:t>
            </a:r>
          </a:p>
          <a:p>
            <a:pPr marL="3111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sclk_lo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 → clock low, shift transmit data, sample input data.</a:t>
            </a:r>
          </a:p>
          <a:p>
            <a:pPr marL="3111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stop_hi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 → final high clock phase.</a:t>
            </a:r>
          </a:p>
          <a:p>
            <a:pPr marL="3111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stop_lo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 → release CS and sample final bit.</a:t>
            </a:r>
          </a:p>
          <a:p>
            <a:pPr marL="13970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D01A3A-40D2-2438-2D2C-759F70A7D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067" y="929268"/>
            <a:ext cx="3398933" cy="421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98FFE683-7C14-436B-8918-858DCF7C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3F96CC68-C44D-8B5B-03B5-F21343B66D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400" dirty="0"/>
              <a:t>Push Buttons and Switches</a:t>
            </a:r>
            <a:endParaRPr lang="en-US" sz="1600" b="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EB94A-4B12-CF1D-37FB-BC59E7A2D9BB}"/>
              </a:ext>
            </a:extLst>
          </p:cNvPr>
          <p:cNvSpPr txBox="1"/>
          <p:nvPr/>
        </p:nvSpPr>
        <p:spPr>
          <a:xfrm>
            <a:off x="720000" y="1017600"/>
            <a:ext cx="37776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switches and pushbuttons are also integrated into the AXI interface as digital input measurements.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In the project, switches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sid_switches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4 and pushbuttons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inputs are connected through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uzSwitch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(7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(4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AXI read address 000 returns both input groups in one register.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lower 8 bits contain the switch values, and the next 5 bits contain the pushbutton values.</a:t>
            </a:r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3D4D5-C397-23FD-787A-C29F5FA73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341" y="1017600"/>
            <a:ext cx="3777659" cy="2651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34304B-9333-34F6-7117-8A3F2E376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41" y="3773596"/>
            <a:ext cx="3777659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1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C0072DCC-AC46-4419-6561-60F5EB58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7CB0AC31-F046-8496-34D3-7CF45A3F16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400" dirty="0"/>
              <a:t>Push Buttons and Switches</a:t>
            </a:r>
            <a:endParaRPr lang="en-US" sz="1600" b="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2AF0A-9E8A-F160-E7C4-273A4C168937}"/>
              </a:ext>
            </a:extLst>
          </p:cNvPr>
          <p:cNvSpPr txBox="1"/>
          <p:nvPr/>
        </p:nvSpPr>
        <p:spPr>
          <a:xfrm>
            <a:off x="720000" y="1017600"/>
            <a:ext cx="37776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switches and pushbuttons are also integrated into the AXI interface as digital input measurements.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In the project, switches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sid_switches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4 and pushbuttons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inputs are connected through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uzSwitch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(7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(4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AXI read address 000 returns both input groups in one register.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lower 8 bits contain the switch values, and the next 5 bits contain the pushbutton values.</a:t>
            </a:r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B233B-9EF9-EA8B-515F-1363207D1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341" y="1017600"/>
            <a:ext cx="3777659" cy="2651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C577C-FFF9-8D3E-C80C-D3710F3A8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41" y="3773596"/>
            <a:ext cx="3777659" cy="9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57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32"/>
    </mc:Choice>
    <mc:Fallback>
      <p:transition spd="slow" advTm="13003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69DD0808-2C4C-14ED-5C80-CAD006AA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D8097032-37D3-7D92-339A-35819EBCB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EDD09B8B-71A7-DF7C-A2C4-9B1629877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2"/>
            <a:ext cx="276661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Temperature </a:t>
            </a: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A write to AXI register 001 triggers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max_start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 and sends slv_reg1(15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 0) to the MAX31865.</a:t>
            </a: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The SPI pins are connected through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umCSn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,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umSCLK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,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umMOSI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,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umMISO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</a:t>
            </a: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The status register at address 001 returns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max_drdyn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max_done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 </a:t>
            </a: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address 010 returns the received temperature data in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AF390-15F0-863B-0091-DC1A89010AE1}"/>
              </a:ext>
            </a:extLst>
          </p:cNvPr>
          <p:cNvSpPr txBox="1"/>
          <p:nvPr/>
        </p:nvSpPr>
        <p:spPr>
          <a:xfrm>
            <a:off x="3624148" y="1248936"/>
            <a:ext cx="5285677" cy="362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--component instantiation 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max_pmod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sph1pol1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GENERIC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USPI_SIZE =&gt;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16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PORT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resetn =&gt; S_AXI_ARESETN,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bclk =&gt; S_AXI_ACLK,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spi_clkp  =&gt; spi_transmp,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start =&gt; max_start,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done =&gt; max_done,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scsq =&gt; umCSn,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sclk =&gt; umSCLK,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sdo =&gt; umMOSI,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sdi =&gt; umMISO,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sndData =&gt; slv_reg1(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15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rcvData =&gt; MAX_Data);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	.</a:t>
            </a:r>
          </a:p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JetBrains Mono" panose="02000009000000000000" pitchFamily="49" charset="0"/>
              </a:rPr>
              <a:t>	.</a:t>
            </a:r>
          </a:p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JetBrains Mono" panose="02000009000000000000" pitchFamily="49" charset="0"/>
              </a:rPr>
              <a:t>--writing to registers. 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b"001"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max_start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for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byte_index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(C_S_AXI_DATA_WIDTH/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8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loop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S_AXI_WSTRB(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byte_index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)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then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Respective byte enables are asserted as per write strobes   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slave </a:t>
            </a:r>
            <a:r>
              <a:rPr lang="en-US" sz="900" b="0" dirty="0" err="1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registor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 1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7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9E45F11B-A2A0-C735-BE39-0F4E85C2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DC8B4993-7A38-EDCD-BF54-D0553CAC56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6EA79707-6B85-D219-9CE0-A6233115CA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15122"/>
            <a:ext cx="215701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Poppins"/>
              </a:rPr>
              <a:t>Temperature </a:t>
            </a: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The status register at address 001 returns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max_drdyn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max_done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 </a:t>
            </a: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address 010 returns the received temperature data in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F156D-A3B2-44ED-77C7-CADF78CB9D1A}"/>
              </a:ext>
            </a:extLst>
          </p:cNvPr>
          <p:cNvSpPr txBox="1"/>
          <p:nvPr/>
        </p:nvSpPr>
        <p:spPr>
          <a:xfrm>
            <a:off x="2966224" y="1248936"/>
            <a:ext cx="5943601" cy="223978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process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(slv_reg3, slv_reg6, slv_reg7, axi_araddr, S_AXI_ARESETN, slv_reg_rden,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uzSwitch, uzPushB, max_done, max_drdyn, MAX_Data, done_adc, ADC_Data)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variable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loc_addr :std_logic_vector(OPT_MEM_ADDR_BITS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begin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Address decoding for reading registers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loc_addr := axi_araddr(ADDR_LSB + OPT_MEM_ADDR_BITS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ADDR_LSB);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loc_addr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uzPushB &amp; uzSwitch;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max_drdyn &amp; max_done;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b"010"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MAX_Data;</a:t>
            </a:r>
          </a:p>
          <a:p>
            <a:pPr>
              <a:lnSpc>
                <a:spcPts val="1200"/>
              </a:lnSpc>
              <a:buNone/>
            </a:pPr>
            <a:endParaRPr lang="en-US" sz="900" dirty="0">
              <a:solidFill>
                <a:srgbClr val="569CD6"/>
              </a:solidFill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57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32"/>
    </mc:Choice>
    <mc:Fallback>
      <p:transition spd="slow" advTm="13003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9AEC0BF9-21A5-8812-7378-31C28CD08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6F73195C-BF96-B6C1-5FBD-9727C7408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37515560-2287-2E36-B57C-25C71927A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1" y="1115122"/>
            <a:ext cx="2959902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Poppins"/>
              </a:rPr>
              <a:t>ADC0 &amp; ADC1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0" indent="0">
              <a:buNone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171450" indent="-171450"/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(15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0) contains ADC0, while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(31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16) contains ADC1.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73427-5D05-78D0-4487-A13CCB17EC58}"/>
              </a:ext>
            </a:extLst>
          </p:cNvPr>
          <p:cNvSpPr txBox="1"/>
          <p:nvPr/>
        </p:nvSpPr>
        <p:spPr>
          <a:xfrm>
            <a:off x="3717072" y="1791629"/>
            <a:ext cx="5426927" cy="223978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adcRX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: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adc2lane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GENERIC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USPI_SIZE =&gt;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16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PORT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resetn =&gt; S_AXI_ARESETN,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bclk =&gt; S_AXI_ACLK,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spi_clkp =&gt; spiclk_p,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start =&gt; start_adc,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done =&gt; done_adc,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scsq =&gt; uAD1csq,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sclk =&gt; uAD1Sclk,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sdi_0 =&gt; usdiAD_0,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sdi_1 =&gt; usdiAD_1,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rcvData_0 =&gt; ADC_Data(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15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rcvData_1 =&gt; ADC_Data(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31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16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));</a:t>
            </a:r>
          </a:p>
          <a:p>
            <a:pPr>
              <a:lnSpc>
                <a:spcPts val="1200"/>
              </a:lnSpc>
              <a:buNone/>
            </a:pPr>
            <a:endParaRPr lang="en-US" sz="900" dirty="0">
              <a:solidFill>
                <a:srgbClr val="569CD6"/>
              </a:solidFill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725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32"/>
    </mc:Choice>
    <mc:Fallback>
      <p:transition spd="slow" advTm="13003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FECBA0B0-C3A3-BB67-7DDF-19A03D53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163FBCE0-C87F-C13D-BF6D-F9BF4BDF19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F3C5489F-5912-B84C-C29C-60DA8B571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1" y="1115122"/>
            <a:ext cx="2959902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Poppins"/>
              </a:rPr>
              <a:t>ADC0 &amp; ADC1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0" indent="0">
              <a:buNone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 write to AXI register 100 generates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start_adc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and starts the ADC acquisition.</a:t>
            </a: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The ADC interface uses uAD1csq, uAD1Sclk, usdiAD_0, and usdiAD_1.</a:t>
            </a:r>
          </a:p>
          <a:p>
            <a:pPr marL="171450" indent="-171450"/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The done flag is read from AXI address 100, and the ADC result is read from address 101.</a:t>
            </a:r>
          </a:p>
          <a:p>
            <a:pPr marL="171450" indent="-171450"/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(15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0) contains ADC0, while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(31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16) contains ADC1.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2FFEC-8853-3EC5-A88F-FDD8194AC96C}"/>
              </a:ext>
            </a:extLst>
          </p:cNvPr>
          <p:cNvSpPr txBox="1"/>
          <p:nvPr/>
        </p:nvSpPr>
        <p:spPr>
          <a:xfrm>
            <a:off x="3717072" y="1791629"/>
            <a:ext cx="5426927" cy="13164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--writing to the registers. 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b"100"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start_adc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   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for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byte_index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(C_S_AXI_DATA_WIDTH/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8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loop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S_AXI_WSTRB(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byte_index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)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then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Respective byte enables are asserted as per write strobes    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slave </a:t>
            </a:r>
            <a:r>
              <a:rPr lang="en-US" sz="900" b="0" dirty="0" err="1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registor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 4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endParaRPr lang="en-US" sz="900" dirty="0">
              <a:solidFill>
                <a:srgbClr val="569CD6"/>
              </a:solidFill>
              <a:latin typeface="JetBrains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1C0A8-CB17-B7D5-B76B-FFEEE0CA7FEF}"/>
              </a:ext>
            </a:extLst>
          </p:cNvPr>
          <p:cNvSpPr txBox="1"/>
          <p:nvPr/>
        </p:nvSpPr>
        <p:spPr>
          <a:xfrm>
            <a:off x="3717073" y="3223883"/>
            <a:ext cx="5426926" cy="8547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b"100"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reg_data_out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x"0000000"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"000"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done_adc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b"101"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reg_data_out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ADC_Data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endParaRPr lang="en-US" sz="900" dirty="0">
              <a:solidFill>
                <a:srgbClr val="569CD6"/>
              </a:solidFill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418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32"/>
    </mc:Choice>
    <mc:Fallback>
      <p:transition spd="slow" advTm="130032"/>
    </mc:Fallback>
  </mc:AlternateContent>
</p:sld>
</file>

<file path=ppt/theme/theme1.xml><?xml version="1.0" encoding="utf-8"?>
<a:theme xmlns:a="http://schemas.openxmlformats.org/drawingml/2006/main" name="Bachelor's Degree in Electronics Engineering by Slidesgo">
  <a:themeElements>
    <a:clrScheme name="Simple Light">
      <a:dk1>
        <a:srgbClr val="403953"/>
      </a:dk1>
      <a:lt1>
        <a:srgbClr val="F8F8F8"/>
      </a:lt1>
      <a:dk2>
        <a:srgbClr val="859294"/>
      </a:dk2>
      <a:lt2>
        <a:srgbClr val="D1D8E6"/>
      </a:lt2>
      <a:accent1>
        <a:srgbClr val="BABFD7"/>
      </a:accent1>
      <a:accent2>
        <a:srgbClr val="ECD9DD"/>
      </a:accent2>
      <a:accent3>
        <a:srgbClr val="575979"/>
      </a:accent3>
      <a:accent4>
        <a:srgbClr val="586160"/>
      </a:accent4>
      <a:accent5>
        <a:srgbClr val="FFFFFF"/>
      </a:accent5>
      <a:accent6>
        <a:srgbClr val="FFFFFF"/>
      </a:accent6>
      <a:hlink>
        <a:srgbClr val="4039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</TotalTime>
  <Words>1661</Words>
  <Application>Microsoft Office PowerPoint</Application>
  <PresentationFormat>On-screen Show (16:9)</PresentationFormat>
  <Paragraphs>178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Anton</vt:lpstr>
      <vt:lpstr>Hind</vt:lpstr>
      <vt:lpstr>Roboto</vt:lpstr>
      <vt:lpstr>Arial</vt:lpstr>
      <vt:lpstr>Roboto Condensed Light</vt:lpstr>
      <vt:lpstr>Itim</vt:lpstr>
      <vt:lpstr>Poppins</vt:lpstr>
      <vt:lpstr>Livvic</vt:lpstr>
      <vt:lpstr>JetBrains Mono</vt:lpstr>
      <vt:lpstr>Bachelor's Degree in Electronics Engineering by Slidesgo</vt:lpstr>
      <vt:lpstr>Hardware Design in VHDL for MNG (Measurement Network Gateway)</vt:lpstr>
      <vt:lpstr>Table of contents</vt:lpstr>
      <vt:lpstr>Hardware Design using VHDL</vt:lpstr>
      <vt:lpstr>ADC0 and ADC1 Measurement</vt:lpstr>
      <vt:lpstr>ADC0 and ADC1 Measurement</vt:lpstr>
      <vt:lpstr>ADC0 and ADC1 Measurement</vt:lpstr>
      <vt:lpstr>Hardware Design using VHDL</vt:lpstr>
      <vt:lpstr>Hardware Design using VHDL</vt:lpstr>
      <vt:lpstr>Hardware Design using VHDL</vt:lpstr>
      <vt:lpstr>Hardware Design using VHDL</vt:lpstr>
      <vt:lpstr>MAX31865 VHDL Implementation </vt:lpstr>
      <vt:lpstr>Push Buttons and Switches</vt:lpstr>
      <vt:lpstr>Push Buttons and Switches</vt:lpstr>
      <vt:lpstr>Sensors Integration with AXI Interface</vt:lpstr>
      <vt:lpstr>Sensors Integration with AXI Interface</vt:lpstr>
      <vt:lpstr>Sensors Integration with AXI Interface</vt:lpstr>
      <vt:lpstr>Sensors Integration with AXI 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Mohammad Mahdi Mohammadi</dc:creator>
  <cp:lastModifiedBy>Mohammad Mahdi Mohammadi</cp:lastModifiedBy>
  <cp:revision>79</cp:revision>
  <dcterms:modified xsi:type="dcterms:W3CDTF">2026-03-13T15:33:00Z</dcterms:modified>
</cp:coreProperties>
</file>