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2"/>
  </p:notesMasterIdLst>
  <p:sldIdLst>
    <p:sldId id="256" r:id="rId2"/>
    <p:sldId id="258" r:id="rId3"/>
    <p:sldId id="311" r:id="rId4"/>
    <p:sldId id="323" r:id="rId5"/>
    <p:sldId id="322" r:id="rId6"/>
    <p:sldId id="321" r:id="rId7"/>
    <p:sldId id="314" r:id="rId8"/>
    <p:sldId id="316" r:id="rId9"/>
    <p:sldId id="317" r:id="rId10"/>
    <p:sldId id="320" r:id="rId11"/>
    <p:sldId id="324" r:id="rId12"/>
    <p:sldId id="312" r:id="rId13"/>
    <p:sldId id="325" r:id="rId14"/>
    <p:sldId id="327" r:id="rId15"/>
    <p:sldId id="326" r:id="rId16"/>
    <p:sldId id="328" r:id="rId17"/>
    <p:sldId id="330" r:id="rId18"/>
    <p:sldId id="329" r:id="rId19"/>
    <p:sldId id="333" r:id="rId20"/>
    <p:sldId id="334" r:id="rId21"/>
    <p:sldId id="331" r:id="rId22"/>
    <p:sldId id="335" r:id="rId23"/>
    <p:sldId id="336" r:id="rId24"/>
    <p:sldId id="337" r:id="rId25"/>
    <p:sldId id="338" r:id="rId26"/>
    <p:sldId id="339" r:id="rId27"/>
    <p:sldId id="341" r:id="rId28"/>
    <p:sldId id="342" r:id="rId29"/>
    <p:sldId id="343" r:id="rId30"/>
    <p:sldId id="344" r:id="rId31"/>
  </p:sldIdLst>
  <p:sldSz cx="9144000" cy="5143500" type="screen16x9"/>
  <p:notesSz cx="6858000" cy="9144000"/>
  <p:embeddedFontLst>
    <p:embeddedFont>
      <p:font typeface="Hind" panose="02000000000000000000" pitchFamily="2" charset="0"/>
      <p:regular r:id="rId33"/>
      <p:bold r:id="rId34"/>
    </p:embeddedFont>
    <p:embeddedFont>
      <p:font typeface="JetBrains Mono" panose="02000009000000000000" pitchFamily="49" charset="0"/>
      <p:regular r:id="rId35"/>
      <p:bold r:id="rId36"/>
      <p:italic r:id="rId37"/>
      <p:boldItalic r:id="rId38"/>
    </p:embeddedFont>
    <p:embeddedFont>
      <p:font typeface="Livvic" pitchFamily="2" charset="0"/>
      <p:regular r:id="rId39"/>
      <p:bold r:id="rId40"/>
      <p:italic r:id="rId41"/>
      <p:boldItalic r:id="rId42"/>
    </p:embeddedFont>
    <p:embeddedFont>
      <p:font typeface="Poppins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655FFF-0ED5-4384-ABBF-4492E803C8E8}">
  <a:tblStyle styleId="{9C655FFF-0ED5-4384-ABBF-4492E803C8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2049155d6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275" name="Google Shape;2275;g2049155d6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291" name="Google Shape;2291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16191A6-E3F2-3A46-8FD3-9E82288E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F88EB79-E84E-D53F-159B-4C2A76AD9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4DD5EC6-6CCA-C1C0-3027-0E7BBDAB2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53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BBB5CB67-E4AE-4589-3D90-2D2E8791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6CBCCF3-FECE-4266-7E6B-8595C6BF4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1D4C8C5-FCCC-F95C-AE7C-E2013D4BC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6526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D66AC4E4-FD2B-716C-C552-E80E845A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8DEBDC7-1126-65BB-2E22-8888227AD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15E14E74-2635-8251-85A6-60891723C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442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68908ECE-DD32-68B0-A6A5-14A8294E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811729FE-F58B-C01A-BE57-0C0671F7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7599CC80-F4D5-8DF8-FE01-6D0005BE1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437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D34A40F4-DC26-FB22-046A-0DD3D295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9F24A51-F242-C738-3E26-CBCA3DB85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CE97F36-666E-2AF6-7FF3-9697E4DE2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6991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C457416-AB11-0592-CED2-0481367A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A5DB80D-A1AD-21B1-C883-BDFF06D79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DBB8DCFB-3524-EB5F-033D-F1A4894E6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931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CCE1D8D-2475-7296-2A27-BD8062A7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304B103E-6486-E77A-9676-5A5AB605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437B159-75B6-10E3-BC80-2EB9FF4D8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592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94214881-BCB0-EB7E-2ACF-1B7B0D20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C462619B-752A-E417-3097-C82F35AD1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BC2AB864-7A86-AACA-3EFB-A2E931E01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919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E9E8073C-569B-896C-7734-620316E4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05F5A195-630D-1F74-50A3-50C63A110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9220674-9F43-0841-6685-9ECD10099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7798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F1E7C63F-A8B3-20FE-49B0-F37E2B45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82EFA3CE-425A-4C6C-01DE-EEF5D5067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5F42C35-3A55-C35F-0CDB-56ED6E318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571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633AECBE-1750-CF0D-0964-45D458CE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599AD20-B67F-FEA0-E795-51F4A5921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969BAF7-FE74-AC72-4084-89DFD0972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848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15BEAFF-9188-0BEB-A089-D395AB99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1FD67D08-6A0B-1149-7DF5-B58C2FE44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E35F8C32-697A-D491-9C2F-7D37DE1B2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738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0DACDF75-4F69-579D-2318-0B148A87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C947025-031F-4696-42F2-D6A8022D1D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B4F19EA-577C-F715-A9A1-C8A37B46B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122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A8664154-9629-AA8E-83ED-0F9A9DEA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690759FA-D7ED-BF85-05B8-B25350BAF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2EDAC882-5CE3-178B-4F6F-C7BCBBC0C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884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B5C34F81-4183-16F7-F3DC-B73CC7ED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E4F68B05-8884-D2D8-3F24-D9131C707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B6BA9E8-273B-1ABF-497A-70BFD21D0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733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BBFAAEFF-ECDB-E431-817A-31C5A55F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AC9E7466-9BC1-251B-F3F0-A5D1E0364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AB7313A8-A5AD-23D7-8D39-36B4C4723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440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6696BF8A-4D34-536F-17B0-B57D362A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B49C3923-E2EA-AF4A-4688-FFE0A8768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9EEC91F7-B301-F598-EFEB-4501DA103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720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398ABEF3-3ECB-391C-6BCA-52BDE613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7EB1A933-AB0C-1B75-EEB4-6720550E9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C33F80D8-05E1-D8D8-1C7E-C99F2A911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074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3B0BAA2-77E9-5810-B837-E2509BE8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7A379FB7-2DFC-A662-6A7D-2C2767BA5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7BDC371-6114-7144-E528-C9A81823D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245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173EDC4F-FD6F-493E-A6E4-CC4F434F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25DBF127-3C66-308D-CE1B-127509957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796B89A7-CA65-CD94-7291-9637627A3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068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7FB7F78-5BB3-5A9B-FB7F-18E472DD4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C3ADDB29-AB68-25C3-7CCF-D25B6226D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1475992C-9478-1E4A-0DD6-585F97701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6646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F65CF16B-B36A-F7CA-5564-8D9D5EF9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D5105A2-5B72-91CA-B34A-5521A71F1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011B3E2E-819F-9200-C044-B95B31908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845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2BF89058-5EA0-E689-3A2E-2BFF17172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FE5032C7-0A28-21D9-E1E7-8F09C574C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73B8F770-3662-C03B-AC0A-85BC668B4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780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3E3F867B-8661-88EF-0AC2-E36CF3D8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2A75DC06-4C41-7E25-087D-EC7297CAD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3274E8A2-9EAB-C201-4C68-F0A384446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9866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32EC2AEF-23C4-66DD-12A7-AE50804A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3D7125B3-E381-DDB3-122F-1D4BAED2B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1ECE6BF4-BEE6-A075-6D46-0D972E5FB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2084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CB295A46-113D-D5A0-FF1E-C7C2BEBD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D7CA0BD0-0F6D-5624-A8CC-238A5C12A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6A827D79-6074-74BB-F0EF-0ABCEDF74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8830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1518C9B8-3CC3-34AC-7CCF-9DD7C685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5D48B8FA-0428-3E39-D7A4-6B08E4A10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83FC702D-D271-D4A5-A85A-5BEED63A5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25644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>
          <a:extLst>
            <a:ext uri="{FF2B5EF4-FFF2-40B4-BE49-F238E27FC236}">
              <a16:creationId xmlns:a16="http://schemas.microsoft.com/office/drawing/2014/main" id="{5C1B186D-C745-3417-7766-4A4FB5A0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g97767bb796_0_1041:notes">
            <a:extLst>
              <a:ext uri="{FF2B5EF4-FFF2-40B4-BE49-F238E27FC236}">
                <a16:creationId xmlns:a16="http://schemas.microsoft.com/office/drawing/2014/main" id="{15D8F0D4-1D24-B9ED-85D2-175FDAB21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DE"/>
          </a:p>
        </p:txBody>
      </p:sp>
      <p:sp>
        <p:nvSpPr>
          <p:cNvPr id="2832" name="Google Shape;2832;g97767bb796_0_1041:notes">
            <a:extLst>
              <a:ext uri="{FF2B5EF4-FFF2-40B4-BE49-F238E27FC236}">
                <a16:creationId xmlns:a16="http://schemas.microsoft.com/office/drawing/2014/main" id="{54DB0F3A-B3E2-9358-AB56-3054E3993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460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CC92C-30B8-57F3-D6F2-1B67AC256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72C38-E4A6-4327-0828-9318FA02C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D10B4-C16A-EC5D-7FB5-121BE08C1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>
            <a:lumMod val="90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6D7505-5BCF-DE7E-B151-E63F8C17D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63" y="4718772"/>
            <a:ext cx="47971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9FCA-F927-47C5-9D5C-7FD524E2B5BB}" type="slidenum">
              <a:rPr lang="en-DE" smtClean="0"/>
              <a:t>‹#›</a:t>
            </a:fld>
            <a:endParaRPr lang="en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9"/>
          <p:cNvSpPr txBox="1">
            <a:spLocks noGrp="1"/>
          </p:cNvSpPr>
          <p:nvPr>
            <p:ph type="ctrTitle" idx="4294967295"/>
          </p:nvPr>
        </p:nvSpPr>
        <p:spPr>
          <a:xfrm>
            <a:off x="2804175" y="3025697"/>
            <a:ext cx="3914100" cy="10618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Hardware Design in VHDL for MNG (Measurement Network Gateway)</a:t>
            </a:r>
            <a:endParaRPr sz="2000" dirty="0"/>
          </a:p>
        </p:txBody>
      </p:sp>
      <p:sp>
        <p:nvSpPr>
          <p:cNvPr id="2278" name="Google Shape;2278;p39"/>
          <p:cNvSpPr txBox="1">
            <a:spLocks noGrp="1"/>
          </p:cNvSpPr>
          <p:nvPr>
            <p:ph type="subTitle" idx="4294967295"/>
          </p:nvPr>
        </p:nvSpPr>
        <p:spPr>
          <a:xfrm>
            <a:off x="5039983" y="4486085"/>
            <a:ext cx="3914100" cy="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Mohammad Mahdi Mohammadi - 42719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B22EDF-9A22-3C55-A843-3B17FFDAD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</a:t>
            </a:fld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A54D2-A2E8-9B22-8053-031656C6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078" y="559704"/>
            <a:ext cx="3323063" cy="992584"/>
          </a:xfrm>
          <a:prstGeom prst="rect">
            <a:avLst/>
          </a:prstGeom>
        </p:spPr>
      </p:pic>
      <p:sp>
        <p:nvSpPr>
          <p:cNvPr id="5" name="Google Shape;2278;p39">
            <a:extLst>
              <a:ext uri="{FF2B5EF4-FFF2-40B4-BE49-F238E27FC236}">
                <a16:creationId xmlns:a16="http://schemas.microsoft.com/office/drawing/2014/main" id="{19CDBDC1-E906-84F2-DFC1-94DEF9C206AA}"/>
              </a:ext>
            </a:extLst>
          </p:cNvPr>
          <p:cNvSpPr txBox="1">
            <a:spLocks/>
          </p:cNvSpPr>
          <p:nvPr/>
        </p:nvSpPr>
        <p:spPr>
          <a:xfrm>
            <a:off x="2621286" y="1569483"/>
            <a:ext cx="4384645" cy="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de-DE" dirty="0"/>
              <a:t>Master of Science in Embedded Systems 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29"/>
    </mc:Choice>
    <mc:Fallback xmlns="">
      <p:transition spd="slow" advTm="150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41"/>
          <p:cNvSpPr txBox="1">
            <a:spLocks noGrp="1"/>
          </p:cNvSpPr>
          <p:nvPr>
            <p:ph type="title" idx="4294967295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Table of</a:t>
            </a:r>
            <a:r>
              <a:rPr lang="en" dirty="0">
                <a:solidFill>
                  <a:schemeClr val="dk1"/>
                </a:solidFill>
              </a:rPr>
              <a:t> contents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306" name="Google Shape;2306;p41"/>
          <p:cNvPicPr preferRelativeResize="0">
            <a:picLocks noGrp="1"/>
          </p:cNvPicPr>
          <p:nvPr>
            <p:ph type="pic" idx="4294967295"/>
          </p:nvPr>
        </p:nvPicPr>
        <p:blipFill rotWithShape="1">
          <a:blip r:embed="rId3">
            <a:alphaModFix/>
          </a:blip>
          <a:srcRect l="36154" r="9624" b="7330"/>
          <a:stretch/>
        </p:blipFill>
        <p:spPr>
          <a:xfrm>
            <a:off x="5844900" y="1359600"/>
            <a:ext cx="2579101" cy="293739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909D88-7C31-E303-93C5-7590AAA8BBE5}"/>
              </a:ext>
            </a:extLst>
          </p:cNvPr>
          <p:cNvSpPr txBox="1"/>
          <p:nvPr/>
        </p:nvSpPr>
        <p:spPr>
          <a:xfrm>
            <a:off x="564995" y="1689525"/>
            <a:ext cx="513699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Hardware Design using VHDL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Application for MNG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Hind" panose="02000000000000000000" charset="0"/>
                <a:cs typeface="Hind" panose="02000000000000000000" charset="0"/>
              </a:rPr>
              <a:t>MNG client (GUI) </a:t>
            </a:r>
          </a:p>
          <a:p>
            <a:pPr marL="342900" indent="-342900">
              <a:buAutoNum type="arabicPeriod"/>
            </a:pPr>
            <a:endParaRPr lang="en-US" sz="1600" dirty="0">
              <a:latin typeface="Hind" panose="02000000000000000000" charset="0"/>
              <a:cs typeface="Hind" panose="02000000000000000000" charset="0"/>
            </a:endParaRPr>
          </a:p>
          <a:p>
            <a:pPr marL="342900" indent="-342900">
              <a:buAutoNum type="arabicPeriod"/>
            </a:pPr>
            <a:endParaRPr lang="en-DE" dirty="0">
              <a:latin typeface="Hind" panose="02000000000000000000" charset="0"/>
              <a:cs typeface="Hind" panose="02000000000000000000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C5985-103B-ED0E-575C-7BEBAD407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</a:t>
            </a:fld>
            <a:endParaRPr lang="en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89"/>
    </mc:Choice>
    <mc:Fallback xmlns="">
      <p:transition spd="slow" advTm="1500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37B68A14-41EA-06D2-BA81-207723E3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F49F76D-0EFE-54CB-9C47-56EDC3A6FC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7C0B90BC-EE1B-B832-2E20-C05A2383EE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Sensors to be measured: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ADC0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ADC1</a:t>
            </a:r>
          </a:p>
          <a:p>
            <a:pPr marL="457200" indent="-317500">
              <a:lnSpc>
                <a:spcPct val="115000"/>
              </a:lnSpc>
              <a:buClr>
                <a:srgbClr val="859294"/>
              </a:buClr>
              <a:buSzPts val="1400"/>
              <a:buFont typeface="Livvic"/>
              <a:buChar char="●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Temperature Sensor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 Buttons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Swit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For measurement of the above sensors, different modules are written in VHDL language in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Vivado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 Design Suite and the end all the modules are integrated into one single IP (Intellectual Property). 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C1717-468B-CDCF-7633-A7BD872C6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005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B4872C41-9EB9-9A50-2540-5112E07D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1B183597-6808-93E0-8C52-A29DBC47E5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ADC0 and ADC1 Measurement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A363D113-F323-603A-8307-25261299B1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3970946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Their values are acquired through a dual-lane SPI-based ADC interface.</a:t>
            </a: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The architecture contains two FSMs: one control FSM for start/stop handling, and one SPI FSM for the bit-level ADC data acquisition.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ssl_idle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: wait for a new start command and signal ready.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ssl_start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: generate the internal start pulse for SPI transfer. 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ssl_run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: wait until the SPI FSM finishes and returns to idle.</a:t>
            </a:r>
          </a:p>
          <a:p>
            <a:pPr marL="171450" indent="-171450"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  <a:p>
            <a:pPr marL="171450" indent="-171450">
              <a:buClr>
                <a:srgbClr val="859294"/>
              </a:buClr>
              <a:defRPr/>
            </a:pPr>
            <a:endParaRPr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B8C20-A1B2-CE81-1D65-D29F9E3DE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535" y="1219927"/>
            <a:ext cx="3124471" cy="33835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1BC2BF-8662-0A52-3411-08F071F8B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796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72E7AC0E-A2E6-11CE-DD84-A8E44CC2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DBA1A6E-152B-B58A-3E54-DCD05E038C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ADC0 and ADC1 Measurement</a:t>
            </a:r>
            <a:endParaRPr sz="2400" dirty="0"/>
          </a:p>
        </p:txBody>
      </p:sp>
      <p:sp>
        <p:nvSpPr>
          <p:cNvPr id="12" name="Google Shape;2835;p74">
            <a:extLst>
              <a:ext uri="{FF2B5EF4-FFF2-40B4-BE49-F238E27FC236}">
                <a16:creationId xmlns:a16="http://schemas.microsoft.com/office/drawing/2014/main" id="{A438D844-E701-7167-0EC1-5FE0F797AE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358254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Dual-lane SPI interface for simultaneous acquisition of ADC0 and ADC1.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Reads two serial data streams, sdi_0 and sdi_1, in parallel.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Stores the results in rcvData_0 and rcvData_1.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Uses FSM-based control for SPI acquisition.</a:t>
            </a:r>
          </a:p>
          <a:p>
            <a:pPr marL="171450" indent="-171450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Provides raw ADC values to the system.</a:t>
            </a:r>
            <a:endParaRPr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48110-DDAE-F8EA-1A32-C662E2FCA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5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1897-9DAC-6A7F-783B-A8ECDD4AE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10" y="1017600"/>
            <a:ext cx="4819690" cy="41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3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F3ABAC9-EA6F-9F62-1672-73126E98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5EF8E97-F91E-1047-CDE8-94E02893CA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9B495550-43B3-DF67-A0D4-0F966658FA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7704000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Temperature Measurement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For temperature measurement MAX31865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Pmod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module is used.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is a resistance-to-digital converter.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Resistance is converted into digital value by MAX31865.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Digital value is communicated with 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through SPI. </a:t>
            </a:r>
          </a:p>
          <a:p>
            <a:pPr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39700" indent="0">
              <a:buClr>
                <a:srgbClr val="859294"/>
              </a:buClr>
              <a:buNone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Key features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Temperature measurement configuration </a:t>
            </a:r>
          </a:p>
          <a:p>
            <a:pPr lvl="1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2-wire method (In MNG this method Is used)</a:t>
            </a:r>
          </a:p>
          <a:p>
            <a:pPr lvl="1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3-wire method </a:t>
            </a:r>
          </a:p>
          <a:p>
            <a:pPr lvl="1"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4-wire method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15bit ADC resolution 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Itim"/>
              </a:rPr>
              <a:t>21ms (max) Conversion Time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Char char="●"/>
              <a:tabLst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SPI communication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D7B0A-1177-EAAC-AD92-32A8437FA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586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318155B-33EE-49F7-B68E-F2652D61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C40BC03C-E4E4-6FE4-05DF-62ADC74B80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Hardware Design using VHDL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5CB06538-9CE6-A67F-A9E5-FD876A1887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420140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Poppins"/>
                <a:ea typeface="Poppins"/>
                <a:cs typeface="Poppins"/>
                <a:sym typeface="Poppins"/>
              </a:rPr>
              <a:t>MAX31865 connection with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Zedboard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Since we are using 2-wire connection, the MAX31865 should be connected to 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as per the following circuit diagram. 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Communication with the host is done through the SPI signals SDI, SDO, SCLK, and CS.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DRDY pin can be used to indicate that a new conversion result is ready.</a:t>
            </a:r>
          </a:p>
          <a:p>
            <a:pPr>
              <a:buClr>
                <a:srgbClr val="859294"/>
              </a:buClr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Based on MAX31865 datasheet, it support </a:t>
            </a:r>
          </a:p>
          <a:p>
            <a:pPr>
              <a:buClr>
                <a:srgbClr val="859294"/>
              </a:buClr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Itim"/>
            </a:endParaRPr>
          </a:p>
          <a:p>
            <a:pPr marL="0" indent="0">
              <a:buNone/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B6462-AF17-BF8E-94CB-062C7CA1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402" y="1590022"/>
            <a:ext cx="4125018" cy="30274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710027-5FE4-C663-2991-D377E0033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357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44C0C922-18D1-8F1B-4BD2-AEAEF6E2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F716E6D6-069A-32C8-FFA7-106E76FE96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8098" y="490984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Temperature measurement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21A503-C155-2BA3-ACF8-C1F5142B5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8</a:t>
            </a:fld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0C152-1134-8562-1167-0F0241376295}"/>
              </a:ext>
            </a:extLst>
          </p:cNvPr>
          <p:cNvSpPr txBox="1"/>
          <p:nvPr/>
        </p:nvSpPr>
        <p:spPr>
          <a:xfrm>
            <a:off x="474674" y="1040100"/>
            <a:ext cx="409732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Arial"/>
              </a:rPr>
              <a:t>For temperature measurement MAX31865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Arial"/>
              </a:rPr>
              <a:t>Pmod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(resistance-to-digital converter.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Arial"/>
              </a:rPr>
              <a:t>) module is used.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Arial"/>
              </a:rPr>
              <a:t>Digital value is communicated with the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Arial"/>
              </a:rPr>
              <a:t>zedboard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Arial"/>
              </a:rPr>
              <a:t> through SPI. </a:t>
            </a:r>
          </a:p>
          <a:p>
            <a:endParaRPr lang="de-DE" dirty="0"/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de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For temperautre an SPI master (CPOL=1, CPHA=1) that sends and receives USPI_SIZE bits (default 16) over sdo/sdi is implemented.</a:t>
            </a: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endParaRPr lang="de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r>
              <a:rPr lang="de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There are 2 FSMs: </a:t>
            </a:r>
          </a:p>
          <a:p>
            <a:pPr marL="171450" lvl="0" indent="-171450" eaLnBrk="0" fontAlgn="base" hangingPunct="0">
              <a:buClrTx/>
              <a:buFont typeface="Arial" panose="020B0604020202020204" pitchFamily="34" charset="0"/>
              <a:buChar char="•"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first FSM (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ssl_state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controls when a whole SPI transfer starts and ends.</a:t>
            </a:r>
          </a:p>
          <a:p>
            <a:pPr marL="171450" lvl="0" indent="-171450" eaLnBrk="0" fontAlgn="base" hangingPunct="0">
              <a:buClrTx/>
              <a:buFont typeface="Arial" panose="020B0604020202020204" pitchFamily="34" charset="0"/>
              <a:buChar char="•"/>
            </a:pP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ssl_idle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core is ready, done='1'; waits for start='1' and SPI FSM in sidle.</a:t>
            </a:r>
          </a:p>
          <a:p>
            <a:pPr marL="171450" lvl="0" indent="-171450" eaLnBrk="0" fontAlgn="base" hangingPunct="0">
              <a:buClrTx/>
              <a:buFont typeface="Arial" panose="020B0604020202020204" pitchFamily="34" charset="0"/>
              <a:buChar char="•"/>
            </a:pP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ssl_start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issues a one-clock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start_i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pulse to kick the SPI FSM, then moves to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ssl_run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</a:p>
          <a:p>
            <a:pPr marL="171450" lvl="0" indent="-171450" eaLnBrk="0" fontAlgn="base" hangingPunct="0">
              <a:buClrTx/>
              <a:buFont typeface="Arial" panose="020B0604020202020204" pitchFamily="34" charset="0"/>
              <a:buChar char="•"/>
            </a:pP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ssl_run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waits until the SPI FSM returns to sidle, then goes back to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ssl_idle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and done becomes 1 again.</a:t>
            </a: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endParaRPr lang="de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indent="-171450">
              <a:buClr>
                <a:srgbClr val="859294"/>
              </a:buClr>
              <a:buFont typeface="Arial" panose="020B0604020202020204" pitchFamily="34" charset="0"/>
              <a:buChar char="•"/>
              <a:defRPr/>
            </a:pP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0B860-56CD-21EF-D716-064016A66A01}"/>
              </a:ext>
            </a:extLst>
          </p:cNvPr>
          <p:cNvSpPr txBox="1"/>
          <p:nvPr/>
        </p:nvSpPr>
        <p:spPr>
          <a:xfrm>
            <a:off x="4653776" y="1077427"/>
            <a:ext cx="4490224" cy="362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--first fsm.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sslcmb_proc: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(ssl_state, state, start)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BEGIN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sslnxt_state &lt;= ssl_state;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start_i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'0'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done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'0'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ssl_state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ssl_idle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done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start=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state=sidle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THEN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sslnxt_state &lt;= ssl_start;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ssl_start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start_i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state=sstartx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THEN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sslnxt_state &lt;= ssl_run;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ssl_run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state=sidle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THEN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sslnxt_state &lt;= ssl_idle;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sslcmb_proc;</a:t>
            </a:r>
          </a:p>
        </p:txBody>
      </p:sp>
    </p:spTree>
    <p:extLst>
      <p:ext uri="{BB962C8B-B14F-4D97-AF65-F5344CB8AC3E}">
        <p14:creationId xmlns:p14="http://schemas.microsoft.com/office/powerpoint/2010/main" val="267573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5CABD7D4-FEAB-238A-F2C7-4C30B73BE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549C7E2-A007-0996-E384-745C6FA4FB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Itim"/>
              </a:rPr>
              <a:t>Temp SPI FSM 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DA504-94D4-BE31-6FAC-D62617176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9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6C334-D451-B7F7-66EA-1BE1E497F57F}"/>
              </a:ext>
            </a:extLst>
          </p:cNvPr>
          <p:cNvSpPr txBox="1"/>
          <p:nvPr/>
        </p:nvSpPr>
        <p:spPr>
          <a:xfrm>
            <a:off x="720001" y="1017600"/>
            <a:ext cx="39337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SPI FSM (state) controls the bit-level SPI timing: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scsq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sdo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plus shifting registers.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sidle: CS high, clock high, idle. Waits for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start_i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='1', then goes to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sstartx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sstartx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→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sstart_lo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loads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wr_buf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with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sndData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sets count = USPI_SIZE-1, pulls clock low and outputs the first MOSI bit.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sclk_hi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/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main loop; on each bit it toggles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sclk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shifts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wr_buf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samples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sdi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into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rd_buf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and decrements count until count = 0.</a:t>
            </a:r>
          </a:p>
          <a:p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stop_hi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→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stop_lo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: finishes the last bit, samples final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sdi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deasserts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CS, and returns to sidle, with the received word available in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rcvData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</a:p>
          <a:p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F297EC-CEB1-FB05-4F69-867CC77B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077" y="0"/>
            <a:ext cx="40039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98FFE683-7C14-436B-8918-858DCF7C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3F96CC68-C44D-8B5B-03B5-F21343B66D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/>
              <a:t>Push Buttons and Switches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EB94A-4B12-CF1D-37FB-BC59E7A2D9BB}"/>
              </a:ext>
            </a:extLst>
          </p:cNvPr>
          <p:cNvSpPr txBox="1"/>
          <p:nvPr/>
        </p:nvSpPr>
        <p:spPr>
          <a:xfrm>
            <a:off x="720000" y="1017600"/>
            <a:ext cx="37776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switches and pushbuttons are also integrated into the AXI interface as digital input measurements.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 the project, switches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sid_switches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4 and pushbuttons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inputs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uzSwitch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(7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(4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AXI read address 000 returns both input groups in one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lower 8 bits contain the switch values, and the next 5 bits contain the pushbutton values.</a:t>
            </a: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3D4D5-C397-23FD-787A-C29F5FA7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41" y="1017600"/>
            <a:ext cx="3777659" cy="2651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4304B-9333-34F6-7117-8A3F2E376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41" y="3773596"/>
            <a:ext cx="3777659" cy="9828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D766E-ECE2-0B0B-6B9A-3750D15F5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631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C0072DCC-AC46-4419-6561-60F5EB58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CB0AC31-F046-8496-34D3-7CF45A3F16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400" dirty="0"/>
              <a:t>Push Buttons and Switches</a:t>
            </a:r>
            <a:endParaRPr lang="en-US" sz="1600" b="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Iti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2AF0A-9E8A-F160-E7C4-273A4C168937}"/>
              </a:ext>
            </a:extLst>
          </p:cNvPr>
          <p:cNvSpPr txBox="1"/>
          <p:nvPr/>
        </p:nvSpPr>
        <p:spPr>
          <a:xfrm>
            <a:off x="720000" y="1017600"/>
            <a:ext cx="37776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ZedBoard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switches and pushbuttons are also integrated into the AXI interface as digital input measurements.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 the project, switches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sid_switches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4 and pushbuttons are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sid_pushb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inputs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uzSwitch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(7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uzPushB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(4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0).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AXI read address 000 returns both input groups in one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lower 8 bits contain the switch values, and the next 5 bits contain the pushbutton values.</a:t>
            </a:r>
            <a:endParaRPr 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B233B-9EF9-EA8B-515F-1363207D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41" y="1017600"/>
            <a:ext cx="3777659" cy="2651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C577C-FFF9-8D3E-C80C-D3710F3A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41" y="3773596"/>
            <a:ext cx="3777659" cy="9828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39321-3C61-5FA8-C055-BC56BFEDF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975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69DD0808-2C4C-14ED-5C80-CAD006AA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D8097032-37D3-7D92-339A-35819EBCBE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EDD09B8B-71A7-DF7C-A2C4-9B16298778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276661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Temperature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A write to AXI register 001 triggers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max_start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 and sends slv_reg1(15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Poppins"/>
              </a:rPr>
              <a:t> 0) to the MAX31865.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SPI pins are connected through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umCSn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umSCLK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,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umMOSI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,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umMISO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status register at address 001 returns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max_drdyn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max_done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address 010 returns the received temperature data in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AF390-15F0-863B-0091-DC1A89010AE1}"/>
              </a:ext>
            </a:extLst>
          </p:cNvPr>
          <p:cNvSpPr txBox="1"/>
          <p:nvPr/>
        </p:nvSpPr>
        <p:spPr>
          <a:xfrm>
            <a:off x="3624148" y="1248936"/>
            <a:ext cx="5285677" cy="362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--component instantiation 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max_pmod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sph1pol1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GENERIC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USPI_SIZE =&gt;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16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PORT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resetn =&gt; S_AXI_ARESETN,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bclk =&gt; S_AXI_ACLK,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spi_clkp  =&gt; spi_transmp,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start =&gt; max_start,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done =&gt; max_done,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scsq =&gt; umCSn,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sclk =&gt; umSCLK,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sdo =&gt; umMOSI,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sdi =&gt; umMISO,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sndData =&gt; slv_reg1(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15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rcvData =&gt; MAX_Data);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	.</a:t>
            </a:r>
          </a:p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JetBrains Mono" panose="02000009000000000000" pitchFamily="49" charset="0"/>
              </a:rPr>
              <a:t>	.</a:t>
            </a:r>
          </a:p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JetBrains Mono" panose="02000009000000000000" pitchFamily="49" charset="0"/>
              </a:rPr>
              <a:t>--writing to registers. 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b"001"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max_start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for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byte_index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(C_S_AXI_DATA_WIDTH/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8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loop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S_AXI_WSTRB(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byte_index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 </a:t>
            </a:r>
            <a:r>
              <a:rPr lang="en-US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'1'</a:t>
            </a: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) </a:t>
            </a:r>
            <a:r>
              <a:rPr lang="en-US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then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Respective byte enables are asserted as per write strobes   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slave </a:t>
            </a:r>
            <a:r>
              <a:rPr lang="en-US" sz="900" b="0" dirty="0" err="1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registor</a:t>
            </a:r>
            <a:r>
              <a:rPr lang="en-US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 1</a:t>
            </a:r>
            <a:endParaRPr lang="en-US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857E67-87C4-3CC1-EA73-0164AD80E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797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9E45F11B-A2A0-C735-BE39-0F4E85C2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DC8B4993-7A38-EDCD-BF54-D0553CAC56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6EA79707-6B85-D219-9CE0-A6233115CA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2157015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Temperature </a:t>
            </a: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The status register at address 001 returns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max_drdyn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and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max_done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address 010 returns the received temperature data in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MAX_Data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F156D-A3B2-44ED-77C7-CADF78CB9D1A}"/>
              </a:ext>
            </a:extLst>
          </p:cNvPr>
          <p:cNvSpPr txBox="1"/>
          <p:nvPr/>
        </p:nvSpPr>
        <p:spPr>
          <a:xfrm>
            <a:off x="3200399" y="1248936"/>
            <a:ext cx="5943601" cy="223978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(slv_reg3, slv_reg6, slv_reg7, axi_araddr, S_AXI_ARESETN, slv_reg_rden,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uzSwitch, uzPushB, max_done, max_drdyn, MAX_Data, done_adc, ADC_Data)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variable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:std_logic_vector(OPT_MEM_ADDR_BITS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begin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Address decoding for reading registers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loc_addr := axi_araddr(ADDR_LSB + 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ADDR_LSB);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uzPushB &amp; uzSwitch;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max_drdyn &amp; max_done;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b"010"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MAX_Data;</a:t>
            </a:r>
          </a:p>
          <a:p>
            <a:pPr>
              <a:lnSpc>
                <a:spcPts val="1200"/>
              </a:lnSpc>
              <a:buNone/>
            </a:pPr>
            <a:endParaRPr lang="en-US" sz="900" dirty="0">
              <a:solidFill>
                <a:srgbClr val="569CD6"/>
              </a:solidFill>
              <a:latin typeface="JetBrains Mono" panose="02000009000000000000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0A29E-3F53-F64D-9E95-080E50BC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265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9AEC0BF9-21A5-8812-7378-31C28CD08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6F73195C-BF96-B6C1-5FBD-9727C7408B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37515560-2287-2E36-B57C-25C71927AB1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2959902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ADC0 &amp; ADC1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0) contains ADC0, while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(31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16) contains ADC1.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73427-5D05-78D0-4487-A13CCB17EC58}"/>
              </a:ext>
            </a:extLst>
          </p:cNvPr>
          <p:cNvSpPr txBox="1"/>
          <p:nvPr/>
        </p:nvSpPr>
        <p:spPr>
          <a:xfrm>
            <a:off x="3717072" y="1791629"/>
            <a:ext cx="5426927" cy="223978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adcRX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: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adc2lane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GENERIC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USPI_SIZE =&gt;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16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PORT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 resetn =&gt; S_AXI_ARESETN,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bclk =&gt; S_AXI_ACLK,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spi_clkp =&gt; spiclk_p,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start =&gt; start_adc,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done =&gt; done_adc,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scsq =&gt; uAD1csq,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sclk =&gt; uAD1Sclk,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sdi_0 =&gt; usdiAD_0,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sdi_1 =&gt; usdiAD_1,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rcvData_0 =&gt; ADC_Data(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15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rcvData_1 =&gt; ADC_Data(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31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16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));</a:t>
            </a:r>
          </a:p>
          <a:p>
            <a:pPr>
              <a:lnSpc>
                <a:spcPts val="1200"/>
              </a:lnSpc>
              <a:buNone/>
            </a:pPr>
            <a:endParaRPr lang="en-US" sz="900" dirty="0">
              <a:solidFill>
                <a:srgbClr val="569CD6"/>
              </a:solidFill>
              <a:latin typeface="JetBrains Mono" panose="02000009000000000000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DAECA-1099-3B8A-E9D0-4AD84A7DC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17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ECBA0B0-C3A3-BB67-7DDF-19A03D53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163FBCE0-C87F-C13D-BF6D-F9BF4BDF19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3687" y="64214"/>
            <a:ext cx="3324176" cy="9691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F3C5489F-5912-B84C-C29C-60DA8B571F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2959902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9294"/>
              </a:buClr>
              <a:buSzPts val="1400"/>
              <a:buFont typeface="Livvic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3953"/>
                </a:solidFill>
                <a:effectLst/>
                <a:uLnTx/>
                <a:uFillTx/>
                <a:latin typeface="Hind" panose="02000000000000000000" charset="0"/>
                <a:cs typeface="Hind" panose="02000000000000000000" charset="0"/>
                <a:sym typeface="Poppins"/>
              </a:rPr>
              <a:t>ADC0 &amp; ADC1 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03953"/>
              </a:solidFill>
              <a:effectLst/>
              <a:uLnTx/>
              <a:uFillTx/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(15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0) contains ADC0, while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ADC_Data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(31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downto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  <a:sym typeface="Arial"/>
              </a:rPr>
              <a:t> 16) contains ADC1.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001 / 010: MAX31865 temperature status and data.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100 / 101: ADC start, done, ADC0 and ADC1 data.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000: pushbuttons and switches input register.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2FFEC-8853-3EC5-A88F-FDD8194AC96C}"/>
              </a:ext>
            </a:extLst>
          </p:cNvPr>
          <p:cNvSpPr txBox="1"/>
          <p:nvPr/>
        </p:nvSpPr>
        <p:spPr>
          <a:xfrm>
            <a:off x="3717073" y="741850"/>
            <a:ext cx="5426927" cy="43942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(slv_reg3, slv_reg6, slv_reg7, axi_araddr, S_AXI_ARESETN, slv_reg_rden,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uzSwitch, uzPushB, max_done, max_drdyn, MAX_Data, done_adc, ADC_Data)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variable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: std_logic_vector(OPT_MEM_ADDR_BITS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begin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 Address decoding for reading registers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loc_addr := axi_araddr(ADDR_LSB + OPT_MEM_ADDR_BITS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downto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ADDR_LSB);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loc_addr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is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uzPushB &amp; uzSwitch;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b"001"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max_drdyn &amp; max_done;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b"010"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MAX_Data;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b"011"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slv_reg3;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x"0000000"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"000"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 done_adc;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b"101"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ADC_Data;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b"110"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slv_reg6;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b"111"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slv_reg7;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others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reg_data_out &lt;=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others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'0'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process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0DCCB2-E51A-9686-66AD-EB6837E8A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841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D4C567A-C446-D172-1669-C366D3E2E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A0E29C71-2EC2-D049-7707-7764F32C675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Sensors Integration with AXI Interface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ADCAE472-2898-8DF9-E1AF-ADC4C0253A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115122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Temperature, ADC0, and ADC1 modules are integrated into the top-level VHDL file.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top file combines all sensor submodules into one custom hardware block.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MAX31865, ADC channels, switches, and pushbuttons are connected in the same AXI-based design.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All measurements are accessible to the processor through one custom peripheral.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Add the processor system and connect the AXI-related signals to the custom IP.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Add the .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xdc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file for pin assignments and timing constraints.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Synthesize and implement the complete hardware design.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Generate the FPGA bitstream.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Export the hardware as an .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xsa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file for software development and deployment.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Using the .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xsa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file, we are able to generate a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petalinux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26A1A1-F4E8-4221-6DC5-E672DFF6C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098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A1C15C0A-1E65-C8A6-1200-5D99B911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3D5BAC5-B83C-DADF-F577-66069D3EFF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Application for MNG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5F2FFB4B-5555-3B30-58B5-0F7ABA9984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465423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application is based on two main threads.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sensor thread acquires data from the hardware and stores it in the ring buffer.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communicates with the external client over TCP/IP and sends the buffered measurement packets.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can receive the configuration from the user (external client) and  can safely pass it to the sensor thread.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54742-0C75-47F7-6DB9-343C243B8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17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E41B0-ED77-EB08-6F08-3A2896A4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424" y="1286942"/>
            <a:ext cx="4424233" cy="330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8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EE9647FE-E85B-ADA6-14AE-316D03BC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0FB5BCEB-0FE4-E4B6-23C6-8DCCB3A42C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Sensor Thread Overview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089AB3FB-2CFF-83E1-146D-67381BA667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7476" y="979396"/>
            <a:ext cx="3833276" cy="3739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Runs in its own thread, independent of the server.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sensor thread initializes the hardware interface and starts the timer and ring buffer.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Initializes the temperature sensor.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opens the device (/dev/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meascdd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If failed then -&gt; simulation mode.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initiate the timer and the ring buffer.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periodically reads temperature, ADC0, ADC1, switches, and pushbuttons according to the active configuration.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measured values are sensor ID, timestamp, and value then they are pushed into the ring buffer.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Reacts to configuration changes at runtime.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On exit, shuts down the temperature sensor (if used), closes the device file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68F81-3911-5FD2-27C0-32D76C151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18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D22F3-BCE8-940C-A35E-66DED8ACD4D9}"/>
              </a:ext>
            </a:extLst>
          </p:cNvPr>
          <p:cNvSpPr txBox="1"/>
          <p:nvPr/>
        </p:nvSpPr>
        <p:spPr>
          <a:xfrm>
            <a:off x="4713249" y="287619"/>
            <a:ext cx="4430751" cy="485588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sensor_thread_function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arg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arg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TempInitializerFlag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"Sensor thread started...\n"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open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"/dev/meascdd"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O_RDWR);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simulation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"Device open failed - simulation mode\n"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"Device opened successfully\n"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InitTimer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InitRingBuffer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(!simulation)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TempPowerUp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!=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"Temperature sensor init failed\n"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"Temperature sensor initialized\n"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TempInitializerFlag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89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DAC507E5-C8AE-D486-A605-D44D52D2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32AC14D5-1761-9E37-00C3-61EDD6B47A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Sampling period calculation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2532C-C261-4ED7-1315-4D2C35581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19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6EA71-4720-1A72-9C9D-B78268417869}"/>
              </a:ext>
            </a:extLst>
          </p:cNvPr>
          <p:cNvSpPr txBox="1"/>
          <p:nvPr/>
        </p:nvSpPr>
        <p:spPr>
          <a:xfrm>
            <a:off x="4713249" y="1226061"/>
            <a:ext cx="4430751" cy="27014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(cfg.temp_config  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(cfg.adc0_config  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(cfg.adc1_config  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(cfg.switch_config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= (cfg.pushb_config  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period_temp_us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period_adc0_us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period_adc1_us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period_switch_us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uint64_t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period_pushb_us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? 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1000000ULL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 :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55D76A-8593-201B-E74A-726A56554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52" y="1160037"/>
            <a:ext cx="399324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Each sensor has a rate in Hz: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adc0_config, adc1_config,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switch_config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pushb_config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For enabled sensors, the thread computes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period_us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1000000 / rate to get microseconds between samples.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It keeps a separate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next_time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per sensor and samples when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current_time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&gt;=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next_time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After each sample, it does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next_time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+=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period_us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so each sensor runs at its own configured rate.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 rate of 0 disables that sensor (no period, never scheduled).</a:t>
            </a:r>
          </a:p>
        </p:txBody>
      </p:sp>
    </p:spTree>
    <p:extLst>
      <p:ext uri="{BB962C8B-B14F-4D97-AF65-F5344CB8AC3E}">
        <p14:creationId xmlns:p14="http://schemas.microsoft.com/office/powerpoint/2010/main" val="4796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2B62FFAA-3A5A-AC43-8A4D-04A0C41A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23912148-7958-E66A-2A9A-BD288D3EF5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Sensor reading loop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0D762268-D7D1-7A4F-4A65-74660C03B6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851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thread periodically reads all the sensor based on the sampling frequency.  as an example, the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continuous reading of the ADC sensor is shown here.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After reading each sensor periodically it stores the sensor data inside a ring buffer.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918C0-B326-0924-B23B-43EAA8D16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20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4E56A-EE46-4A36-3992-55A82313085F}"/>
              </a:ext>
            </a:extLst>
          </p:cNvPr>
          <p:cNvSpPr txBox="1"/>
          <p:nvPr/>
        </p:nvSpPr>
        <p:spPr>
          <a:xfrm>
            <a:off x="4668644" y="1239952"/>
            <a:ext cx="4475356" cy="193200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/* ---- ADC0 ---- */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adc0_enabled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&amp;&amp;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current_time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next_adc0_time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simulation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1.0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/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(</a:t>
            </a:r>
            <a:r>
              <a:rPr lang="de-DE" sz="900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uint32_t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fake_state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adc0_base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100.0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sin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2.0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BD63C5"/>
                </a:solidFill>
                <a:effectLst/>
                <a:latin typeface="JetBrains Mono" panose="02000009000000000000" pitchFamily="49" charset="0"/>
              </a:rPr>
              <a:t>PI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freq_adc0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 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GetADC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fd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dummy0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PushRB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B8D7A3"/>
                </a:solidFill>
                <a:effectLst/>
                <a:latin typeface="JetBrains Mono" panose="02000009000000000000" pitchFamily="49" charset="0"/>
              </a:rPr>
              <a:t>sid_adc0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current_time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"A0=%u 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adc0_data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next_adc0_time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current_time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period_adc0_us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printed_anything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04417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AB9E1F19-D067-8E67-3E8E-075B6594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F30FC650-DF78-DE4B-6EE1-795EEC0E50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Server Thread (Main Functions)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1E6C4D2C-E6C5-821C-B83B-86A17FE39D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Server thread is another part of the main application which is responsible for the communication between the client and the server.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opens a TCP server on port 50012.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client is able to send command and configuration for the sampling rate.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19BC37-3D00-D32F-3796-D939CD47B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942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1861CAD8-CAA4-99F0-35AA-343B04DF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7797ED39-25A2-D58B-E650-FB7332225E9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Server Creation 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9F5B0016-45B4-70B5-BFA2-45DE2044A8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465423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thread creates a TCP socket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binds it to a specific port,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listens for incoming client connections.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enters a loop and waits for client connections.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When a client connects:</a:t>
            </a:r>
          </a:p>
          <a:p>
            <a:pPr marL="171450" lvl="8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 new socket 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client_sock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is created.</a:t>
            </a:r>
          </a:p>
          <a:p>
            <a:pPr marL="171450" lvl="8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Communication with the client uses this socket.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04DE6-557C-C741-96E3-DD9D6B1B3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22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8C2C1-DF87-466E-651A-3CB8EE2644FA}"/>
              </a:ext>
            </a:extLst>
          </p:cNvPr>
          <p:cNvSpPr txBox="1"/>
          <p:nvPr/>
        </p:nvSpPr>
        <p:spPr>
          <a:xfrm>
            <a:off x="4720681" y="1240929"/>
            <a:ext cx="4430751" cy="116256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socket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(AF_INET, SOCK_STREAM,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bind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server_sock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struct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sockaddr *)&amp;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server_address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sizeof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(server_address));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listen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server_sock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BE8F0-7121-F1C2-1FF2-4E074347EBC8}"/>
              </a:ext>
            </a:extLst>
          </p:cNvPr>
          <p:cNvSpPr txBox="1"/>
          <p:nvPr/>
        </p:nvSpPr>
        <p:spPr>
          <a:xfrm>
            <a:off x="4720681" y="2571750"/>
            <a:ext cx="4430751" cy="13164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while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(!g_shutdown)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"Waiting for client...\n"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client_sock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accept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(server_sock,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     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struct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sockaddr *)&amp;client_addr,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     &amp;client_addr_len);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27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F73C95F0-7A64-A53C-AF87-41B3E6AE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F1B957C4-9DFE-66D6-4015-F794525C8D4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Client handling loop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F95392FD-BE60-8FDE-90D7-6DDF6E8D0F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3465423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The server receives commands from the client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recv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reads incoming data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MSG_DONTWAIT makes the receive non-blocking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B2294-C75D-0FD9-B004-0377F242D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23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2798B-53B8-EF95-DCE4-0490FE057C5A}"/>
              </a:ext>
            </a:extLst>
          </p:cNvPr>
          <p:cNvSpPr txBox="1"/>
          <p:nvPr/>
        </p:nvSpPr>
        <p:spPr>
          <a:xfrm>
            <a:off x="4713249" y="1188890"/>
            <a:ext cx="4430751" cy="13164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/* ---- INNER LOOP: serve one client ---- */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while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g_shutdown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{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memset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receive_command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BD63C5"/>
                </a:solidFill>
                <a:effectLst/>
                <a:latin typeface="JetBrains Mono" panose="02000009000000000000" pitchFamily="49" charset="0"/>
              </a:rPr>
              <a:t>CMD_BUF_SIZE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recv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client_sock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	    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receive_command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 </a:t>
            </a:r>
            <a:r>
              <a:rPr lang="de-DE" sz="900" b="0" dirty="0">
                <a:solidFill>
                  <a:srgbClr val="BD63C5"/>
                </a:solidFill>
                <a:effectLst/>
                <a:latin typeface="JetBrains Mono" panose="02000009000000000000" pitchFamily="49" charset="0"/>
              </a:rPr>
              <a:t>CMD_BUF_SIZE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-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 </a:t>
            </a:r>
            <a:r>
              <a:rPr lang="de-DE" sz="900" b="0" dirty="0">
                <a:solidFill>
                  <a:srgbClr val="BD63C5"/>
                </a:solidFill>
                <a:effectLst/>
                <a:latin typeface="JetBrains Mono" panose="02000009000000000000" pitchFamily="49" charset="0"/>
              </a:rPr>
              <a:t>MSG_DONTWAIT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15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E689882A-5259-E0E8-3B98-92F363B0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BE1440D5-A4D2-6F95-CD07-2181303376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Start command 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59E7F-0921-56E6-DA82-3B6EA6688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24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9F5D4-6215-C72E-60AD-F5D4B510762D}"/>
              </a:ext>
            </a:extLst>
          </p:cNvPr>
          <p:cNvSpPr txBox="1"/>
          <p:nvPr/>
        </p:nvSpPr>
        <p:spPr>
          <a:xfrm>
            <a:off x="4713249" y="903172"/>
            <a:ext cx="4430751" cy="4240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/* ---- start ---- */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strcmp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(receive_command,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"start"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Ring_Buf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rb_cnt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&gt;= ServerPayloadSize) ? ServerPayloadSize :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available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for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++)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PopRB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payload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payload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ts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payload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svalue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&lt;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i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break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&gt;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ssize_t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(client_sock, payload,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sizeof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(packet),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perror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"send"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break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"Sent %d packets\n"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to_send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FAEF24-14A3-72BE-0FFF-F5466E704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225" y="1017600"/>
            <a:ext cx="379252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Check Ring Buffer: Reads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Ring_Buf.rb_cnt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to see how many samples are available (under mutex lock)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Calculate Payload: Computes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to_send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min(available,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ServerPayloadSize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=93) packets to pop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Pop Packets: 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PopRB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repeatedly to extract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sensor_id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timestamp, and value for each packet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Atomic Send: Sends all packets in ONE send() call as a binary burst over TCP (request-response model)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Log Result: Prints "Sent N packets" if successful, or "ring buffer empty" if nothing to send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State Update: Sets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stream_state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PAUSED after sending (not continuous streaming)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No Backpressure: If buffer is empty, client gets nothing—no error, just waits for next poll</a:t>
            </a:r>
          </a:p>
        </p:txBody>
      </p:sp>
    </p:spTree>
    <p:extLst>
      <p:ext uri="{BB962C8B-B14F-4D97-AF65-F5344CB8AC3E}">
        <p14:creationId xmlns:p14="http://schemas.microsoft.com/office/powerpoint/2010/main" val="390893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BAB97D89-5486-E27E-8369-81454BB5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69DD3747-810D-ABD6-4218-2D5B336B19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Configure command 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B55A70-B62C-055A-6B62-74D4E4B20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25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56520-AA45-FB71-1F48-4A68B9DE3C65}"/>
              </a:ext>
            </a:extLst>
          </p:cNvPr>
          <p:cNvSpPr txBox="1"/>
          <p:nvPr/>
        </p:nvSpPr>
        <p:spPr>
          <a:xfrm>
            <a:off x="4713248" y="914172"/>
            <a:ext cx="4430751" cy="23936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strncmp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(receive_command,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"configure 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config_struct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int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parsed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sscanf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receive_command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[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],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"%u %u %u %u %u"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parsed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5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set_config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cfg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ClearRB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"Bad configure arguments\n"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87427-7497-E7D4-B874-879986D3ED33}"/>
              </a:ext>
            </a:extLst>
          </p:cNvPr>
          <p:cNvSpPr txBox="1"/>
          <p:nvPr/>
        </p:nvSpPr>
        <p:spPr>
          <a:xfrm>
            <a:off x="4713249" y="3365385"/>
            <a:ext cx="4430751" cy="17781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set_config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config_struct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*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temp_config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adc0_config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adc1_config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switch_config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main_config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 = </a:t>
            </a:r>
            <a:r>
              <a:rPr lang="de-DE" sz="900" b="0" dirty="0">
                <a:solidFill>
                  <a:srgbClr val="7F7F7F"/>
                </a:solidFill>
                <a:effectLst/>
                <a:latin typeface="JetBrains Mono" panose="02000009000000000000" pitchFamily="49" charset="0"/>
              </a:rPr>
              <a:t>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-&gt;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pushb_config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server_thread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DADADA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E91DD9-D256-7DF0-6921-35A4D1BA8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76" y="1048256"/>
            <a:ext cx="39745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Detects a command string starting with "configure " from the client.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Parses five unsigned integers: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temp_config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adc0_config, adc1_config,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switch_config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pushb_config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set_config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(&amp;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cfg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to copy these values into the global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main_config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under a mutex (thread-safe update).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ClearRB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to empty the ring buffer so old samples (with old rates) are discarded.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print_config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 to print the new configuration to the console for verification/debugging.</a:t>
            </a:r>
          </a:p>
        </p:txBody>
      </p:sp>
    </p:spTree>
    <p:extLst>
      <p:ext uri="{BB962C8B-B14F-4D97-AF65-F5344CB8AC3E}">
        <p14:creationId xmlns:p14="http://schemas.microsoft.com/office/powerpoint/2010/main" val="25980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CA7D5C55-C9DA-6D39-5252-93F7C7D9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5E406508-150F-80CD-A6E5-AC388AEB8F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Shutdown command 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D2BC2-FB58-FCC0-9241-E9E590EB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26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84643-C4DD-C911-9774-48824CF9749C}"/>
              </a:ext>
            </a:extLst>
          </p:cNvPr>
          <p:cNvSpPr txBox="1"/>
          <p:nvPr/>
        </p:nvSpPr>
        <p:spPr>
          <a:xfrm>
            <a:off x="4713249" y="133731"/>
            <a:ext cx="4430751" cy="500976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(!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strcmp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(receive_command, 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"shutdown"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printf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"Shutdown command received - stopping server\n"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stream_state = SHUTDOWN;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shutdown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(client_sock, SHUT_RDWR);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close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(client_sock);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(&amp;g_socket_lock);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g_client_socket = -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(&amp;g_socket_lock);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request_shutdown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sensor_thread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sensor_thread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thkill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sensor_thread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thmutex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break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static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request_shutdown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void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g_shutdown 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(&amp;g_socket_lock);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(g_client_socket &gt;=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shutdown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(g_client_socket, SHUT_RDWR);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close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(g_client_socket);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g_client_socket = -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(g_server_socket &gt;= 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0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shutdown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(g_server_socket, SHUT_RDWR);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close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(g_server_socket);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g_server_socket = -</a:t>
            </a:r>
            <a:r>
              <a:rPr lang="de-DE" sz="900" b="0" dirty="0">
                <a:solidFill>
                  <a:srgbClr val="B5CEA8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de-DE" sz="900" b="0" dirty="0">
                <a:solidFill>
                  <a:srgbClr val="C8C8C8"/>
                </a:solidFill>
                <a:effectLst/>
                <a:latin typeface="JetBrains Mono" panose="02000009000000000000" pitchFamily="49" charset="0"/>
              </a:rPr>
              <a:t>pthread_mutex_unlock</a:t>
            </a:r>
            <a:r>
              <a:rPr lang="de-DE" sz="9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(&amp;g_socket_lock);}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8DCEFD-4229-5687-BCF1-9CFD13D25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76" y="1002514"/>
            <a:ext cx="3926341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Detects the "shutdown" command string from the connected client.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Logs that a shutdown was requested and sets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stream_state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SHUTDOWN.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Calls shutdown(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client_sock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, SHUT_RDWR); and close(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client_sock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);, then clears the global client socket handle.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Invokes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request_shutdown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(), which sets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g_shutdown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1, shuts down and closes the listening/server sockets.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Sets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sensor_thread.thkill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1 under its mutex so the sensor thread exits its loop.</a:t>
            </a:r>
            <a:endParaRPr lang="en-US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DE" altLang="en-DE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With </a:t>
            </a:r>
            <a:r>
              <a:rPr lang="en-DE" altLang="en-DE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g_shutdown</a:t>
            </a:r>
            <a:r>
              <a:rPr lang="en-DE" altLang="en-DE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set, both inner and outer server loops end, the thread returns, and main() can join threads and terminate cleanly.</a:t>
            </a:r>
          </a:p>
        </p:txBody>
      </p:sp>
    </p:spTree>
    <p:extLst>
      <p:ext uri="{BB962C8B-B14F-4D97-AF65-F5344CB8AC3E}">
        <p14:creationId xmlns:p14="http://schemas.microsoft.com/office/powerpoint/2010/main" val="211868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76B6862F-DA8E-48C2-1A2E-657E2936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AFD621FD-5EA8-ACDA-7503-33CD576105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MNG GUI (client)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3F6BBF28-835B-5D28-8238-0C6462DB9DA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1" y="1115122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GUI layout (Objective)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Provides a user-friendly interface for configuring and monitoring the network sensor client.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Displays real-time sensor data visually.</a:t>
            </a:r>
          </a:p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Main Component 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IP Entry			Text field to enter server IP 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gtk_entry_get_text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(app-&gt;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ip_entry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))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Port Entry			Text field for server port 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gtk_entry_get_text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(app-&gt;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port_entry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))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Connect / Disconnect Button	Starts or stops the network thread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Status Label		Shows connection status: Connected / Disconnected / Error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Sensor Display / Graph		Real-time plotting of sensor data from the ring buffer		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Terminal/Log Window		Displays runtime messages: connection info, errors, received data 				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log_msg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())</a:t>
            </a:r>
          </a:p>
          <a:p>
            <a:pPr marL="228600" lvl="0" indent="-228600">
              <a:lnSpc>
                <a:spcPct val="115000"/>
              </a:lnSpc>
              <a:buClr>
                <a:srgbClr val="859294"/>
              </a:buClr>
              <a:buSzPts val="1400"/>
              <a:buFont typeface="+mj-lt"/>
              <a:buAutoNum type="arabicPeriod"/>
              <a:defRPr/>
            </a:pPr>
            <a:endParaRPr lang="en-US" sz="1200" dirty="0">
              <a:solidFill>
                <a:srgbClr val="403953"/>
              </a:solidFill>
              <a:latin typeface="Hind" panose="02000000000000000000" charset="0"/>
              <a:cs typeface="Hind" panose="02000000000000000000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A995C-6DE0-93CE-248C-D46AB2847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27</a:t>
            </a:fld>
            <a:endParaRPr lang="en-D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A37035-F632-878F-32C4-72A7D8D959C1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48769"/>
          <a:ext cx="7886700" cy="30480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845425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191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02E000-05FF-15C7-C2A7-D87F09B838C1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48769"/>
          <a:ext cx="7886700" cy="30480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169053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39555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DBA9DA-A948-34F0-E580-A3F990420DA0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48769"/>
          <a:ext cx="7886700" cy="30480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1174514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DE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069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51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36E6968F-AED1-AE87-3771-195C2C2C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3CAC0FDF-30FE-7E01-0953-7778AEB668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MNG GUI (client)</a:t>
            </a:r>
            <a:endParaRPr sz="2400" dirty="0"/>
          </a:p>
        </p:txBody>
      </p:sp>
      <p:sp>
        <p:nvSpPr>
          <p:cNvPr id="2835" name="Google Shape;2835;p74">
            <a:extLst>
              <a:ext uri="{FF2B5EF4-FFF2-40B4-BE49-F238E27FC236}">
                <a16:creationId xmlns:a16="http://schemas.microsoft.com/office/drawing/2014/main" id="{342D1A6D-B758-BB52-EB1D-3F052E8BAC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2" y="1115122"/>
            <a:ext cx="4104760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Network thread function: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Handles TCP connection to the server.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Receives sensor data continuously.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Updates the local buffer for GUI plotting. </a:t>
            </a:r>
          </a:p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Workflow: 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Create socket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Set server address → IP from GUI, port from GUI or default 50012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Once connected, marks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net_connected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 = 1 and repeatedly 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recv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()s data into a buffer</a:t>
            </a:r>
          </a:p>
          <a:p>
            <a:pPr lvl="0">
              <a:lnSpc>
                <a:spcPct val="115000"/>
              </a:lnSpc>
              <a:buClr>
                <a:srgbClr val="859294"/>
              </a:buClr>
              <a:buSzPts val="1400"/>
              <a:defRPr/>
            </a:pPr>
            <a:r>
              <a:rPr lang="en-US" sz="1200" b="1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Features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Runs in its own thread.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Uses mutex (</a:t>
            </a:r>
            <a:r>
              <a:rPr lang="en-US" sz="1200" dirty="0" err="1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pthread_mutex_lock</a:t>
            </a: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) to safely update sensor buffers</a:t>
            </a:r>
          </a:p>
          <a:p>
            <a:pPr marL="171450" lvl="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Automatic reconnection on errors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F65080-C2BF-A3AE-E440-F0AFA9834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28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0CCF9-C3BF-A87E-089F-7233D3C5C73C}"/>
              </a:ext>
            </a:extLst>
          </p:cNvPr>
          <p:cNvSpPr txBox="1"/>
          <p:nvPr/>
        </p:nvSpPr>
        <p:spPr>
          <a:xfrm>
            <a:off x="4713249" y="133731"/>
            <a:ext cx="4430751" cy="23923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endParaRPr lang="de-DE" sz="9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3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84667284-B0E3-EE65-10D4-519A4418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8A7D99B3-A230-7CBE-0FAB-AE44D717F8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7044" y="150091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MNG GUI (client)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DB385B-A2B7-9FC7-9473-55DF92314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29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6DAD0-CF25-BBD3-0B27-C86F529F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02" y="644434"/>
            <a:ext cx="5985733" cy="434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5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">
          <a:extLst>
            <a:ext uri="{FF2B5EF4-FFF2-40B4-BE49-F238E27FC236}">
              <a16:creationId xmlns:a16="http://schemas.microsoft.com/office/drawing/2014/main" id="{0DC87F73-5BF0-C6C1-7526-94A61BE8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74">
            <a:extLst>
              <a:ext uri="{FF2B5EF4-FFF2-40B4-BE49-F238E27FC236}">
                <a16:creationId xmlns:a16="http://schemas.microsoft.com/office/drawing/2014/main" id="{B80F04E4-42B9-9C4E-7773-DACB0C2842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947" y="564067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Conclusion</a:t>
            </a:r>
            <a:endParaRPr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834C8-0AA6-BBAF-F43C-4494C98BA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4349FCA-F927-47C5-9D5C-7FD524E2B5BB}" type="slidenum">
              <a:rPr lang="en-DE" smtClean="0"/>
              <a:t>30</a:t>
            </a:fld>
            <a:endParaRPr lang="en-DE"/>
          </a:p>
        </p:txBody>
      </p:sp>
      <p:sp>
        <p:nvSpPr>
          <p:cNvPr id="3" name="Google Shape;2835;p74">
            <a:extLst>
              <a:ext uri="{FF2B5EF4-FFF2-40B4-BE49-F238E27FC236}">
                <a16:creationId xmlns:a16="http://schemas.microsoft.com/office/drawing/2014/main" id="{A1B42E0C-70D8-6129-BF77-22F5DB1EBB4F}"/>
              </a:ext>
            </a:extLst>
          </p:cNvPr>
          <p:cNvSpPr txBox="1">
            <a:spLocks/>
          </p:cNvSpPr>
          <p:nvPr/>
        </p:nvSpPr>
        <p:spPr>
          <a:xfrm>
            <a:off x="720000" y="1174594"/>
            <a:ext cx="7703999" cy="3404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Successfully implemented the VHDL design for the embedded system, ensuring correct logic and timing.</a:t>
            </a:r>
          </a:p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Developed a real-time application to process and visualize data from sensors, with robust error handling and network connectivity.</a:t>
            </a:r>
          </a:p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Designed a user-friendly GUI and terminal interface, enabling intuitive monitoring and interaction with the system.</a:t>
            </a:r>
          </a:p>
          <a:p>
            <a:pPr marL="171450" indent="-171450">
              <a:lnSpc>
                <a:spcPct val="115000"/>
              </a:lnSpc>
              <a:buClr>
                <a:srgbClr val="859294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403953"/>
                </a:solidFill>
                <a:latin typeface="Hind" panose="02000000000000000000" charset="0"/>
                <a:cs typeface="Hind" panose="02000000000000000000" charset="0"/>
              </a:rPr>
              <a:t>Overall, the project demonstrates the integration of hardware design, software application, and user interface for a complete embedded system solution.</a:t>
            </a:r>
          </a:p>
        </p:txBody>
      </p:sp>
    </p:spTree>
    <p:extLst>
      <p:ext uri="{BB962C8B-B14F-4D97-AF65-F5344CB8AC3E}">
        <p14:creationId xmlns:p14="http://schemas.microsoft.com/office/powerpoint/2010/main" val="145542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32"/>
    </mc:Choice>
    <mc:Fallback xmlns="">
      <p:transition spd="slow" advTm="130032"/>
    </mc:Fallback>
  </mc:AlternateContent>
</p:sld>
</file>

<file path=ppt/theme/theme1.xml><?xml version="1.0" encoding="utf-8"?>
<a:theme xmlns:a="http://schemas.openxmlformats.org/drawingml/2006/main" name="Bachelor's Degree in Electronics Engineering by Slidesgo">
  <a:themeElements>
    <a:clrScheme name="Simple Light">
      <a:dk1>
        <a:srgbClr val="403953"/>
      </a:dk1>
      <a:lt1>
        <a:srgbClr val="F8F8F8"/>
      </a:lt1>
      <a:dk2>
        <a:srgbClr val="859294"/>
      </a:dk2>
      <a:lt2>
        <a:srgbClr val="D1D8E6"/>
      </a:lt2>
      <a:accent1>
        <a:srgbClr val="BABFD7"/>
      </a:accent1>
      <a:accent2>
        <a:srgbClr val="ECD9DD"/>
      </a:accent2>
      <a:accent3>
        <a:srgbClr val="575979"/>
      </a:accent3>
      <a:accent4>
        <a:srgbClr val="586160"/>
      </a:accent4>
      <a:accent5>
        <a:srgbClr val="FFFFFF"/>
      </a:accent5>
      <a:accent6>
        <a:srgbClr val="FFFFFF"/>
      </a:accent6>
      <a:hlink>
        <a:srgbClr val="403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4689</Words>
  <Application>Microsoft Office PowerPoint</Application>
  <PresentationFormat>On-screen Show (16:9)</PresentationFormat>
  <Paragraphs>509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Livvic</vt:lpstr>
      <vt:lpstr>JetBrains Mono</vt:lpstr>
      <vt:lpstr>Poppins</vt:lpstr>
      <vt:lpstr>Hind</vt:lpstr>
      <vt:lpstr>Bachelor's Degree in Electronics Engineering by Slidesgo</vt:lpstr>
      <vt:lpstr>Hardware Design in VHDL for MNG (Measurement Network Gateway)</vt:lpstr>
      <vt:lpstr>Table of contents</vt:lpstr>
      <vt:lpstr>Hardware Design using VHDL</vt:lpstr>
      <vt:lpstr>ADC0 and ADC1 Measurement</vt:lpstr>
      <vt:lpstr>ADC0 and ADC1 Measurement</vt:lpstr>
      <vt:lpstr>Hardware Design using VHDL</vt:lpstr>
      <vt:lpstr>Hardware Design using VHDL</vt:lpstr>
      <vt:lpstr>Temperature measurement</vt:lpstr>
      <vt:lpstr>Temp SPI FSM </vt:lpstr>
      <vt:lpstr>Push Buttons and Switches</vt:lpstr>
      <vt:lpstr>Push Buttons and Switches</vt:lpstr>
      <vt:lpstr>Sensors Integration with AXI Interface</vt:lpstr>
      <vt:lpstr>Sensors Integration with AXI Interface</vt:lpstr>
      <vt:lpstr>Sensors Integration with AXI Interface</vt:lpstr>
      <vt:lpstr>Sensors Integration with AXI Interface</vt:lpstr>
      <vt:lpstr>Sensors Integration with AXI Interface</vt:lpstr>
      <vt:lpstr>Application for MNG</vt:lpstr>
      <vt:lpstr>Sensor Thread Overview</vt:lpstr>
      <vt:lpstr>Sampling period calculation</vt:lpstr>
      <vt:lpstr>Sensor reading loop</vt:lpstr>
      <vt:lpstr>Server Thread (Main Functions)</vt:lpstr>
      <vt:lpstr>Server Creation </vt:lpstr>
      <vt:lpstr>Client handling loop</vt:lpstr>
      <vt:lpstr>Start command </vt:lpstr>
      <vt:lpstr>Configure command </vt:lpstr>
      <vt:lpstr>Shutdown command </vt:lpstr>
      <vt:lpstr>MNG GUI (client)</vt:lpstr>
      <vt:lpstr>MNG GUI (client)</vt:lpstr>
      <vt:lpstr>MNG GUI (client)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Mohammad Mahdi Mohammadi</dc:creator>
  <cp:lastModifiedBy>Mohammad Mahdi Mohammadi</cp:lastModifiedBy>
  <cp:revision>125</cp:revision>
  <dcterms:modified xsi:type="dcterms:W3CDTF">2026-03-17T00:42:00Z</dcterms:modified>
</cp:coreProperties>
</file>